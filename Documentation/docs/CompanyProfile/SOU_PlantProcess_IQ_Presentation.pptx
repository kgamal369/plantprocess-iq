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parts. Say the tagline, then stop and let them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before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career is the requirement specification. Do not oversell it - the timeline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Named plants and named customers. This is the slide that makes the rest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agreement here. Ask which of the four costs them most, and build the meeting on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Read-only ends the OT objection. Say it, then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worst-dimension rule is the honest bit: one dimension over promotes the tier, and we show which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88720"/>
            <a:ext cx="10872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58368" y="2121408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D U S T R I A L   S O F T W A R 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872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PlantProcess IQ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3401568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FE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in-house expert who already knows your plant.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behind it  ·  What it does  ·  A worked example  ·  Deployment and licence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6916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955280" y="2350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industrial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experience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0" y="16916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92640" y="2350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industrial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30175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955280" y="3675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companies'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0" y="3867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0" y="30175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692640" y="3675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across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0" y="3867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countries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58521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Gamal  ·  Founder and Chief Product Architect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6144768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souindustrial.com  ·  info@souindustrial.com  ·  Düsseldorf, Germany  ·  Alexandria, Egypt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960" y="3200400"/>
            <a:ext cx="137160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4290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behind this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BEHIND THIS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Gamal - fourteen years inside the plant.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and MSc in electrical and computer engineering. I have written the Level 2 models that run a melt shop, and the MES and quality systems that run above them.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19456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this product because I was the engineer who could not answer why a defect happened.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across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730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countries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880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730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industry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2880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760720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on site,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3730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a slide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21040" y="3538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- melting, casting,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3730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rolling, inspection, logistics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48056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this product addresses is one I could not answer with the tools that existed.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employers, one industry, one problem.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28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2013 - 2018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21408" y="1691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EZDK flat steel plant, Alexandria, Egypt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121408" y="198424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for the whole plant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21408" y="2240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systems and the process models that run the plant end to end - electric arc furnace, ladle furnace, continuous casting and the hot strip mill.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21408" y="2770632"/>
            <a:ext cx="9966960" cy="7315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2018 - 2020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21408" y="2862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Metals, Brussels, Belgium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21408" y="3154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engineer, plant digitalisation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3410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projects for Tata Steel and for ArcelorMittal.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21408" y="3941064"/>
            <a:ext cx="9966960" cy="7315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2020 - 2024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403250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Group, Digital department, Düsseldorf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121408" y="4325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and QES projects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21408" y="45811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and quality execution systems for SSAB in Sweden, NorthStar BlueScope, Nucor Steel and Big River Steel.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21408" y="5111496"/>
            <a:ext cx="9966960" cy="7315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239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2024 - 2026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21408" y="52029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Group, Level 2 department, Düsseldorf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121408" y="549554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process 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21408" y="575157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Sabic Hadeed in Saudi Arabia, JSW Piombino in Italy, and the rail system at Suez Steel.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960" y="3200400"/>
            <a:ext cx="137160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4290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defects. Repeated stops. Nobody can say why.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quality defect keeps coming back and the source is never found. The line stops again for a root cause nobody pins down. Everyone knows the KPIs should be better and nobody can say which change would move them.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plant loses days in troubleshooting, or pays for a short expensive consultation that ends when the expert leaves.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2926080"/>
            <a:ext cx="2560320" cy="1554480"/>
          </a:xfrm>
          <a:prstGeom prst="roundRect">
            <a:avLst>
              <a:gd name="adj" fmla="val 294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3108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474720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troubleshooting that reaches no conclusion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926080"/>
            <a:ext cx="2560320" cy="1554480"/>
          </a:xfrm>
          <a:prstGeom prst="roundRect">
            <a:avLst>
              <a:gd name="adj" fmla="val 294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3108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defects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1024" y="3474720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class, month after month, unattributed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2926080"/>
            <a:ext cx="2560320" cy="1554480"/>
          </a:xfrm>
          <a:prstGeom prst="roundRect">
            <a:avLst>
              <a:gd name="adj" fmla="val 294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3108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3474720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equipment, the same pattern, unexplained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7968" y="2926080"/>
            <a:ext cx="2560320" cy="1554480"/>
          </a:xfrm>
          <a:prstGeom prst="roundRect">
            <a:avLst>
              <a:gd name="adj" fmla="val 294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07424" y="3108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that walks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07424" y="3474720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leaves when the expert does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ONE AND TWO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plant. Change it yourself.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screen shows one machine. Nobody sees the plant.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211226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production unit and each inspection device has its own screen, its own database, its own spreadsheet or its own log file - and each shows only itself.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825496"/>
            <a:ext cx="10908792" cy="777240"/>
          </a:xfrm>
          <a:prstGeom prst="roundRect">
            <a:avLst>
              <a:gd name="adj" fmla="val 5882"/>
            </a:avLst>
          </a:prstGeom>
          <a:solidFill>
            <a:srgbClr val="E8F4F7"/>
          </a:solidFill>
          <a:ln w="12700">
            <a:solidFill>
              <a:srgbClr val="2FB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9900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reads all of them and puts the same unit of production at the centre, so the story runs end to end instead of stopping at each screen.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93192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Configured by your engineers, not developed by mine.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43525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page, a new widget, a new link to a database, a new scheduled job, a new analysis - all of it is configuration your own people do. No release cycle.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065776"/>
            <a:ext cx="10908792" cy="777240"/>
          </a:xfrm>
          <a:prstGeom prst="roundRect">
            <a:avLst>
              <a:gd name="adj" fmla="val 5882"/>
            </a:avLst>
          </a:prstGeom>
          <a:solidFill>
            <a:srgbClr val="E8F4F7"/>
          </a:solidFill>
          <a:ln w="12700">
            <a:solidFill>
              <a:srgbClr val="2FB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5230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nothing in it is written for one industry. A plant is stages, machines, inspections and movements, whatever it makes.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THREE AND FOUR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cause. Then see it coming.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cause is early. The defect is late.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211226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drift at the first stage passes every check that follows. Nothing looks wrong at stage two or three. The defect only appears at the end.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825496"/>
            <a:ext cx="10908792" cy="777240"/>
          </a:xfrm>
          <a:prstGeom prst="roundRect">
            <a:avLst>
              <a:gd name="adj" fmla="val 5882"/>
            </a:avLst>
          </a:prstGeom>
          <a:solidFill>
            <a:srgbClr val="E8F4F7"/>
          </a:solidFill>
          <a:ln w="12700">
            <a:solidFill>
              <a:srgbClr val="2FB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9900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whole plant is one model, the correlation runs backwards across every stage and points at the condition that actually caused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93192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 early. Fix it downstream.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43525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combination has ended badly before - this raw material with this speed, this practice on this grade - the engine recognises it while the material is still in production.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065776"/>
            <a:ext cx="10908792" cy="777240"/>
          </a:xfrm>
          <a:prstGeom prst="roundRect">
            <a:avLst>
              <a:gd name="adj" fmla="val 5882"/>
            </a:avLst>
          </a:prstGeom>
          <a:solidFill>
            <a:srgbClr val="E8F4F7"/>
          </a:solidFill>
          <a:ln w="12700">
            <a:solidFill>
              <a:srgbClr val="2FB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5230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flags the piece as at risk, and suggests what to change at a later stage while there is still time to save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 you use. One layer that does the 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3120" y="1920240"/>
            <a:ext cx="7955280" cy="1325880"/>
          </a:xfrm>
          <a:prstGeom prst="roundRect">
            <a:avLst>
              <a:gd name="adj" fmla="val 4138"/>
            </a:avLst>
          </a:prstGeom>
          <a:solidFill>
            <a:srgbClr val="14405C"/>
          </a:solidFill>
          <a:ln w="17780">
            <a:solidFill>
              <a:srgbClr val="6F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2148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INVESTIGATIONS, ANSWERS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103120" y="2542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changed by your own engineers, without waiting for a release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3337560"/>
            <a:ext cx="32004" cy="640080"/>
          </a:xfrm>
          <a:prstGeom prst="rect">
            <a:avLst/>
          </a:prstGeom>
          <a:solidFill>
            <a:srgbClr val="6FE3F5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0" y="3337560"/>
            <a:ext cx="32004" cy="640080"/>
          </a:xfrm>
          <a:prstGeom prst="rect">
            <a:avLst/>
          </a:prstGeom>
          <a:solidFill>
            <a:srgbClr val="6FE3F5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3337560"/>
            <a:ext cx="32004" cy="640080"/>
          </a:xfrm>
          <a:prstGeom prst="rect">
            <a:avLst/>
          </a:prstGeom>
          <a:solidFill>
            <a:srgbClr val="6FE3F5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069080"/>
            <a:ext cx="7955280" cy="1325880"/>
          </a:xfrm>
          <a:prstGeom prst="roundRect">
            <a:avLst>
              <a:gd name="adj" fmla="val 4138"/>
            </a:avLst>
          </a:prstGeom>
          <a:solidFill>
            <a:srgbClr val="17334D"/>
          </a:solidFill>
          <a:ln w="17780">
            <a:solidFill>
              <a:srgbClr val="2FB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4297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103120" y="46908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plant, finds the cause, sees it coming, prices the change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57150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never locked into a screen somebody else designed. The layer on top is yours.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DOES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capabilities that work on your plant's own history.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286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25420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fingerprint of your plant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3035808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own production history and learns how this plant behaves on the days it runs well.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2286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17136" y="25420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cause to result across the plant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7136" y="3035808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remembers every time something similar happened, and follows the thread back to the condition that caused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36992" y="2103120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286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56448" y="25420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the plant has left its normal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56448" y="3035808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is measured from your plant, not from a manual - drift is visible while material is still in production.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858768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42976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problem coming before it happens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" y="4791456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combination has ended badly before, the piece is flagged while there is still time to save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858768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17136" y="42976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which change matters, and what it is worth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17136" y="4791456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a change, as a range, with the money attached and every input open to inspection.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36992" y="3858768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56448" y="42976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best days into the standard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56448" y="4791456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best periods become the benchmark - practice proven in your plant, not imported advice.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8064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the data cannot support an answer, it says so and names the reason. It does not invent a number.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960" y="3200400"/>
            <a:ext cx="137160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4290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example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systems on the floor, none of which talks to the others.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happens to their data, step by step - and every arrow points away from your plant. Nothing is ever written 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1975104" cy="1920240"/>
          </a:xfrm>
          <a:prstGeom prst="roundRect">
            <a:avLst>
              <a:gd name="adj" fmla="val 238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log files, OPC, Oracle,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PostgreSQL,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SAP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3383280"/>
            <a:ext cx="18288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10" name="Shape 8"/>
          <p:cNvSpPr/>
          <p:nvPr/>
        </p:nvSpPr>
        <p:spPr>
          <a:xfrm>
            <a:off x="2889504" y="2423160"/>
            <a:ext cx="1975104" cy="1920240"/>
          </a:xfrm>
          <a:prstGeom prst="roundRect">
            <a:avLst>
              <a:gd name="adj" fmla="val 238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72384" y="28163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72384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written 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01184" y="3383280"/>
            <a:ext cx="18288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2423160"/>
            <a:ext cx="1975104" cy="1920240"/>
          </a:xfrm>
          <a:prstGeom prst="roundRect">
            <a:avLst>
              <a:gd name="adj" fmla="val 238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0" y="28163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unit of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at the centre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3383280"/>
            <a:ext cx="18288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51776" y="2423160"/>
            <a:ext cx="1975104" cy="1920240"/>
          </a:xfrm>
          <a:prstGeom prst="roundRect">
            <a:avLst>
              <a:gd name="adj" fmla="val 2381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34656" y="28163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34656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learning,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63456" y="3383280"/>
            <a:ext cx="18288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25" name="Shape 23"/>
          <p:cNvSpPr/>
          <p:nvPr/>
        </p:nvSpPr>
        <p:spPr>
          <a:xfrm>
            <a:off x="9582912" y="2423160"/>
            <a:ext cx="1975104" cy="1920240"/>
          </a:xfrm>
          <a:prstGeom prst="roundRect">
            <a:avLst>
              <a:gd name="adj" fmla="val 2381"/>
            </a:avLst>
          </a:prstGeom>
          <a:solidFill>
            <a:srgbClr val="E8F4F7"/>
          </a:solidFill>
          <a:ln w="15240">
            <a:solidFill>
              <a:srgbClr val="2FB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5792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65792" y="28163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65792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analysis,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57200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 is a steel plant because steel is where I come from. The product describes a plant, not a plant type: your process stage, your batch, your finished unit, your inspection.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Read. Rebuild. Explain.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401568" cy="228600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011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never command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67004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connection copies what each database already holds - the process units, the inspection devices and gauges, and the storage area. Your automation is untouched.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01568" cy="228600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2011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17136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material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267004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copies are joined into one plant model: this finished unit came from this intermediate, from this batch, under these process conditions. That chain is what nobody has today.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6992" y="1828800"/>
            <a:ext cx="3401568" cy="228600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011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56448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then explain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267004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produces correlations, machine-learning results and predictions. Those results are displayed in the dashboards and charts alongside the plant data itself.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343400"/>
            <a:ext cx="10908792" cy="1234440"/>
          </a:xfrm>
          <a:prstGeom prst="roundRect">
            <a:avLst>
              <a:gd name="adj" fmla="val 3704"/>
            </a:avLst>
          </a:prstGeom>
          <a:solidFill>
            <a:srgbClr val="E8F4F7"/>
          </a:solidFill>
          <a:ln w="12700">
            <a:solidFill>
              <a:srgbClr val="2FB3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262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answers from both sides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model and the engine's findings. That is why it can say which condition correlates with a defect and cite the records behind it, rather than only reporting what a table contains.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960" y="3200400"/>
            <a:ext cx="1371600" cy="27432"/>
          </a:xfrm>
          <a:prstGeom prst="rect">
            <a:avLst/>
          </a:prstGeom>
          <a:solidFill>
            <a:srgbClr val="2FB3C9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4290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and licence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LICENCE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on your infrastructure.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on your servers or your private cloud. No plant data leaves your network, so there is no hosting cost on my side and no data residency question on yours.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19456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licence is a function of six things you already know about your own plant - and the tier is derived from them rather than chosen, so the same inputs always give the same answer.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plant, in six dimensions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20040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3284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36027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 / 100 / 400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20040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33284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dashboards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7136" y="36027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100 / 400 / 500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36992" y="320040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33284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56448" y="36027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 / 100 / 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2885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links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456285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 / 10 / 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416052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42885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 online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17136" y="456285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GB / 1 TB / 5 TB / 8 TB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36992" y="4160520"/>
            <a:ext cx="3401568" cy="804672"/>
          </a:xfrm>
          <a:prstGeom prst="roundRect">
            <a:avLst>
              <a:gd name="adj" fmla="val 5682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42885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interval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56448" y="456285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/ 3 min / 1 min / 15 sec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52578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dimension needs the highest tier is the one that decides. There are no weights.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ENVELOPES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and Pro.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230368" cy="4224528"/>
          </a:xfrm>
          <a:prstGeom prst="roundRect">
            <a:avLst>
              <a:gd name="adj" fmla="val 1299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host, all containers, one database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total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7208" y="2724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total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07208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07208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SSD, 3,000 IOPS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07208" y="3822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GB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07208" y="4187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Mbit/s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2688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07208" y="45537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instance, pools co-resident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600200"/>
            <a:ext cx="5230368" cy="4224528"/>
          </a:xfrm>
          <a:prstGeom prst="roundRect">
            <a:avLst>
              <a:gd name="adj" fmla="val 1299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10528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host plus a separate database host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10528" y="2724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85048" y="2724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 / 16 GB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0528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85048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cores / 32 GB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0528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85048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SSD, 10,000 IOPS, monthly partitions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052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85048" y="3822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with point-in-time recovery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10528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85048" y="4187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Mbit/s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10528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85048" y="45537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instances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ENVELOPES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Plus and Enterprise.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230368" cy="4224528"/>
          </a:xfrm>
          <a:prstGeom prst="roundRect">
            <a:avLst>
              <a:gd name="adj" fmla="val 1299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Plus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host, database host, and an ML and serving host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07208" y="2724912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cores / 32 GB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3087243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host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07208" y="3087243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cores / 64 GB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3449574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serving host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07208" y="3449574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cores / 32 GB, 16 GB reserved for serving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3811905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07208" y="3811905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TB, 20,000 IOPS, partitioned and compressed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4174236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07208" y="4174236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4536567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07208" y="4536567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 with point-in-time recovery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2688" y="4898898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07208" y="4898898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Gbit/s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2688" y="5261229"/>
            <a:ext cx="182880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07208" y="5261229"/>
            <a:ext cx="2788920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instances, ML isolated on its own host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6208" y="1600200"/>
            <a:ext cx="5230368" cy="4224528"/>
          </a:xfrm>
          <a:prstGeom prst="roundRect">
            <a:avLst>
              <a:gd name="adj" fmla="val 1299"/>
            </a:avLst>
          </a:prstGeom>
          <a:solidFill>
            <a:srgbClr val="F4F8FB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10528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Load-balanced application tier, primary and replica database, worker fleet, dedicated ML nodes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2724912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85048" y="2724912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instances of 4 cores / 16 GB behind a balancer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3046984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primary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85048" y="3046984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cores / 128 GB on NVMe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0528" y="3369056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replica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85048" y="3369056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serving the interactive read path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10528" y="3691128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fleet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85048" y="3691128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hosts of 8 cores / 32 GB, plus 2 ML hosts of 8 cores / 64 GB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10528" y="4013200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85048" y="4013200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TB and above, tiered, partitioned, compressed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10528" y="4335272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85048" y="4335272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TB and above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10528" y="4657344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85048" y="4657344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point-in-time recovery, off-site copy, automatic failover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10528" y="4979416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85048" y="4979416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Gbit/s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10528" y="5301488"/>
            <a:ext cx="182880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85048" y="5301488"/>
            <a:ext cx="278892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replica in a separate failure domain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" y="6437376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Industrial Software  ·  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page does not show is a price.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E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that is deliberate.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3401568" cy="2377440"/>
          </a:xfrm>
          <a:prstGeom prst="roundRect">
            <a:avLst>
              <a:gd name="adj" fmla="val 1923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4688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Metered, not policed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871216"/>
            <a:ext cx="29626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eighty percent of a count you get a warning and work continues. Beyond an envelope an operation is refused with the number that was exceeded - never silent truncation.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401568" cy="2377440"/>
          </a:xfrm>
          <a:prstGeom prst="roundRect">
            <a:avLst>
              <a:gd name="adj" fmla="val 1923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24688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Derived, not chosen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17136" y="2871216"/>
            <a:ext cx="29626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dimensions decide the tier. Underneath, the platform meters what is actually used: master items, relationships, bookmarks, saved views, definition versions, genealogy depth.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6992" y="2286000"/>
            <a:ext cx="3401568" cy="2377440"/>
          </a:xfrm>
          <a:prstGeom prst="roundRect">
            <a:avLst>
              <a:gd name="adj" fmla="val 1923"/>
            </a:avLst>
          </a:prstGeom>
          <a:solidFill>
            <a:srgbClr val="17334D"/>
          </a:solidFill>
          <a:ln w="12700">
            <a:solidFill>
              <a:srgbClr val="78C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24688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Quoted, not listed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56448" y="2871216"/>
            <a:ext cx="29626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figure is built against your deployment after the technical review, and issued in writing. A number produced before the deployment is understood is a number that changes.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51206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plant data leaves your network. No hosting cost on my side, no data residency question on yours.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384048" cy="384048"/>
          </a:xfrm>
          <a:prstGeom prst="ellipse">
            <a:avLst/>
          </a:prstGeom>
          <a:solidFill>
            <a:srgbClr val="6FE3F5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61872" y="20756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technical review session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process, IT and OT representatives, to establish sources, volumes and network constraints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17520"/>
            <a:ext cx="384048" cy="384048"/>
          </a:xfrm>
          <a:prstGeom prst="ellipse">
            <a:avLst/>
          </a:prstGeom>
          <a:solidFill>
            <a:srgbClr val="6FE3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29900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 for a demonstration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process engineer present - they are the person who can verify or refute what the product claims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31920"/>
            <a:ext cx="384048" cy="384048"/>
          </a:xfrm>
          <a:prstGeom prst="ellipse">
            <a:avLst/>
          </a:prstGeom>
          <a:solidFill>
            <a:srgbClr val="6FE3F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39044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definition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you want examined first, the sources that hold it, and the period the pilot should cover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029200"/>
            <a:ext cx="10908792" cy="960120"/>
          </a:xfrm>
          <a:prstGeom prst="roundRect">
            <a:avLst>
              <a:gd name="adj" fmla="val 5714"/>
            </a:avLst>
          </a:prstGeom>
          <a:solidFill>
            <a:srgbClr val="17334D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to continue is made against measured evidence from your own pilot, not against a presentation.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2688" y="552297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Gamal  ·  info@souindustrial.com  ·  souindustrial.com  ·  Düsseldorf  ·  Alexandria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2026-08-20T06:21:53Z</dcterms:created>
  <dcterms:modified xsi:type="dcterms:W3CDTF">2026-08-20T06:21:53Z</dcterms:modified>
</cp:coreProperties>
</file>