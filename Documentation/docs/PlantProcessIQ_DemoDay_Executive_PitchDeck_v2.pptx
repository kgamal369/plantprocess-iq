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recurring defect, every downgraded coil, and every unexplained stoppage is a direct hit to EBITDA. Tonight is not about another dashboard. Tonight is about reducing the time from “we have a quality issue” to “we know where it started and where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build PlantProcess IQ by reading manuals. For more than a decade, I have written Level 2 models, read L1 signals such as speed, force, temperature, thickness, length, weight, and flow, and delivered MES and automation systems for major steel producers worldwide. I know where the data lives, how it breaks, and why connecting it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platform is not a prototype waiting for the customer to teach it how to work. We validated the journey with industrial-scale source data: heats, coils, genealogy and tens of thousands of defects. The point is scale and credibility: the same engine path that runs on the validation fleet is the one we want to prove on your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coil fails inspection, the evidence is already somewhere in your servers. The issue is that it is split across systems. Quality may have the defect, the caster has the slab history, the meltshop has the heat, and engineering has spreadsheets. The origin is hidden because the footprint is fragmented.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detective story. We start at the outcome: the defective product. Then we trace the footprints backward: coil to slab to heat. This is the golden thread. What used to require senior engineers to manually reconcile multiple systems becomes a live investigation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you are presenting with a screenshot. If you go live, this is where you navigate to Material Investigation and search the coil. Say: look at this screen. We start with the defective product and walk backward instantly. From failed coil, to exact slab, to original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put the process on trial. This is not an AI guessing game. The deterministic engine tests the population, selects methods, calculates effect size and statistical confidence, and writes findings with evidence handles. The assistant is the narrator. It explains what the engine found and cites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most important screen tonight. The system caught the CRACK_LONG signal at 9.3x. But the trust moment is below it: SCRATCH stayed at 1.0x. A weak analytics system finds impressive-looking correlations everywhere. A trustworthy system separates the costly signal from everyday noise. This is not AI theater. This is actionable engineering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move from technology to money. The value is speed and focus. Detect earlier. Investigate faster. Prioritize the right process window. Protect margin. The buyer becomes the hero because the plant team can act before the same loss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IT and OT directors in the room: PlantProcess IQ is strictly read-only. We do not send setpoints. We do not alter recipes. We do not touch PLCs. We extract approved data, analyze it externally, and provide decision support. Zero operational risk to live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structure this as an enterprise partnership. The one-time integration ranges from twelve thousand to fifty thousand dollars based on source fragmentation, mappings, pages and modifications. The monthly license ranges from six thousand to twenty-five thousand dollars based on users, computation and capability packs. If this prevents one severe downgrade batch or one hour of mill downtime, the economics can justify the annual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you to buy a concept. I want you to buy proven value. Give us one plant, one recurring defect, and read-only access to the relevant databases. If the signal is there, PlantProcess IQ will find it and prove it. If it is not there, it will say so. That is the Proof-of-Value I am proposing.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B18"/>
        </a:solidFill>
      </p:bgPr>
    </p:bg>
    <p:spTree>
      <p:nvGrpSpPr>
        <p:cNvPr id="1" name=""/>
        <p:cNvGrpSpPr/>
        <p:nvPr/>
      </p:nvGrpSpPr>
      <p:grpSpPr>
        <a:xfrm>
          <a:off x="0" y="0"/>
          <a:ext cx="0" cy="0"/>
          <a:chOff x="0" y="0"/>
          <a:chExt cx="0" cy="0"/>
        </a:xfrm>
      </p:grpSpPr>
      <p:pic>
        <p:nvPicPr>
          <p:cNvPr id="2" name="Image 0" descr="/mnt/data/a_wide_cinematic_high_tech_industrial_control_ro_batch_1.png">    </p:cNvPr>
          <p:cNvPicPr>
            <a:picLocks noChangeAspect="1"/>
          </p:cNvPicPr>
          <p:nvPr/>
        </p:nvPicPr>
        <p:blipFill>
          <a:blip r:embed="rId1"/>
          <a:srcRect l="5000" r="-50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82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Shape 2"/>
          <p:cNvSpPr/>
          <p:nvPr/>
        </p:nvSpPr>
        <p:spPr>
          <a:xfrm>
            <a:off x="0" y="0"/>
            <a:ext cx="7132320" cy="6858000"/>
          </a:xfrm>
          <a:prstGeom prst="rect">
            <a:avLst/>
          </a:prstGeom>
          <a:solidFill>
            <a:srgbClr val="050B18">
              <a:alpha val="98000"/>
            </a:srgbClr>
          </a:solidFill>
          <a:ln w="12700">
            <a:solidFill>
              <a:srgbClr val="050B18">
                <a:alpha val="0"/>
              </a:srgbClr>
            </a:solidFill>
            <a:prstDash val="solid"/>
          </a:ln>
        </p:spPr>
      </p:sp>
      <p:sp>
        <p:nvSpPr>
          <p:cNvPr id="6" name="Text 3"/>
          <p:cNvSpPr/>
          <p:nvPr/>
        </p:nvSpPr>
        <p:spPr>
          <a:xfrm>
            <a:off x="502920" y="475488"/>
            <a:ext cx="6309360" cy="228600"/>
          </a:xfrm>
          <a:prstGeom prst="rect">
            <a:avLst/>
          </a:prstGeom>
          <a:noFill/>
          <a:ln/>
        </p:spPr>
        <p:txBody>
          <a:bodyPr wrap="square" lIns="0" tIns="0" rIns="0" bIns="0" rtlCol="0" anchor="ctr"/>
          <a:lstStyle/>
          <a:p>
            <a:pPr indent="0" marL="0">
              <a:buNone/>
            </a:pPr>
            <a:r>
              <a:rPr lang="en-US" sz="850" b="1" dirty="0">
                <a:solidFill>
                  <a:srgbClr val="00D4FF"/>
                </a:solidFill>
              </a:rPr>
              <a:t>DEMO DAY · EXECUTIVE PITCH</a:t>
            </a:r>
            <a:endParaRPr lang="en-US" sz="850" dirty="0"/>
          </a:p>
        </p:txBody>
      </p:sp>
      <p:sp>
        <p:nvSpPr>
          <p:cNvPr id="7" name="Text 4"/>
          <p:cNvSpPr/>
          <p:nvPr/>
        </p:nvSpPr>
        <p:spPr>
          <a:xfrm>
            <a:off x="502920" y="768096"/>
            <a:ext cx="6309360" cy="1005840"/>
          </a:xfrm>
          <a:prstGeom prst="rect">
            <a:avLst/>
          </a:prstGeom>
          <a:noFill/>
          <a:ln/>
        </p:spPr>
        <p:txBody>
          <a:bodyPr wrap="square" lIns="0" tIns="0" rIns="0" bIns="0" rtlCol="0" anchor="ctr">
            <a:normAutofit/>
          </a:bodyPr>
          <a:lstStyle/>
          <a:p>
            <a:pPr indent="0" marL="0">
              <a:buNone/>
            </a:pPr>
            <a:r>
              <a:rPr lang="en-US" sz="4500" b="1" dirty="0">
                <a:solidFill>
                  <a:srgbClr val="EAF6FF"/>
                </a:solidFill>
              </a:rPr>
              <a:t>Stop the bleeding.</a:t>
            </a:r>
            <a:endParaRPr lang="en-US" sz="4500" dirty="0"/>
          </a:p>
        </p:txBody>
      </p:sp>
      <p:sp>
        <p:nvSpPr>
          <p:cNvPr id="8" name="Text 5"/>
          <p:cNvSpPr/>
          <p:nvPr/>
        </p:nvSpPr>
        <p:spPr>
          <a:xfrm>
            <a:off x="502920" y="1554480"/>
            <a:ext cx="6309360" cy="502920"/>
          </a:xfrm>
          <a:prstGeom prst="rect">
            <a:avLst/>
          </a:prstGeom>
          <a:noFill/>
          <a:ln/>
        </p:spPr>
        <p:txBody>
          <a:bodyPr wrap="square" lIns="0" tIns="0" rIns="0" bIns="0" rtlCol="0" anchor="ctr">
            <a:normAutofit/>
          </a:bodyPr>
          <a:lstStyle/>
          <a:p>
            <a:pPr indent="0" marL="0">
              <a:buNone/>
            </a:pPr>
            <a:r>
              <a:rPr lang="en-US" sz="1500" dirty="0">
                <a:solidFill>
                  <a:srgbClr val="B6C7D9"/>
                </a:solidFill>
              </a:rPr>
              <a:t>Connect your plant. Understand your process. Stop recurring losses before they become EBITDA damage.</a:t>
            </a:r>
            <a:endParaRPr lang="en-US" sz="1500" dirty="0"/>
          </a:p>
        </p:txBody>
      </p:sp>
      <p:sp>
        <p:nvSpPr>
          <p:cNvPr id="9" name="Text 6"/>
          <p:cNvSpPr/>
          <p:nvPr/>
        </p:nvSpPr>
        <p:spPr>
          <a:xfrm>
            <a:off x="548640" y="2240280"/>
            <a:ext cx="5577840" cy="320040"/>
          </a:xfrm>
          <a:prstGeom prst="rect">
            <a:avLst/>
          </a:prstGeom>
          <a:noFill/>
          <a:ln/>
        </p:spPr>
        <p:txBody>
          <a:bodyPr wrap="square" lIns="0" tIns="0" rIns="0" bIns="0" rtlCol="0" anchor="ctr"/>
          <a:lstStyle/>
          <a:p>
            <a:pPr indent="0" marL="0">
              <a:buNone/>
            </a:pPr>
            <a:r>
              <a:rPr lang="en-US" sz="1800" b="1" dirty="0">
                <a:solidFill>
                  <a:srgbClr val="00D4FF"/>
                </a:solidFill>
              </a:rPr>
              <a:t>Tonight: move from “we have a defect” to “we know where to act.”</a:t>
            </a:r>
            <a:endParaRPr lang="en-US" sz="1800" dirty="0"/>
          </a:p>
        </p:txBody>
      </p:sp>
      <p:sp>
        <p:nvSpPr>
          <p:cNvPr id="10" name="Shape 7"/>
          <p:cNvSpPr/>
          <p:nvPr/>
        </p:nvSpPr>
        <p:spPr>
          <a:xfrm>
            <a:off x="548640" y="5074920"/>
            <a:ext cx="6309360" cy="868680"/>
          </a:xfrm>
          <a:prstGeom prst="roundRect">
            <a:avLst>
              <a:gd name="adj" fmla="val 6316"/>
            </a:avLst>
          </a:prstGeom>
          <a:solidFill>
            <a:srgbClr val="0B1730">
              <a:alpha val="97000"/>
            </a:srgbClr>
          </a:solidFill>
          <a:ln w="12700">
            <a:solidFill>
              <a:srgbClr val="00D4FF">
                <a:alpha val="90000"/>
              </a:srgbClr>
            </a:solidFill>
            <a:prstDash val="solid"/>
          </a:ln>
        </p:spPr>
      </p:sp>
      <p:sp>
        <p:nvSpPr>
          <p:cNvPr id="11" name="Shape 8"/>
          <p:cNvSpPr/>
          <p:nvPr/>
        </p:nvSpPr>
        <p:spPr>
          <a:xfrm>
            <a:off x="548640" y="5074920"/>
            <a:ext cx="54864" cy="868680"/>
          </a:xfrm>
          <a:prstGeom prst="rect">
            <a:avLst/>
          </a:prstGeom>
          <a:solidFill>
            <a:srgbClr val="00D4FF"/>
          </a:solidFill>
          <a:ln w="12700">
            <a:solidFill>
              <a:srgbClr val="00D4FF">
                <a:alpha val="0"/>
              </a:srgbClr>
            </a:solidFill>
            <a:prstDash val="solid"/>
          </a:ln>
        </p:spPr>
      </p:sp>
      <p:sp>
        <p:nvSpPr>
          <p:cNvPr id="12" name="Text 9"/>
          <p:cNvSpPr/>
          <p:nvPr/>
        </p:nvSpPr>
        <p:spPr>
          <a:xfrm>
            <a:off x="713232" y="5239512"/>
            <a:ext cx="6016752" cy="557784"/>
          </a:xfrm>
          <a:prstGeom prst="rect">
            <a:avLst/>
          </a:prstGeom>
          <a:noFill/>
          <a:ln/>
        </p:spPr>
        <p:txBody>
          <a:bodyPr wrap="square" lIns="0" tIns="0" rIns="0" bIns="0" rtlCol="0" anchor="ctr">
            <a:normAutofit/>
          </a:bodyPr>
          <a:lstStyle/>
          <a:p>
            <a:pPr indent="0" marL="0">
              <a:buNone/>
            </a:pPr>
            <a:r>
              <a:rPr lang="en-US" sz="1200" b="1" dirty="0">
                <a:solidFill>
                  <a:srgbClr val="EAF6FF"/>
                </a:solidFill>
              </a:rPr>
              <a:t>Not another dashboard.</a:t>
            </a:r>
            <a:endParaRPr lang="en-US" sz="1200" dirty="0"/>
          </a:p>
          <a:p>
            <a:pPr indent="0" marL="0">
              <a:buNone/>
            </a:pPr>
            <a:r>
              <a:rPr lang="en-US" sz="1200" b="1" dirty="0">
                <a:solidFill>
                  <a:srgbClr val="EAF6FF"/>
                </a:solidFill>
              </a:rPr>
              <a:t>A decision engine that shortens root-cause investigation from weeks to minutes — without operational risk.</a:t>
            </a:r>
            <a:endParaRPr lang="en-US" sz="1200" dirty="0"/>
          </a:p>
        </p:txBody>
      </p:sp>
      <p:sp>
        <p:nvSpPr>
          <p:cNvPr id="13" name="Shape 10"/>
          <p:cNvSpPr/>
          <p:nvPr/>
        </p:nvSpPr>
        <p:spPr>
          <a:xfrm>
            <a:off x="7662672" y="685800"/>
            <a:ext cx="3611880" cy="1188720"/>
          </a:xfrm>
          <a:prstGeom prst="roundRect">
            <a:avLst>
              <a:gd name="adj" fmla="val 5385"/>
            </a:avLst>
          </a:prstGeom>
          <a:solidFill>
            <a:srgbClr val="050B18">
              <a:alpha val="88000"/>
            </a:srgbClr>
          </a:solidFill>
          <a:ln w="15240">
            <a:solidFill>
              <a:srgbClr val="FF4D6D">
                <a:alpha val="88000"/>
              </a:srgbClr>
            </a:solidFill>
            <a:prstDash val="solid"/>
          </a:ln>
          <a:effectLst>
            <a:outerShdw sx="100000" sy="100000" kx="0" ky="0" algn="bl" rotWithShape="0" blurRad="25400" dist="50800" dir="2700000">
              <a:srgbClr val="FF4D6D">
                <a:alpha val="25000"/>
              </a:srgbClr>
            </a:outerShdw>
          </a:effectLst>
        </p:spPr>
      </p:sp>
      <p:sp>
        <p:nvSpPr>
          <p:cNvPr id="14" name="Text 11"/>
          <p:cNvSpPr/>
          <p:nvPr/>
        </p:nvSpPr>
        <p:spPr>
          <a:xfrm>
            <a:off x="7818120" y="969264"/>
            <a:ext cx="3291840" cy="347472"/>
          </a:xfrm>
          <a:prstGeom prst="rect">
            <a:avLst/>
          </a:prstGeom>
          <a:noFill/>
          <a:ln/>
        </p:spPr>
        <p:txBody>
          <a:bodyPr wrap="square" lIns="0" tIns="0" rIns="0" bIns="0" rtlCol="0" anchor="ctr"/>
          <a:lstStyle/>
          <a:p>
            <a:pPr algn="ctr" indent="0" marL="0">
              <a:buNone/>
            </a:pPr>
            <a:r>
              <a:rPr lang="en-US" sz="2400" b="1" dirty="0">
                <a:solidFill>
                  <a:srgbClr val="FF4D6D"/>
                </a:solidFill>
              </a:rPr>
              <a:t>$ 1,248,900</a:t>
            </a:r>
            <a:endParaRPr lang="en-US" sz="2400" dirty="0"/>
          </a:p>
        </p:txBody>
      </p:sp>
      <p:sp>
        <p:nvSpPr>
          <p:cNvPr id="15" name="Text 12"/>
          <p:cNvSpPr/>
          <p:nvPr/>
        </p:nvSpPr>
        <p:spPr>
          <a:xfrm>
            <a:off x="7909560" y="1353312"/>
            <a:ext cx="3108960" cy="164592"/>
          </a:xfrm>
          <a:prstGeom prst="rect">
            <a:avLst/>
          </a:prstGeom>
          <a:noFill/>
          <a:ln/>
        </p:spPr>
        <p:txBody>
          <a:bodyPr wrap="square" lIns="0" tIns="0" rIns="0" bIns="0" rtlCol="0" anchor="ctr"/>
          <a:lstStyle/>
          <a:p>
            <a:pPr algn="ctr" indent="0" marL="0">
              <a:buNone/>
            </a:pPr>
            <a:r>
              <a:rPr lang="en-US" sz="750" dirty="0">
                <a:solidFill>
                  <a:srgbClr val="8EA7C1"/>
                </a:solidFill>
              </a:rPr>
              <a:t>recurring loss exposure</a:t>
            </a:r>
            <a:endParaRPr lang="en-US" sz="750" dirty="0"/>
          </a:p>
        </p:txBody>
      </p:sp>
      <p:sp>
        <p:nvSpPr>
          <p:cNvPr id="16" name="Shape 13"/>
          <p:cNvSpPr/>
          <p:nvPr/>
        </p:nvSpPr>
        <p:spPr>
          <a:xfrm>
            <a:off x="8183880" y="1618488"/>
            <a:ext cx="2560320" cy="0"/>
          </a:xfrm>
          <a:prstGeom prst="line">
            <a:avLst/>
          </a:prstGeom>
          <a:noFill/>
          <a:ln w="22860">
            <a:solidFill>
              <a:srgbClr val="00D4FF"/>
            </a:solidFill>
            <a:prstDash val="solid"/>
          </a:ln>
        </p:spPr>
      </p:sp>
      <p:sp>
        <p:nvSpPr>
          <p:cNvPr id="17" name="Shape 14"/>
          <p:cNvSpPr/>
          <p:nvPr/>
        </p:nvSpPr>
        <p:spPr>
          <a:xfrm>
            <a:off x="777240" y="5632704"/>
            <a:ext cx="987552" cy="310896"/>
          </a:xfrm>
          <a:prstGeom prst="roundRect">
            <a:avLst>
              <a:gd name="adj" fmla="val 11765"/>
            </a:avLst>
          </a:prstGeom>
          <a:solidFill>
            <a:srgbClr val="FF4D6D">
              <a:alpha val="18000"/>
            </a:srgbClr>
          </a:solidFill>
          <a:ln w="7620">
            <a:solidFill>
              <a:srgbClr val="FF4D6D">
                <a:alpha val="90000"/>
              </a:srgbClr>
            </a:solidFill>
            <a:prstDash val="solid"/>
          </a:ln>
        </p:spPr>
      </p:sp>
      <p:sp>
        <p:nvSpPr>
          <p:cNvPr id="18" name="Text 15"/>
          <p:cNvSpPr/>
          <p:nvPr/>
        </p:nvSpPr>
        <p:spPr>
          <a:xfrm>
            <a:off x="832104" y="5715000"/>
            <a:ext cx="877824" cy="91440"/>
          </a:xfrm>
          <a:prstGeom prst="rect">
            <a:avLst/>
          </a:prstGeom>
          <a:noFill/>
          <a:ln/>
        </p:spPr>
        <p:txBody>
          <a:bodyPr wrap="square" lIns="0" tIns="0" rIns="0" bIns="0" rtlCol="0" anchor="ctr">
            <a:normAutofit/>
          </a:bodyPr>
          <a:lstStyle/>
          <a:p>
            <a:pPr algn="ctr" indent="0" marL="0">
              <a:buNone/>
            </a:pPr>
            <a:r>
              <a:rPr lang="en-US" sz="650" b="1" dirty="0">
                <a:solidFill>
                  <a:srgbClr val="FF4D6D"/>
                </a:solidFill>
              </a:rPr>
              <a:t>SCRAP</a:t>
            </a:r>
            <a:endParaRPr lang="en-US" sz="650" dirty="0"/>
          </a:p>
        </p:txBody>
      </p:sp>
      <p:sp>
        <p:nvSpPr>
          <p:cNvPr id="19" name="Shape 16"/>
          <p:cNvSpPr/>
          <p:nvPr/>
        </p:nvSpPr>
        <p:spPr>
          <a:xfrm>
            <a:off x="2011680" y="5632704"/>
            <a:ext cx="987552" cy="310896"/>
          </a:xfrm>
          <a:prstGeom prst="roundRect">
            <a:avLst>
              <a:gd name="adj" fmla="val 11765"/>
            </a:avLst>
          </a:prstGeom>
          <a:solidFill>
            <a:srgbClr val="FFB020">
              <a:alpha val="18000"/>
            </a:srgbClr>
          </a:solidFill>
          <a:ln w="7620">
            <a:solidFill>
              <a:srgbClr val="FFB020">
                <a:alpha val="90000"/>
              </a:srgbClr>
            </a:solidFill>
            <a:prstDash val="solid"/>
          </a:ln>
        </p:spPr>
      </p:sp>
      <p:sp>
        <p:nvSpPr>
          <p:cNvPr id="20" name="Text 17"/>
          <p:cNvSpPr/>
          <p:nvPr/>
        </p:nvSpPr>
        <p:spPr>
          <a:xfrm>
            <a:off x="2066544" y="5715000"/>
            <a:ext cx="877824" cy="91440"/>
          </a:xfrm>
          <a:prstGeom prst="rect">
            <a:avLst/>
          </a:prstGeom>
          <a:noFill/>
          <a:ln/>
        </p:spPr>
        <p:txBody>
          <a:bodyPr wrap="square" lIns="0" tIns="0" rIns="0" bIns="0" rtlCol="0" anchor="ctr">
            <a:normAutofit/>
          </a:bodyPr>
          <a:lstStyle/>
          <a:p>
            <a:pPr algn="ctr" indent="0" marL="0">
              <a:buNone/>
            </a:pPr>
            <a:r>
              <a:rPr lang="en-US" sz="650" b="1" dirty="0">
                <a:solidFill>
                  <a:srgbClr val="FFB020"/>
                </a:solidFill>
              </a:rPr>
              <a:t>DOWNGRADE</a:t>
            </a:r>
            <a:endParaRPr lang="en-US" sz="650" dirty="0"/>
          </a:p>
        </p:txBody>
      </p:sp>
      <p:sp>
        <p:nvSpPr>
          <p:cNvPr id="21" name="Shape 18"/>
          <p:cNvSpPr/>
          <p:nvPr/>
        </p:nvSpPr>
        <p:spPr>
          <a:xfrm>
            <a:off x="3246120" y="5632704"/>
            <a:ext cx="987552" cy="310896"/>
          </a:xfrm>
          <a:prstGeom prst="roundRect">
            <a:avLst>
              <a:gd name="adj" fmla="val 11765"/>
            </a:avLst>
          </a:prstGeom>
          <a:solidFill>
            <a:srgbClr val="00D4FF">
              <a:alpha val="18000"/>
            </a:srgbClr>
          </a:solidFill>
          <a:ln w="7620">
            <a:solidFill>
              <a:srgbClr val="00D4FF">
                <a:alpha val="90000"/>
              </a:srgbClr>
            </a:solidFill>
            <a:prstDash val="solid"/>
          </a:ln>
        </p:spPr>
      </p:sp>
      <p:sp>
        <p:nvSpPr>
          <p:cNvPr id="22" name="Text 19"/>
          <p:cNvSpPr/>
          <p:nvPr/>
        </p:nvSpPr>
        <p:spPr>
          <a:xfrm>
            <a:off x="3300984" y="5715000"/>
            <a:ext cx="877824"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CLAIMS</a:t>
            </a:r>
            <a:endParaRPr lang="en-US" sz="650" dirty="0"/>
          </a:p>
        </p:txBody>
      </p:sp>
      <p:sp>
        <p:nvSpPr>
          <p:cNvPr id="23" name="Shape 20"/>
          <p:cNvSpPr/>
          <p:nvPr/>
        </p:nvSpPr>
        <p:spPr>
          <a:xfrm>
            <a:off x="8366760" y="5989320"/>
            <a:ext cx="2788920" cy="329184"/>
          </a:xfrm>
          <a:prstGeom prst="roundRect">
            <a:avLst>
              <a:gd name="adj" fmla="val 11111"/>
            </a:avLst>
          </a:prstGeom>
          <a:solidFill>
            <a:srgbClr val="2CE6A2">
              <a:alpha val="8000"/>
            </a:srgbClr>
          </a:solidFill>
          <a:ln w="8890">
            <a:solidFill>
              <a:srgbClr val="2CE6A2"/>
            </a:solidFill>
            <a:prstDash val="solid"/>
          </a:ln>
        </p:spPr>
      </p:sp>
      <p:sp>
        <p:nvSpPr>
          <p:cNvPr id="24" name="Text 21"/>
          <p:cNvSpPr/>
          <p:nvPr/>
        </p:nvSpPr>
        <p:spPr>
          <a:xfrm>
            <a:off x="8366760" y="6071616"/>
            <a:ext cx="2788920" cy="109728"/>
          </a:xfrm>
          <a:prstGeom prst="rect">
            <a:avLst/>
          </a:prstGeom>
          <a:noFill/>
          <a:ln/>
        </p:spPr>
        <p:txBody>
          <a:bodyPr wrap="square" lIns="0" tIns="0" rIns="0" bIns="0" rtlCol="0" anchor="ctr"/>
          <a:lstStyle/>
          <a:p>
            <a:pPr algn="ctr" indent="0" marL="0">
              <a:buNone/>
            </a:pPr>
            <a:r>
              <a:rPr lang="en-US" sz="580" b="1" dirty="0">
                <a:solidFill>
                  <a:srgbClr val="2CE6A2"/>
                </a:solidFill>
              </a:rPr>
              <a:t>HIGH-TRUST / READ-ONLY / EVIDENCE-GRADE</a:t>
            </a:r>
            <a:endParaRPr lang="en-US" sz="580" dirty="0"/>
          </a:p>
        </p:txBody>
      </p:sp>
      <p:sp>
        <p:nvSpPr>
          <p:cNvPr id="25" name="Text 22"/>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26" name="Text 23"/>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27" name="Text 24"/>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3" name="Shape 1"/>
          <p:cNvSpPr/>
          <p:nvPr/>
        </p:nvSpPr>
        <p:spPr>
          <a:xfrm>
            <a:off x="0" y="0"/>
            <a:ext cx="12191695" cy="6858000"/>
          </a:xfrm>
          <a:prstGeom prst="rect">
            <a:avLst/>
          </a:prstGeom>
          <a:solidFill>
            <a:srgbClr val="050B18"/>
          </a:solidFill>
          <a:ln w="12700">
            <a:solidFill>
              <a:srgbClr val="050B18">
                <a:alpha val="0"/>
              </a:srgbClr>
            </a:solidFill>
            <a:prstDash val="solid"/>
          </a:ln>
        </p:spPr>
      </p:sp>
      <p:sp>
        <p:nvSpPr>
          <p:cNvPr id="4" name="Text 2"/>
          <p:cNvSpPr/>
          <p:nvPr/>
        </p:nvSpPr>
        <p:spPr>
          <a:xfrm>
            <a:off x="502920" y="384048"/>
            <a:ext cx="6492240" cy="228600"/>
          </a:xfrm>
          <a:prstGeom prst="rect">
            <a:avLst/>
          </a:prstGeom>
          <a:noFill/>
          <a:ln/>
        </p:spPr>
        <p:txBody>
          <a:bodyPr wrap="square" lIns="0" tIns="0" rIns="0" bIns="0" rtlCol="0" anchor="ctr"/>
          <a:lstStyle/>
          <a:p>
            <a:pPr indent="0" marL="0">
              <a:buNone/>
            </a:pPr>
            <a:r>
              <a:rPr lang="en-US" sz="850" b="1" dirty="0">
                <a:solidFill>
                  <a:srgbClr val="00D4FF"/>
                </a:solidFill>
              </a:rPr>
              <a:t>WHY TRUST US</a:t>
            </a:r>
            <a:endParaRPr lang="en-US" sz="850" dirty="0"/>
          </a:p>
        </p:txBody>
      </p:sp>
      <p:sp>
        <p:nvSpPr>
          <p:cNvPr id="5" name="Text 3"/>
          <p:cNvSpPr/>
          <p:nvPr/>
        </p:nvSpPr>
        <p:spPr>
          <a:xfrm>
            <a:off x="502920" y="676656"/>
            <a:ext cx="6492240" cy="822960"/>
          </a:xfrm>
          <a:prstGeom prst="rect">
            <a:avLst/>
          </a:prstGeom>
          <a:noFill/>
          <a:ln/>
        </p:spPr>
        <p:txBody>
          <a:bodyPr wrap="square" lIns="0" tIns="0" rIns="0" bIns="0" rtlCol="0" anchor="ctr">
            <a:normAutofit/>
          </a:bodyPr>
          <a:lstStyle/>
          <a:p>
            <a:pPr indent="0" marL="0">
              <a:buNone/>
            </a:pPr>
            <a:r>
              <a:rPr lang="en-US" sz="2900" b="1" dirty="0">
                <a:solidFill>
                  <a:srgbClr val="EAF6FF"/>
                </a:solidFill>
              </a:rPr>
              <a:t>Built by industrial insiders, not slideware.</a:t>
            </a:r>
            <a:endParaRPr lang="en-US" sz="2900" dirty="0"/>
          </a:p>
        </p:txBody>
      </p:sp>
      <p:sp>
        <p:nvSpPr>
          <p:cNvPr id="6" name="Text 4"/>
          <p:cNvSpPr/>
          <p:nvPr/>
        </p:nvSpPr>
        <p:spPr>
          <a:xfrm>
            <a:off x="502920" y="1463040"/>
            <a:ext cx="649224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13+ years inside Level 2 automation, MES, commissioning, and industrial model systems.</a:t>
            </a:r>
            <a:endParaRPr lang="en-US" sz="1250" dirty="0"/>
          </a:p>
        </p:txBody>
      </p:sp>
      <p:sp>
        <p:nvSpPr>
          <p:cNvPr id="7" name="Shape 5"/>
          <p:cNvSpPr/>
          <p:nvPr/>
        </p:nvSpPr>
        <p:spPr>
          <a:xfrm>
            <a:off x="8549640" y="393192"/>
            <a:ext cx="2011680" cy="329184"/>
          </a:xfrm>
          <a:prstGeom prst="roundRect">
            <a:avLst>
              <a:gd name="adj" fmla="val 11111"/>
            </a:avLst>
          </a:prstGeom>
          <a:solidFill>
            <a:srgbClr val="00D4FF">
              <a:alpha val="8000"/>
            </a:srgbClr>
          </a:solidFill>
          <a:ln w="8890">
            <a:solidFill>
              <a:srgbClr val="00D4FF"/>
            </a:solidFill>
            <a:prstDash val="solid"/>
          </a:ln>
        </p:spPr>
      </p:sp>
      <p:sp>
        <p:nvSpPr>
          <p:cNvPr id="8" name="Text 6"/>
          <p:cNvSpPr/>
          <p:nvPr/>
        </p:nvSpPr>
        <p:spPr>
          <a:xfrm>
            <a:off x="8549640" y="475488"/>
            <a:ext cx="2011680" cy="109728"/>
          </a:xfrm>
          <a:prstGeom prst="rect">
            <a:avLst/>
          </a:prstGeom>
          <a:noFill/>
          <a:ln/>
        </p:spPr>
        <p:txBody>
          <a:bodyPr wrap="square" lIns="0" tIns="0" rIns="0" bIns="0" rtlCol="0" anchor="ctr"/>
          <a:lstStyle/>
          <a:p>
            <a:pPr algn="ctr" indent="0" marL="0">
              <a:buNone/>
            </a:pPr>
            <a:r>
              <a:rPr lang="en-US" sz="580" b="1" dirty="0">
                <a:solidFill>
                  <a:srgbClr val="00D4FF"/>
                </a:solidFill>
              </a:rPr>
              <a:t>PROOF FROM PLANT REALITY</a:t>
            </a:r>
            <a:endParaRPr lang="en-US" sz="580" dirty="0"/>
          </a:p>
        </p:txBody>
      </p:sp>
      <p:sp>
        <p:nvSpPr>
          <p:cNvPr id="9" name="Shape 7"/>
          <p:cNvSpPr/>
          <p:nvPr/>
        </p:nvSpPr>
        <p:spPr>
          <a:xfrm>
            <a:off x="594360" y="1508760"/>
            <a:ext cx="2743200" cy="4480560"/>
          </a:xfrm>
          <a:prstGeom prst="roundRect">
            <a:avLst>
              <a:gd name="adj" fmla="val 2667"/>
            </a:avLst>
          </a:prstGeom>
          <a:solidFill>
            <a:srgbClr val="0B1730">
              <a:alpha val="98000"/>
            </a:srgbClr>
          </a:solidFill>
          <a:ln w="12700">
            <a:solidFill>
              <a:srgbClr val="00D4FF">
                <a:alpha val="95000"/>
              </a:srgbClr>
            </a:solidFill>
            <a:prstDash val="solid"/>
          </a:ln>
        </p:spPr>
      </p:sp>
      <p:sp>
        <p:nvSpPr>
          <p:cNvPr id="10" name="Text 8"/>
          <p:cNvSpPr/>
          <p:nvPr/>
        </p:nvSpPr>
        <p:spPr>
          <a:xfrm>
            <a:off x="841248" y="1874520"/>
            <a:ext cx="2240280" cy="228600"/>
          </a:xfrm>
          <a:prstGeom prst="rect">
            <a:avLst/>
          </a:prstGeom>
          <a:noFill/>
          <a:ln/>
        </p:spPr>
        <p:txBody>
          <a:bodyPr wrap="square" lIns="0" tIns="0" rIns="0" bIns="0" rtlCol="0" anchor="ctr"/>
          <a:lstStyle/>
          <a:p>
            <a:pPr algn="ctr" indent="0" marL="0">
              <a:buNone/>
            </a:pPr>
            <a:r>
              <a:rPr lang="en-US" sz="1600" b="1" dirty="0">
                <a:solidFill>
                  <a:srgbClr val="EAF6FF"/>
                </a:solidFill>
              </a:rPr>
              <a:t>KARIM GAMAL</a:t>
            </a:r>
            <a:endParaRPr lang="en-US" sz="1600" dirty="0"/>
          </a:p>
        </p:txBody>
      </p:sp>
      <p:sp>
        <p:nvSpPr>
          <p:cNvPr id="11" name="Text 9"/>
          <p:cNvSpPr/>
          <p:nvPr/>
        </p:nvSpPr>
        <p:spPr>
          <a:xfrm>
            <a:off x="841248" y="2176272"/>
            <a:ext cx="2240280" cy="137160"/>
          </a:xfrm>
          <a:prstGeom prst="rect">
            <a:avLst/>
          </a:prstGeom>
          <a:noFill/>
          <a:ln/>
        </p:spPr>
        <p:txBody>
          <a:bodyPr wrap="square" lIns="0" tIns="0" rIns="0" bIns="0" rtlCol="0" anchor="ctr"/>
          <a:lstStyle/>
          <a:p>
            <a:pPr algn="ctr" indent="0" marL="0">
              <a:buNone/>
            </a:pPr>
            <a:r>
              <a:rPr lang="en-US" sz="680" dirty="0">
                <a:solidFill>
                  <a:srgbClr val="8EA7C1"/>
                </a:solidFill>
              </a:rPr>
              <a:t>Founder · SOU Industrial Software</a:t>
            </a:r>
            <a:endParaRPr lang="en-US" sz="680" dirty="0"/>
          </a:p>
        </p:txBody>
      </p:sp>
      <p:sp>
        <p:nvSpPr>
          <p:cNvPr id="12" name="Shape 10"/>
          <p:cNvSpPr/>
          <p:nvPr/>
        </p:nvSpPr>
        <p:spPr>
          <a:xfrm>
            <a:off x="868680" y="2697480"/>
            <a:ext cx="1078992" cy="987552"/>
          </a:xfrm>
          <a:prstGeom prst="roundRect">
            <a:avLst>
              <a:gd name="adj" fmla="val 7407"/>
            </a:avLst>
          </a:prstGeom>
          <a:solidFill>
            <a:srgbClr val="0B1730">
              <a:alpha val="92000"/>
            </a:srgbClr>
          </a:solidFill>
          <a:ln w="15240">
            <a:solidFill>
              <a:srgbClr val="00D4FF">
                <a:alpha val="90000"/>
              </a:srgbClr>
            </a:solidFill>
            <a:prstDash val="solid"/>
          </a:ln>
          <a:effectLst>
            <a:outerShdw sx="100000" sy="100000" kx="0" ky="0" algn="bl" rotWithShape="0" blurRad="12700" dist="50800" dir="2700000">
              <a:srgbClr val="00D4FF">
                <a:alpha val="16000"/>
              </a:srgbClr>
            </a:outerShdw>
          </a:effectLst>
        </p:spPr>
      </p:sp>
      <p:sp>
        <p:nvSpPr>
          <p:cNvPr id="13" name="Text 11"/>
          <p:cNvSpPr/>
          <p:nvPr/>
        </p:nvSpPr>
        <p:spPr>
          <a:xfrm>
            <a:off x="941832" y="2880360"/>
            <a:ext cx="932688" cy="320040"/>
          </a:xfrm>
          <a:prstGeom prst="rect">
            <a:avLst/>
          </a:prstGeom>
          <a:noFill/>
          <a:ln/>
        </p:spPr>
        <p:txBody>
          <a:bodyPr wrap="square" lIns="0" tIns="0" rIns="0" bIns="0" rtlCol="0" anchor="ctr"/>
          <a:lstStyle/>
          <a:p>
            <a:pPr algn="ctr" indent="0" marL="0">
              <a:buNone/>
            </a:pPr>
            <a:r>
              <a:rPr lang="en-US" sz="1800" b="1" dirty="0">
                <a:solidFill>
                  <a:srgbClr val="00D4FF"/>
                </a:solidFill>
              </a:rPr>
              <a:t>13+</a:t>
            </a:r>
            <a:endParaRPr lang="en-US" sz="1800" dirty="0"/>
          </a:p>
        </p:txBody>
      </p:sp>
      <p:sp>
        <p:nvSpPr>
          <p:cNvPr id="14" name="Text 12"/>
          <p:cNvSpPr/>
          <p:nvPr/>
        </p:nvSpPr>
        <p:spPr>
          <a:xfrm>
            <a:off x="960120" y="3282696"/>
            <a:ext cx="896112"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years in industrial software</a:t>
            </a:r>
            <a:endParaRPr lang="en-US" sz="750" dirty="0"/>
          </a:p>
        </p:txBody>
      </p:sp>
      <p:sp>
        <p:nvSpPr>
          <p:cNvPr id="15" name="Shape 13"/>
          <p:cNvSpPr/>
          <p:nvPr/>
        </p:nvSpPr>
        <p:spPr>
          <a:xfrm>
            <a:off x="1993392" y="2697480"/>
            <a:ext cx="1078992" cy="987552"/>
          </a:xfrm>
          <a:prstGeom prst="roundRect">
            <a:avLst>
              <a:gd name="adj" fmla="val 7407"/>
            </a:avLst>
          </a:prstGeom>
          <a:solidFill>
            <a:srgbClr val="0B1730">
              <a:alpha val="92000"/>
            </a:srgbClr>
          </a:solidFill>
          <a:ln w="15240">
            <a:solidFill>
              <a:srgbClr val="2CE6A2">
                <a:alpha val="90000"/>
              </a:srgbClr>
            </a:solidFill>
            <a:prstDash val="solid"/>
          </a:ln>
          <a:effectLst>
            <a:outerShdw sx="100000" sy="100000" kx="0" ky="0" algn="bl" rotWithShape="0" blurRad="12700" dist="50800" dir="2700000">
              <a:srgbClr val="2CE6A2">
                <a:alpha val="16000"/>
              </a:srgbClr>
            </a:outerShdw>
          </a:effectLst>
        </p:spPr>
      </p:sp>
      <p:sp>
        <p:nvSpPr>
          <p:cNvPr id="16" name="Text 14"/>
          <p:cNvSpPr/>
          <p:nvPr/>
        </p:nvSpPr>
        <p:spPr>
          <a:xfrm>
            <a:off x="2066544" y="2880360"/>
            <a:ext cx="932688" cy="320040"/>
          </a:xfrm>
          <a:prstGeom prst="rect">
            <a:avLst/>
          </a:prstGeom>
          <a:noFill/>
          <a:ln/>
        </p:spPr>
        <p:txBody>
          <a:bodyPr wrap="square" lIns="0" tIns="0" rIns="0" bIns="0" rtlCol="0" anchor="ctr"/>
          <a:lstStyle/>
          <a:p>
            <a:pPr algn="ctr" indent="0" marL="0">
              <a:buNone/>
            </a:pPr>
            <a:r>
              <a:rPr lang="en-US" sz="1800" b="1" dirty="0">
                <a:solidFill>
                  <a:srgbClr val="2CE6A2"/>
                </a:solidFill>
              </a:rPr>
              <a:t>2</a:t>
            </a:r>
            <a:endParaRPr lang="en-US" sz="1800" dirty="0"/>
          </a:p>
        </p:txBody>
      </p:sp>
      <p:sp>
        <p:nvSpPr>
          <p:cNvPr id="17" name="Text 15"/>
          <p:cNvSpPr/>
          <p:nvPr/>
        </p:nvSpPr>
        <p:spPr>
          <a:xfrm>
            <a:off x="2084832" y="3282696"/>
            <a:ext cx="896112"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published ML papers</a:t>
            </a:r>
            <a:endParaRPr lang="en-US" sz="750" dirty="0"/>
          </a:p>
        </p:txBody>
      </p:sp>
      <p:sp>
        <p:nvSpPr>
          <p:cNvPr id="18" name="Text 16"/>
          <p:cNvSpPr/>
          <p:nvPr/>
        </p:nvSpPr>
        <p:spPr>
          <a:xfrm>
            <a:off x="859536" y="4224528"/>
            <a:ext cx="2240280" cy="594360"/>
          </a:xfrm>
          <a:prstGeom prst="rect">
            <a:avLst/>
          </a:prstGeom>
          <a:noFill/>
          <a:ln/>
        </p:spPr>
        <p:txBody>
          <a:bodyPr wrap="square" lIns="0" tIns="0" rIns="0" bIns="0" rtlCol="0" anchor="ctr">
            <a:normAutofit/>
          </a:bodyPr>
          <a:lstStyle/>
          <a:p>
            <a:pPr algn="ctr" indent="0" marL="0">
              <a:buNone/>
            </a:pPr>
            <a:r>
              <a:rPr lang="en-US" sz="780" dirty="0">
                <a:solidFill>
                  <a:srgbClr val="B6C7D9"/>
                </a:solidFill>
              </a:rPr>
              <a:t>MSc Electrical &amp; Computer Engineering</a:t>
            </a:r>
            <a:endParaRPr lang="en-US" sz="780" dirty="0"/>
          </a:p>
          <a:p>
            <a:pPr algn="ctr" indent="0" marL="0">
              <a:buNone/>
            </a:pPr>
            <a:r>
              <a:rPr lang="en-US" sz="780" dirty="0">
                <a:solidFill>
                  <a:srgbClr val="B6C7D9"/>
                </a:solidFill>
              </a:rPr>
              <a:t>Level 2 · MES · Model-based automation</a:t>
            </a:r>
            <a:endParaRPr lang="en-US" sz="780" dirty="0"/>
          </a:p>
          <a:p>
            <a:pPr algn="ctr" indent="0" marL="0">
              <a:buNone/>
            </a:pPr>
            <a:r>
              <a:rPr lang="en-US" sz="780" dirty="0">
                <a:solidFill>
                  <a:srgbClr val="B6C7D9"/>
                </a:solidFill>
              </a:rPr>
              <a:t>Commissioning</a:t>
            </a:r>
            <a:endParaRPr lang="en-US" sz="780" dirty="0"/>
          </a:p>
        </p:txBody>
      </p:sp>
      <p:sp>
        <p:nvSpPr>
          <p:cNvPr id="19" name="Shape 17"/>
          <p:cNvSpPr/>
          <p:nvPr/>
        </p:nvSpPr>
        <p:spPr>
          <a:xfrm>
            <a:off x="3886200" y="2743200"/>
            <a:ext cx="6629400" cy="0"/>
          </a:xfrm>
          <a:prstGeom prst="line">
            <a:avLst/>
          </a:prstGeom>
          <a:noFill/>
          <a:ln w="10160">
            <a:solidFill>
              <a:srgbClr val="8EA7C1">
                <a:alpha val="65000"/>
              </a:srgbClr>
            </a:solidFill>
            <a:prstDash val="solid"/>
          </a:ln>
        </p:spPr>
      </p:sp>
      <p:sp>
        <p:nvSpPr>
          <p:cNvPr id="20" name="Shape 18"/>
          <p:cNvSpPr/>
          <p:nvPr/>
        </p:nvSpPr>
        <p:spPr>
          <a:xfrm>
            <a:off x="3803904" y="2660904"/>
            <a:ext cx="164592" cy="164592"/>
          </a:xfrm>
          <a:prstGeom prst="ellipse">
            <a:avLst/>
          </a:prstGeom>
          <a:solidFill>
            <a:srgbClr val="00D4FF"/>
          </a:solidFill>
          <a:ln w="10160">
            <a:solidFill>
              <a:srgbClr val="00D4FF"/>
            </a:solidFill>
            <a:prstDash val="solid"/>
          </a:ln>
        </p:spPr>
      </p:sp>
      <p:sp>
        <p:nvSpPr>
          <p:cNvPr id="21" name="Text 19"/>
          <p:cNvSpPr/>
          <p:nvPr/>
        </p:nvSpPr>
        <p:spPr>
          <a:xfrm>
            <a:off x="3685032" y="2331720"/>
            <a:ext cx="411480" cy="137160"/>
          </a:xfrm>
          <a:prstGeom prst="rect">
            <a:avLst/>
          </a:prstGeom>
          <a:noFill/>
          <a:ln/>
        </p:spPr>
        <p:txBody>
          <a:bodyPr wrap="square" lIns="0" tIns="0" rIns="0" bIns="0" rtlCol="0" anchor="ctr"/>
          <a:lstStyle/>
          <a:p>
            <a:pPr algn="ctr" indent="0" marL="0">
              <a:buNone/>
            </a:pPr>
            <a:r>
              <a:rPr lang="en-US" sz="650" b="1" dirty="0">
                <a:solidFill>
                  <a:srgbClr val="00D4FF"/>
                </a:solidFill>
              </a:rPr>
              <a:t>2013</a:t>
            </a:r>
            <a:endParaRPr lang="en-US" sz="650" dirty="0"/>
          </a:p>
        </p:txBody>
      </p:sp>
      <p:sp>
        <p:nvSpPr>
          <p:cNvPr id="22" name="Text 20"/>
          <p:cNvSpPr/>
          <p:nvPr/>
        </p:nvSpPr>
        <p:spPr>
          <a:xfrm>
            <a:off x="347472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Flat steel L2</a:t>
            </a:r>
            <a:endParaRPr lang="en-US" sz="620" dirty="0"/>
          </a:p>
        </p:txBody>
      </p:sp>
      <p:sp>
        <p:nvSpPr>
          <p:cNvPr id="23" name="Shape 21"/>
          <p:cNvSpPr/>
          <p:nvPr/>
        </p:nvSpPr>
        <p:spPr>
          <a:xfrm>
            <a:off x="5084064" y="2660904"/>
            <a:ext cx="164592" cy="164592"/>
          </a:xfrm>
          <a:prstGeom prst="ellipse">
            <a:avLst/>
          </a:prstGeom>
          <a:solidFill>
            <a:srgbClr val="00D4FF"/>
          </a:solidFill>
          <a:ln w="10160">
            <a:solidFill>
              <a:srgbClr val="00D4FF"/>
            </a:solidFill>
            <a:prstDash val="solid"/>
          </a:ln>
        </p:spPr>
      </p:sp>
      <p:sp>
        <p:nvSpPr>
          <p:cNvPr id="24" name="Text 22"/>
          <p:cNvSpPr/>
          <p:nvPr/>
        </p:nvSpPr>
        <p:spPr>
          <a:xfrm>
            <a:off x="4965192" y="2331720"/>
            <a:ext cx="411480" cy="137160"/>
          </a:xfrm>
          <a:prstGeom prst="rect">
            <a:avLst/>
          </a:prstGeom>
          <a:noFill/>
          <a:ln/>
        </p:spPr>
        <p:txBody>
          <a:bodyPr wrap="square" lIns="0" tIns="0" rIns="0" bIns="0" rtlCol="0" anchor="ctr"/>
          <a:lstStyle/>
          <a:p>
            <a:pPr algn="ctr" indent="0" marL="0">
              <a:buNone/>
            </a:pPr>
            <a:r>
              <a:rPr lang="en-US" sz="650" b="1" dirty="0">
                <a:solidFill>
                  <a:srgbClr val="00D4FF"/>
                </a:solidFill>
              </a:rPr>
              <a:t>2018</a:t>
            </a:r>
            <a:endParaRPr lang="en-US" sz="650" dirty="0"/>
          </a:p>
        </p:txBody>
      </p:sp>
      <p:sp>
        <p:nvSpPr>
          <p:cNvPr id="25" name="Text 23"/>
          <p:cNvSpPr/>
          <p:nvPr/>
        </p:nvSpPr>
        <p:spPr>
          <a:xfrm>
            <a:off x="475488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PSI Metals</a:t>
            </a:r>
            <a:endParaRPr lang="en-US" sz="620" dirty="0"/>
          </a:p>
        </p:txBody>
      </p:sp>
      <p:sp>
        <p:nvSpPr>
          <p:cNvPr id="26" name="Shape 24"/>
          <p:cNvSpPr/>
          <p:nvPr/>
        </p:nvSpPr>
        <p:spPr>
          <a:xfrm>
            <a:off x="6364224" y="2660904"/>
            <a:ext cx="164592" cy="164592"/>
          </a:xfrm>
          <a:prstGeom prst="ellipse">
            <a:avLst/>
          </a:prstGeom>
          <a:solidFill>
            <a:srgbClr val="00D4FF"/>
          </a:solidFill>
          <a:ln w="10160">
            <a:solidFill>
              <a:srgbClr val="00D4FF"/>
            </a:solidFill>
            <a:prstDash val="solid"/>
          </a:ln>
        </p:spPr>
      </p:sp>
      <p:sp>
        <p:nvSpPr>
          <p:cNvPr id="27" name="Text 25"/>
          <p:cNvSpPr/>
          <p:nvPr/>
        </p:nvSpPr>
        <p:spPr>
          <a:xfrm>
            <a:off x="6245352" y="2331720"/>
            <a:ext cx="411480" cy="137160"/>
          </a:xfrm>
          <a:prstGeom prst="rect">
            <a:avLst/>
          </a:prstGeom>
          <a:noFill/>
          <a:ln/>
        </p:spPr>
        <p:txBody>
          <a:bodyPr wrap="square" lIns="0" tIns="0" rIns="0" bIns="0" rtlCol="0" anchor="ctr"/>
          <a:lstStyle/>
          <a:p>
            <a:pPr algn="ctr" indent="0" marL="0">
              <a:buNone/>
            </a:pPr>
            <a:r>
              <a:rPr lang="en-US" sz="650" b="1" dirty="0">
                <a:solidFill>
                  <a:srgbClr val="00D4FF"/>
                </a:solidFill>
              </a:rPr>
              <a:t>2019</a:t>
            </a:r>
            <a:endParaRPr lang="en-US" sz="650" dirty="0"/>
          </a:p>
        </p:txBody>
      </p:sp>
      <p:sp>
        <p:nvSpPr>
          <p:cNvPr id="28" name="Text 26"/>
          <p:cNvSpPr/>
          <p:nvPr/>
        </p:nvSpPr>
        <p:spPr>
          <a:xfrm>
            <a:off x="603504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SMS Digital MES</a:t>
            </a:r>
            <a:endParaRPr lang="en-US" sz="620" dirty="0"/>
          </a:p>
        </p:txBody>
      </p:sp>
      <p:sp>
        <p:nvSpPr>
          <p:cNvPr id="29" name="Shape 27"/>
          <p:cNvSpPr/>
          <p:nvPr/>
        </p:nvSpPr>
        <p:spPr>
          <a:xfrm>
            <a:off x="7644384" y="2660904"/>
            <a:ext cx="164592" cy="164592"/>
          </a:xfrm>
          <a:prstGeom prst="ellipse">
            <a:avLst/>
          </a:prstGeom>
          <a:solidFill>
            <a:srgbClr val="00D4FF"/>
          </a:solidFill>
          <a:ln w="10160">
            <a:solidFill>
              <a:srgbClr val="00D4FF"/>
            </a:solidFill>
            <a:prstDash val="solid"/>
          </a:ln>
        </p:spPr>
      </p:sp>
      <p:sp>
        <p:nvSpPr>
          <p:cNvPr id="30" name="Text 28"/>
          <p:cNvSpPr/>
          <p:nvPr/>
        </p:nvSpPr>
        <p:spPr>
          <a:xfrm>
            <a:off x="7525512" y="2331720"/>
            <a:ext cx="411480" cy="137160"/>
          </a:xfrm>
          <a:prstGeom prst="rect">
            <a:avLst/>
          </a:prstGeom>
          <a:noFill/>
          <a:ln/>
        </p:spPr>
        <p:txBody>
          <a:bodyPr wrap="square" lIns="0" tIns="0" rIns="0" bIns="0" rtlCol="0" anchor="ctr"/>
          <a:lstStyle/>
          <a:p>
            <a:pPr algn="ctr" indent="0" marL="0">
              <a:buNone/>
            </a:pPr>
            <a:r>
              <a:rPr lang="en-US" sz="650" b="1" dirty="0">
                <a:solidFill>
                  <a:srgbClr val="00D4FF"/>
                </a:solidFill>
              </a:rPr>
              <a:t>2024</a:t>
            </a:r>
            <a:endParaRPr lang="en-US" sz="650" dirty="0"/>
          </a:p>
        </p:txBody>
      </p:sp>
      <p:sp>
        <p:nvSpPr>
          <p:cNvPr id="31" name="Text 29"/>
          <p:cNvSpPr/>
          <p:nvPr/>
        </p:nvSpPr>
        <p:spPr>
          <a:xfrm>
            <a:off x="731520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SMS L2</a:t>
            </a:r>
            <a:endParaRPr lang="en-US" sz="620" dirty="0"/>
          </a:p>
          <a:p>
            <a:pPr algn="ctr" indent="0" marL="0">
              <a:buNone/>
            </a:pPr>
            <a:r>
              <a:rPr lang="en-US" sz="620" dirty="0">
                <a:solidFill>
                  <a:srgbClr val="B6C7D9"/>
                </a:solidFill>
              </a:rPr>
              <a:t>commissioning</a:t>
            </a:r>
            <a:endParaRPr lang="en-US" sz="620" dirty="0"/>
          </a:p>
        </p:txBody>
      </p:sp>
      <p:sp>
        <p:nvSpPr>
          <p:cNvPr id="32" name="Shape 30"/>
          <p:cNvSpPr/>
          <p:nvPr/>
        </p:nvSpPr>
        <p:spPr>
          <a:xfrm>
            <a:off x="8924544" y="2660904"/>
            <a:ext cx="164592" cy="164592"/>
          </a:xfrm>
          <a:prstGeom prst="ellipse">
            <a:avLst/>
          </a:prstGeom>
          <a:solidFill>
            <a:srgbClr val="00D4FF"/>
          </a:solidFill>
          <a:ln w="10160">
            <a:solidFill>
              <a:srgbClr val="00D4FF"/>
            </a:solidFill>
            <a:prstDash val="solid"/>
          </a:ln>
        </p:spPr>
      </p:sp>
      <p:sp>
        <p:nvSpPr>
          <p:cNvPr id="33" name="Text 31"/>
          <p:cNvSpPr/>
          <p:nvPr/>
        </p:nvSpPr>
        <p:spPr>
          <a:xfrm>
            <a:off x="8805672" y="2331720"/>
            <a:ext cx="411480" cy="137160"/>
          </a:xfrm>
          <a:prstGeom prst="rect">
            <a:avLst/>
          </a:prstGeom>
          <a:noFill/>
          <a:ln/>
        </p:spPr>
        <p:txBody>
          <a:bodyPr wrap="square" lIns="0" tIns="0" rIns="0" bIns="0" rtlCol="0" anchor="ctr"/>
          <a:lstStyle/>
          <a:p>
            <a:pPr algn="ctr" indent="0" marL="0">
              <a:buNone/>
            </a:pPr>
            <a:r>
              <a:rPr lang="en-US" sz="650" b="1" dirty="0">
                <a:solidFill>
                  <a:srgbClr val="00D4FF"/>
                </a:solidFill>
              </a:rPr>
              <a:t>2025</a:t>
            </a:r>
            <a:endParaRPr lang="en-US" sz="650" dirty="0"/>
          </a:p>
        </p:txBody>
      </p:sp>
      <p:sp>
        <p:nvSpPr>
          <p:cNvPr id="34" name="Text 32"/>
          <p:cNvSpPr/>
          <p:nvPr/>
        </p:nvSpPr>
        <p:spPr>
          <a:xfrm>
            <a:off x="859536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Global steel</a:t>
            </a:r>
            <a:endParaRPr lang="en-US" sz="620" dirty="0"/>
          </a:p>
          <a:p>
            <a:pPr algn="ctr" indent="0" marL="0">
              <a:buNone/>
            </a:pPr>
            <a:r>
              <a:rPr lang="en-US" sz="620" dirty="0">
                <a:solidFill>
                  <a:srgbClr val="B6C7D9"/>
                </a:solidFill>
              </a:rPr>
              <a:t>projects</a:t>
            </a:r>
            <a:endParaRPr lang="en-US" sz="620" dirty="0"/>
          </a:p>
        </p:txBody>
      </p:sp>
      <p:sp>
        <p:nvSpPr>
          <p:cNvPr id="35" name="Shape 33"/>
          <p:cNvSpPr/>
          <p:nvPr/>
        </p:nvSpPr>
        <p:spPr>
          <a:xfrm>
            <a:off x="10204704" y="2660904"/>
            <a:ext cx="164592" cy="164592"/>
          </a:xfrm>
          <a:prstGeom prst="ellipse">
            <a:avLst/>
          </a:prstGeom>
          <a:solidFill>
            <a:srgbClr val="2CE6A2"/>
          </a:solidFill>
          <a:ln w="10160">
            <a:solidFill>
              <a:srgbClr val="2CE6A2"/>
            </a:solidFill>
            <a:prstDash val="solid"/>
          </a:ln>
        </p:spPr>
      </p:sp>
      <p:sp>
        <p:nvSpPr>
          <p:cNvPr id="36" name="Text 34"/>
          <p:cNvSpPr/>
          <p:nvPr/>
        </p:nvSpPr>
        <p:spPr>
          <a:xfrm>
            <a:off x="10085832" y="2331720"/>
            <a:ext cx="411480" cy="137160"/>
          </a:xfrm>
          <a:prstGeom prst="rect">
            <a:avLst/>
          </a:prstGeom>
          <a:noFill/>
          <a:ln/>
        </p:spPr>
        <p:txBody>
          <a:bodyPr wrap="square" lIns="0" tIns="0" rIns="0" bIns="0" rtlCol="0" anchor="ctr"/>
          <a:lstStyle/>
          <a:p>
            <a:pPr algn="ctr" indent="0" marL="0">
              <a:buNone/>
            </a:pPr>
            <a:r>
              <a:rPr lang="en-US" sz="650" b="1" dirty="0">
                <a:solidFill>
                  <a:srgbClr val="2CE6A2"/>
                </a:solidFill>
              </a:rPr>
              <a:t>2026</a:t>
            </a:r>
            <a:endParaRPr lang="en-US" sz="650" dirty="0"/>
          </a:p>
        </p:txBody>
      </p:sp>
      <p:sp>
        <p:nvSpPr>
          <p:cNvPr id="37" name="Text 35"/>
          <p:cNvSpPr/>
          <p:nvPr/>
        </p:nvSpPr>
        <p:spPr>
          <a:xfrm>
            <a:off x="9875520" y="2971800"/>
            <a:ext cx="822960" cy="365760"/>
          </a:xfrm>
          <a:prstGeom prst="rect">
            <a:avLst/>
          </a:prstGeom>
          <a:noFill/>
          <a:ln/>
        </p:spPr>
        <p:txBody>
          <a:bodyPr wrap="square" lIns="0" tIns="0" rIns="0" bIns="0" rtlCol="0" anchor="ctr">
            <a:normAutofit/>
          </a:bodyPr>
          <a:lstStyle/>
          <a:p>
            <a:pPr algn="ctr" indent="0" marL="0">
              <a:buNone/>
            </a:pPr>
            <a:r>
              <a:rPr lang="en-US" sz="620" dirty="0">
                <a:solidFill>
                  <a:srgbClr val="B6C7D9"/>
                </a:solidFill>
              </a:rPr>
              <a:t>PlantProcess IQ</a:t>
            </a:r>
            <a:endParaRPr lang="en-US" sz="620" dirty="0"/>
          </a:p>
        </p:txBody>
      </p:sp>
      <p:sp>
        <p:nvSpPr>
          <p:cNvPr id="38" name="Text 36"/>
          <p:cNvSpPr/>
          <p:nvPr/>
        </p:nvSpPr>
        <p:spPr>
          <a:xfrm>
            <a:off x="3840480" y="3977640"/>
            <a:ext cx="2926080" cy="201168"/>
          </a:xfrm>
          <a:prstGeom prst="rect">
            <a:avLst/>
          </a:prstGeom>
          <a:noFill/>
          <a:ln/>
        </p:spPr>
        <p:txBody>
          <a:bodyPr wrap="square" lIns="0" tIns="0" rIns="0" bIns="0" rtlCol="0" anchor="ctr"/>
          <a:lstStyle/>
          <a:p>
            <a:pPr indent="0" marL="0">
              <a:buNone/>
            </a:pPr>
            <a:r>
              <a:rPr lang="en-US" sz="1000" b="1" dirty="0">
                <a:solidFill>
                  <a:srgbClr val="EAF6FF"/>
                </a:solidFill>
              </a:rPr>
              <a:t>Global implementations and domain exposure</a:t>
            </a:r>
            <a:endParaRPr lang="en-US" sz="1000" dirty="0"/>
          </a:p>
        </p:txBody>
      </p:sp>
      <p:sp>
        <p:nvSpPr>
          <p:cNvPr id="39" name="Shape 37"/>
          <p:cNvSpPr/>
          <p:nvPr/>
        </p:nvSpPr>
        <p:spPr>
          <a:xfrm>
            <a:off x="3840480" y="4407408"/>
            <a:ext cx="1225296" cy="310896"/>
          </a:xfrm>
          <a:prstGeom prst="roundRect">
            <a:avLst>
              <a:gd name="adj" fmla="val 11765"/>
            </a:avLst>
          </a:prstGeom>
          <a:solidFill>
            <a:srgbClr val="00D4FF">
              <a:alpha val="12000"/>
            </a:srgbClr>
          </a:solidFill>
          <a:ln w="7620">
            <a:solidFill>
              <a:srgbClr val="00D4FF">
                <a:alpha val="90000"/>
              </a:srgbClr>
            </a:solidFill>
            <a:prstDash val="solid"/>
          </a:ln>
        </p:spPr>
      </p:sp>
      <p:sp>
        <p:nvSpPr>
          <p:cNvPr id="40" name="Text 38"/>
          <p:cNvSpPr/>
          <p:nvPr/>
        </p:nvSpPr>
        <p:spPr>
          <a:xfrm>
            <a:off x="3895344" y="4489704"/>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ArcelorMittal</a:t>
            </a:r>
            <a:endParaRPr lang="en-US" sz="650" dirty="0"/>
          </a:p>
        </p:txBody>
      </p:sp>
      <p:sp>
        <p:nvSpPr>
          <p:cNvPr id="41" name="Shape 39"/>
          <p:cNvSpPr/>
          <p:nvPr/>
        </p:nvSpPr>
        <p:spPr>
          <a:xfrm>
            <a:off x="5257800" y="4407408"/>
            <a:ext cx="1225296" cy="310896"/>
          </a:xfrm>
          <a:prstGeom prst="roundRect">
            <a:avLst>
              <a:gd name="adj" fmla="val 11765"/>
            </a:avLst>
          </a:prstGeom>
          <a:solidFill>
            <a:srgbClr val="00D4FF">
              <a:alpha val="12000"/>
            </a:srgbClr>
          </a:solidFill>
          <a:ln w="7620">
            <a:solidFill>
              <a:srgbClr val="00D4FF">
                <a:alpha val="90000"/>
              </a:srgbClr>
            </a:solidFill>
            <a:prstDash val="solid"/>
          </a:ln>
        </p:spPr>
      </p:sp>
      <p:sp>
        <p:nvSpPr>
          <p:cNvPr id="42" name="Text 40"/>
          <p:cNvSpPr/>
          <p:nvPr/>
        </p:nvSpPr>
        <p:spPr>
          <a:xfrm>
            <a:off x="5312664" y="4489704"/>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Tata Steel</a:t>
            </a:r>
            <a:endParaRPr lang="en-US" sz="650" dirty="0"/>
          </a:p>
        </p:txBody>
      </p:sp>
      <p:sp>
        <p:nvSpPr>
          <p:cNvPr id="43" name="Shape 41"/>
          <p:cNvSpPr/>
          <p:nvPr/>
        </p:nvSpPr>
        <p:spPr>
          <a:xfrm>
            <a:off x="6675120" y="4407408"/>
            <a:ext cx="1225296" cy="310896"/>
          </a:xfrm>
          <a:prstGeom prst="roundRect">
            <a:avLst>
              <a:gd name="adj" fmla="val 11765"/>
            </a:avLst>
          </a:prstGeom>
          <a:solidFill>
            <a:srgbClr val="00D4FF">
              <a:alpha val="12000"/>
            </a:srgbClr>
          </a:solidFill>
          <a:ln w="7620">
            <a:solidFill>
              <a:srgbClr val="00D4FF">
                <a:alpha val="90000"/>
              </a:srgbClr>
            </a:solidFill>
            <a:prstDash val="solid"/>
          </a:ln>
        </p:spPr>
      </p:sp>
      <p:sp>
        <p:nvSpPr>
          <p:cNvPr id="44" name="Text 42"/>
          <p:cNvSpPr/>
          <p:nvPr/>
        </p:nvSpPr>
        <p:spPr>
          <a:xfrm>
            <a:off x="6729984" y="4489704"/>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Yamato Steel</a:t>
            </a:r>
            <a:endParaRPr lang="en-US" sz="650" dirty="0"/>
          </a:p>
        </p:txBody>
      </p:sp>
      <p:sp>
        <p:nvSpPr>
          <p:cNvPr id="45" name="Shape 43"/>
          <p:cNvSpPr/>
          <p:nvPr/>
        </p:nvSpPr>
        <p:spPr>
          <a:xfrm>
            <a:off x="8092440" y="4407408"/>
            <a:ext cx="1225296" cy="310896"/>
          </a:xfrm>
          <a:prstGeom prst="roundRect">
            <a:avLst>
              <a:gd name="adj" fmla="val 11765"/>
            </a:avLst>
          </a:prstGeom>
          <a:solidFill>
            <a:srgbClr val="00D4FF">
              <a:alpha val="12000"/>
            </a:srgbClr>
          </a:solidFill>
          <a:ln w="7620">
            <a:solidFill>
              <a:srgbClr val="00D4FF">
                <a:alpha val="90000"/>
              </a:srgbClr>
            </a:solidFill>
            <a:prstDash val="solid"/>
          </a:ln>
        </p:spPr>
      </p:sp>
      <p:sp>
        <p:nvSpPr>
          <p:cNvPr id="46" name="Text 44"/>
          <p:cNvSpPr/>
          <p:nvPr/>
        </p:nvSpPr>
        <p:spPr>
          <a:xfrm>
            <a:off x="8147304" y="4489704"/>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Nucor</a:t>
            </a:r>
            <a:endParaRPr lang="en-US" sz="650" dirty="0"/>
          </a:p>
        </p:txBody>
      </p:sp>
      <p:sp>
        <p:nvSpPr>
          <p:cNvPr id="47" name="Shape 45"/>
          <p:cNvSpPr/>
          <p:nvPr/>
        </p:nvSpPr>
        <p:spPr>
          <a:xfrm>
            <a:off x="3840480" y="4846320"/>
            <a:ext cx="1225296" cy="310896"/>
          </a:xfrm>
          <a:prstGeom prst="roundRect">
            <a:avLst>
              <a:gd name="adj" fmla="val 11765"/>
            </a:avLst>
          </a:prstGeom>
          <a:solidFill>
            <a:srgbClr val="2CE6A2">
              <a:alpha val="12000"/>
            </a:srgbClr>
          </a:solidFill>
          <a:ln w="7620">
            <a:solidFill>
              <a:srgbClr val="2CE6A2">
                <a:alpha val="90000"/>
              </a:srgbClr>
            </a:solidFill>
            <a:prstDash val="solid"/>
          </a:ln>
        </p:spPr>
      </p:sp>
      <p:sp>
        <p:nvSpPr>
          <p:cNvPr id="48" name="Text 46"/>
          <p:cNvSpPr/>
          <p:nvPr/>
        </p:nvSpPr>
        <p:spPr>
          <a:xfrm>
            <a:off x="3895344" y="4928616"/>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SSAB</a:t>
            </a:r>
            <a:endParaRPr lang="en-US" sz="650" dirty="0"/>
          </a:p>
        </p:txBody>
      </p:sp>
      <p:sp>
        <p:nvSpPr>
          <p:cNvPr id="49" name="Shape 47"/>
          <p:cNvSpPr/>
          <p:nvPr/>
        </p:nvSpPr>
        <p:spPr>
          <a:xfrm>
            <a:off x="5257800" y="4846320"/>
            <a:ext cx="1225296" cy="310896"/>
          </a:xfrm>
          <a:prstGeom prst="roundRect">
            <a:avLst>
              <a:gd name="adj" fmla="val 11765"/>
            </a:avLst>
          </a:prstGeom>
          <a:solidFill>
            <a:srgbClr val="2CE6A2">
              <a:alpha val="12000"/>
            </a:srgbClr>
          </a:solidFill>
          <a:ln w="7620">
            <a:solidFill>
              <a:srgbClr val="2CE6A2">
                <a:alpha val="90000"/>
              </a:srgbClr>
            </a:solidFill>
            <a:prstDash val="solid"/>
          </a:ln>
        </p:spPr>
      </p:sp>
      <p:sp>
        <p:nvSpPr>
          <p:cNvPr id="50" name="Text 48"/>
          <p:cNvSpPr/>
          <p:nvPr/>
        </p:nvSpPr>
        <p:spPr>
          <a:xfrm>
            <a:off x="5312664" y="4928616"/>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Big River Steel</a:t>
            </a:r>
            <a:endParaRPr lang="en-US" sz="650" dirty="0"/>
          </a:p>
        </p:txBody>
      </p:sp>
      <p:sp>
        <p:nvSpPr>
          <p:cNvPr id="51" name="Shape 49"/>
          <p:cNvSpPr/>
          <p:nvPr/>
        </p:nvSpPr>
        <p:spPr>
          <a:xfrm>
            <a:off x="6675120" y="4846320"/>
            <a:ext cx="1225296" cy="310896"/>
          </a:xfrm>
          <a:prstGeom prst="roundRect">
            <a:avLst>
              <a:gd name="adj" fmla="val 11765"/>
            </a:avLst>
          </a:prstGeom>
          <a:solidFill>
            <a:srgbClr val="2CE6A2">
              <a:alpha val="12000"/>
            </a:srgbClr>
          </a:solidFill>
          <a:ln w="7620">
            <a:solidFill>
              <a:srgbClr val="2CE6A2">
                <a:alpha val="90000"/>
              </a:srgbClr>
            </a:solidFill>
            <a:prstDash val="solid"/>
          </a:ln>
        </p:spPr>
      </p:sp>
      <p:sp>
        <p:nvSpPr>
          <p:cNvPr id="52" name="Text 50"/>
          <p:cNvSpPr/>
          <p:nvPr/>
        </p:nvSpPr>
        <p:spPr>
          <a:xfrm>
            <a:off x="6729984" y="4928616"/>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North Star</a:t>
            </a:r>
            <a:endParaRPr lang="en-US" sz="650" dirty="0"/>
          </a:p>
        </p:txBody>
      </p:sp>
      <p:sp>
        <p:nvSpPr>
          <p:cNvPr id="53" name="Shape 51"/>
          <p:cNvSpPr/>
          <p:nvPr/>
        </p:nvSpPr>
        <p:spPr>
          <a:xfrm>
            <a:off x="8092440" y="4846320"/>
            <a:ext cx="1225296" cy="310896"/>
          </a:xfrm>
          <a:prstGeom prst="roundRect">
            <a:avLst>
              <a:gd name="adj" fmla="val 11765"/>
            </a:avLst>
          </a:prstGeom>
          <a:solidFill>
            <a:srgbClr val="2CE6A2">
              <a:alpha val="12000"/>
            </a:srgbClr>
          </a:solidFill>
          <a:ln w="7620">
            <a:solidFill>
              <a:srgbClr val="2CE6A2">
                <a:alpha val="90000"/>
              </a:srgbClr>
            </a:solidFill>
            <a:prstDash val="solid"/>
          </a:ln>
        </p:spPr>
      </p:sp>
      <p:sp>
        <p:nvSpPr>
          <p:cNvPr id="54" name="Text 52"/>
          <p:cNvSpPr/>
          <p:nvPr/>
        </p:nvSpPr>
        <p:spPr>
          <a:xfrm>
            <a:off x="8147304" y="4928616"/>
            <a:ext cx="1115568"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JSW Steel</a:t>
            </a:r>
            <a:endParaRPr lang="en-US" sz="650" dirty="0"/>
          </a:p>
        </p:txBody>
      </p:sp>
      <p:sp>
        <p:nvSpPr>
          <p:cNvPr id="55" name="Shape 53"/>
          <p:cNvSpPr/>
          <p:nvPr/>
        </p:nvSpPr>
        <p:spPr>
          <a:xfrm>
            <a:off x="7589520" y="4700016"/>
            <a:ext cx="3794760" cy="932688"/>
          </a:xfrm>
          <a:prstGeom prst="roundRect">
            <a:avLst>
              <a:gd name="adj" fmla="val 5882"/>
            </a:avLst>
          </a:prstGeom>
          <a:solidFill>
            <a:srgbClr val="0B1730">
              <a:alpha val="97000"/>
            </a:srgbClr>
          </a:solidFill>
          <a:ln w="12700">
            <a:solidFill>
              <a:srgbClr val="2CE6A2">
                <a:alpha val="90000"/>
              </a:srgbClr>
            </a:solidFill>
            <a:prstDash val="solid"/>
          </a:ln>
        </p:spPr>
      </p:sp>
      <p:sp>
        <p:nvSpPr>
          <p:cNvPr id="56" name="Shape 54"/>
          <p:cNvSpPr/>
          <p:nvPr/>
        </p:nvSpPr>
        <p:spPr>
          <a:xfrm>
            <a:off x="7589520" y="4700016"/>
            <a:ext cx="54864" cy="932688"/>
          </a:xfrm>
          <a:prstGeom prst="rect">
            <a:avLst/>
          </a:prstGeom>
          <a:solidFill>
            <a:srgbClr val="2CE6A2"/>
          </a:solidFill>
          <a:ln w="12700">
            <a:solidFill>
              <a:srgbClr val="2CE6A2">
                <a:alpha val="0"/>
              </a:srgbClr>
            </a:solidFill>
            <a:prstDash val="solid"/>
          </a:ln>
        </p:spPr>
      </p:sp>
      <p:sp>
        <p:nvSpPr>
          <p:cNvPr id="57" name="Text 55"/>
          <p:cNvSpPr/>
          <p:nvPr/>
        </p:nvSpPr>
        <p:spPr>
          <a:xfrm>
            <a:off x="7754112" y="4864608"/>
            <a:ext cx="3502152" cy="621792"/>
          </a:xfrm>
          <a:prstGeom prst="rect">
            <a:avLst/>
          </a:prstGeom>
          <a:noFill/>
          <a:ln/>
        </p:spPr>
        <p:txBody>
          <a:bodyPr wrap="square" lIns="0" tIns="0" rIns="0" bIns="0" rtlCol="0" anchor="ctr">
            <a:normAutofit/>
          </a:bodyPr>
          <a:lstStyle/>
          <a:p>
            <a:pPr indent="0" marL="0">
              <a:buNone/>
            </a:pPr>
            <a:r>
              <a:rPr lang="en-US" sz="1200" b="1" dirty="0">
                <a:solidFill>
                  <a:srgbClr val="EAF6FF"/>
                </a:solidFill>
              </a:rPr>
              <a:t>“I know how the plant data is generated, why it fragments, and why engineers struggle to connect it. PPIQ is the tool I always wished I had.”</a:t>
            </a:r>
            <a:endParaRPr lang="en-US" sz="1200" dirty="0"/>
          </a:p>
        </p:txBody>
      </p:sp>
      <p:sp>
        <p:nvSpPr>
          <p:cNvPr id="58" name="Text 56"/>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59" name="Text 57"/>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60" name="Text 58"/>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B18"/>
        </a:solidFill>
      </p:bgPr>
    </p:bg>
    <p:spTree>
      <p:nvGrpSpPr>
        <p:cNvPr id="1" name=""/>
        <p:cNvGrpSpPr/>
        <p:nvPr/>
      </p:nvGrpSpPr>
      <p:grpSpPr>
        <a:xfrm>
          <a:off x="0" y="0"/>
          <a:ext cx="0" cy="0"/>
          <a:chOff x="0" y="0"/>
          <a:chExt cx="0" cy="0"/>
        </a:xfrm>
      </p:grpSpPr>
      <p:pic>
        <p:nvPicPr>
          <p:cNvPr id="2" name="Image 0" descr="/mnt/data/a_wide_cinematic_industrial_infographic_concept_batch_3.png">    </p:cNvPr>
          <p:cNvPicPr>
            <a:picLocks noChangeAspect="1"/>
          </p:cNvPicPr>
          <p:nvPr/>
        </p:nvPicPr>
        <p:blipFill>
          <a:blip r:embed="rId1"/>
          <a:srcRect l="0" r="9954" t="5000" b="500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52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Text 2"/>
          <p:cNvSpPr/>
          <p:nvPr/>
        </p:nvSpPr>
        <p:spPr>
          <a:xfrm>
            <a:off x="502920" y="411480"/>
            <a:ext cx="6035040" cy="228600"/>
          </a:xfrm>
          <a:prstGeom prst="rect">
            <a:avLst/>
          </a:prstGeom>
          <a:noFill/>
          <a:ln/>
        </p:spPr>
        <p:txBody>
          <a:bodyPr wrap="square" lIns="0" tIns="0" rIns="0" bIns="0" rtlCol="0" anchor="ctr"/>
          <a:lstStyle/>
          <a:p>
            <a:pPr indent="0" marL="0">
              <a:buNone/>
            </a:pPr>
            <a:r>
              <a:rPr lang="en-US" sz="850" b="1" dirty="0">
                <a:solidFill>
                  <a:srgbClr val="00D4FF"/>
                </a:solidFill>
              </a:rPr>
              <a:t>SCALE OF PROOF</a:t>
            </a:r>
            <a:endParaRPr lang="en-US" sz="850" dirty="0"/>
          </a:p>
        </p:txBody>
      </p:sp>
      <p:sp>
        <p:nvSpPr>
          <p:cNvPr id="6" name="Text 3"/>
          <p:cNvSpPr/>
          <p:nvPr/>
        </p:nvSpPr>
        <p:spPr>
          <a:xfrm>
            <a:off x="502920" y="704088"/>
            <a:ext cx="603504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Tested on reality. Built for scale.</a:t>
            </a:r>
            <a:endParaRPr lang="en-US" sz="3000" dirty="0"/>
          </a:p>
        </p:txBody>
      </p:sp>
      <p:sp>
        <p:nvSpPr>
          <p:cNvPr id="7" name="Text 4"/>
          <p:cNvSpPr/>
          <p:nvPr/>
        </p:nvSpPr>
        <p:spPr>
          <a:xfrm>
            <a:off x="502920" y="1490472"/>
            <a:ext cx="603504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Validation data is not a pretty sample. It is a production-like fleet built to stress the full journey.</a:t>
            </a:r>
            <a:endParaRPr lang="en-US" sz="1250" dirty="0"/>
          </a:p>
        </p:txBody>
      </p:sp>
      <p:sp>
        <p:nvSpPr>
          <p:cNvPr id="8" name="Shape 5"/>
          <p:cNvSpPr/>
          <p:nvPr/>
        </p:nvSpPr>
        <p:spPr>
          <a:xfrm>
            <a:off x="9006840" y="411480"/>
            <a:ext cx="1965960" cy="329184"/>
          </a:xfrm>
          <a:prstGeom prst="roundRect">
            <a:avLst>
              <a:gd name="adj" fmla="val 11111"/>
            </a:avLst>
          </a:prstGeom>
          <a:solidFill>
            <a:srgbClr val="00D4FF">
              <a:alpha val="8000"/>
            </a:srgbClr>
          </a:solidFill>
          <a:ln w="8890">
            <a:solidFill>
              <a:srgbClr val="00D4FF"/>
            </a:solidFill>
            <a:prstDash val="solid"/>
          </a:ln>
        </p:spPr>
      </p:sp>
      <p:sp>
        <p:nvSpPr>
          <p:cNvPr id="9" name="Text 6"/>
          <p:cNvSpPr/>
          <p:nvPr/>
        </p:nvSpPr>
        <p:spPr>
          <a:xfrm>
            <a:off x="9006840" y="493776"/>
            <a:ext cx="1965960" cy="109728"/>
          </a:xfrm>
          <a:prstGeom prst="rect">
            <a:avLst/>
          </a:prstGeom>
          <a:noFill/>
          <a:ln/>
        </p:spPr>
        <p:txBody>
          <a:bodyPr wrap="square" lIns="0" tIns="0" rIns="0" bIns="0" rtlCol="0" anchor="ctr"/>
          <a:lstStyle/>
          <a:p>
            <a:pPr algn="ctr" indent="0" marL="0">
              <a:buNone/>
            </a:pPr>
            <a:r>
              <a:rPr lang="en-US" sz="580" b="1" dirty="0">
                <a:solidFill>
                  <a:srgbClr val="00D4FF"/>
                </a:solidFill>
              </a:rPr>
              <a:t>PROOF SCALE MATTERS</a:t>
            </a:r>
            <a:endParaRPr lang="en-US" sz="580" dirty="0"/>
          </a:p>
        </p:txBody>
      </p:sp>
      <p:sp>
        <p:nvSpPr>
          <p:cNvPr id="10" name="Shape 7"/>
          <p:cNvSpPr/>
          <p:nvPr/>
        </p:nvSpPr>
        <p:spPr>
          <a:xfrm>
            <a:off x="749808" y="1938528"/>
            <a:ext cx="2148840" cy="987552"/>
          </a:xfrm>
          <a:prstGeom prst="roundRect">
            <a:avLst>
              <a:gd name="adj" fmla="val 7407"/>
            </a:avLst>
          </a:prstGeom>
          <a:solidFill>
            <a:srgbClr val="0B1730">
              <a:alpha val="92000"/>
            </a:srgbClr>
          </a:solidFill>
          <a:ln w="15240">
            <a:solidFill>
              <a:srgbClr val="00D4FF">
                <a:alpha val="90000"/>
              </a:srgbClr>
            </a:solidFill>
            <a:prstDash val="solid"/>
          </a:ln>
          <a:effectLst>
            <a:outerShdw sx="100000" sy="100000" kx="0" ky="0" algn="bl" rotWithShape="0" blurRad="12700" dist="50800" dir="2700000">
              <a:srgbClr val="00D4FF">
                <a:alpha val="16000"/>
              </a:srgbClr>
            </a:outerShdw>
          </a:effectLst>
        </p:spPr>
      </p:sp>
      <p:sp>
        <p:nvSpPr>
          <p:cNvPr id="11" name="Text 8"/>
          <p:cNvSpPr/>
          <p:nvPr/>
        </p:nvSpPr>
        <p:spPr>
          <a:xfrm>
            <a:off x="822960" y="2121408"/>
            <a:ext cx="2002536" cy="320040"/>
          </a:xfrm>
          <a:prstGeom prst="rect">
            <a:avLst/>
          </a:prstGeom>
          <a:noFill/>
          <a:ln/>
        </p:spPr>
        <p:txBody>
          <a:bodyPr wrap="square" lIns="0" tIns="0" rIns="0" bIns="0" rtlCol="0" anchor="ctr"/>
          <a:lstStyle/>
          <a:p>
            <a:pPr algn="ctr" indent="0" marL="0">
              <a:buNone/>
            </a:pPr>
            <a:r>
              <a:rPr lang="en-US" sz="1800" b="1" dirty="0">
                <a:solidFill>
                  <a:srgbClr val="00D4FF"/>
                </a:solidFill>
              </a:rPr>
              <a:t>1,802</a:t>
            </a:r>
            <a:endParaRPr lang="en-US" sz="1800" dirty="0"/>
          </a:p>
        </p:txBody>
      </p:sp>
      <p:sp>
        <p:nvSpPr>
          <p:cNvPr id="12" name="Text 9"/>
          <p:cNvSpPr/>
          <p:nvPr/>
        </p:nvSpPr>
        <p:spPr>
          <a:xfrm>
            <a:off x="841248" y="2523744"/>
            <a:ext cx="1965960"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continuous casting heats analyzed</a:t>
            </a:r>
            <a:endParaRPr lang="en-US" sz="750" dirty="0"/>
          </a:p>
        </p:txBody>
      </p:sp>
      <p:sp>
        <p:nvSpPr>
          <p:cNvPr id="13" name="Shape 10"/>
          <p:cNvSpPr/>
          <p:nvPr/>
        </p:nvSpPr>
        <p:spPr>
          <a:xfrm>
            <a:off x="2971800" y="1938528"/>
            <a:ext cx="2606040" cy="987552"/>
          </a:xfrm>
          <a:prstGeom prst="roundRect">
            <a:avLst>
              <a:gd name="adj" fmla="val 7407"/>
            </a:avLst>
          </a:prstGeom>
          <a:solidFill>
            <a:srgbClr val="0B1730">
              <a:alpha val="92000"/>
            </a:srgbClr>
          </a:solidFill>
          <a:ln w="15240">
            <a:solidFill>
              <a:srgbClr val="2CE6A2">
                <a:alpha val="90000"/>
              </a:srgbClr>
            </a:solidFill>
            <a:prstDash val="solid"/>
          </a:ln>
          <a:effectLst>
            <a:outerShdw sx="100000" sy="100000" kx="0" ky="0" algn="bl" rotWithShape="0" blurRad="12700" dist="50800" dir="2700000">
              <a:srgbClr val="2CE6A2">
                <a:alpha val="16000"/>
              </a:srgbClr>
            </a:outerShdw>
          </a:effectLst>
        </p:spPr>
      </p:sp>
      <p:sp>
        <p:nvSpPr>
          <p:cNvPr id="14" name="Text 11"/>
          <p:cNvSpPr/>
          <p:nvPr/>
        </p:nvSpPr>
        <p:spPr>
          <a:xfrm>
            <a:off x="3044952" y="2121408"/>
            <a:ext cx="2459736" cy="320040"/>
          </a:xfrm>
          <a:prstGeom prst="rect">
            <a:avLst/>
          </a:prstGeom>
          <a:noFill/>
          <a:ln/>
        </p:spPr>
        <p:txBody>
          <a:bodyPr wrap="square" lIns="0" tIns="0" rIns="0" bIns="0" rtlCol="0" anchor="ctr"/>
          <a:lstStyle/>
          <a:p>
            <a:pPr algn="ctr" indent="0" marL="0">
              <a:buNone/>
            </a:pPr>
            <a:r>
              <a:rPr lang="en-US" sz="1800" b="1" dirty="0">
                <a:solidFill>
                  <a:srgbClr val="2CE6A2"/>
                </a:solidFill>
              </a:rPr>
              <a:t>18,000+</a:t>
            </a:r>
            <a:endParaRPr lang="en-US" sz="1800" dirty="0"/>
          </a:p>
        </p:txBody>
      </p:sp>
      <p:sp>
        <p:nvSpPr>
          <p:cNvPr id="15" name="Text 12"/>
          <p:cNvSpPr/>
          <p:nvPr/>
        </p:nvSpPr>
        <p:spPr>
          <a:xfrm>
            <a:off x="3063240" y="2523744"/>
            <a:ext cx="2423160"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coils mapped across heat → slab → coil</a:t>
            </a:r>
            <a:endParaRPr lang="en-US" sz="750" dirty="0"/>
          </a:p>
        </p:txBody>
      </p:sp>
      <p:sp>
        <p:nvSpPr>
          <p:cNvPr id="16" name="Shape 13"/>
          <p:cNvSpPr/>
          <p:nvPr/>
        </p:nvSpPr>
        <p:spPr>
          <a:xfrm>
            <a:off x="5715000" y="1938528"/>
            <a:ext cx="2606040" cy="987552"/>
          </a:xfrm>
          <a:prstGeom prst="roundRect">
            <a:avLst>
              <a:gd name="adj" fmla="val 7407"/>
            </a:avLst>
          </a:prstGeom>
          <a:solidFill>
            <a:srgbClr val="0B1730">
              <a:alpha val="92000"/>
            </a:srgbClr>
          </a:solidFill>
          <a:ln w="15240">
            <a:solidFill>
              <a:srgbClr val="FFB020">
                <a:alpha val="90000"/>
              </a:srgbClr>
            </a:solidFill>
            <a:prstDash val="solid"/>
          </a:ln>
          <a:effectLst>
            <a:outerShdw sx="100000" sy="100000" kx="0" ky="0" algn="bl" rotWithShape="0" blurRad="12700" dist="50800" dir="2700000">
              <a:srgbClr val="FFB020">
                <a:alpha val="16000"/>
              </a:srgbClr>
            </a:outerShdw>
          </a:effectLst>
        </p:spPr>
      </p:sp>
      <p:sp>
        <p:nvSpPr>
          <p:cNvPr id="17" name="Text 14"/>
          <p:cNvSpPr/>
          <p:nvPr/>
        </p:nvSpPr>
        <p:spPr>
          <a:xfrm>
            <a:off x="5788152" y="2121408"/>
            <a:ext cx="2459736" cy="320040"/>
          </a:xfrm>
          <a:prstGeom prst="rect">
            <a:avLst/>
          </a:prstGeom>
          <a:noFill/>
          <a:ln/>
        </p:spPr>
        <p:txBody>
          <a:bodyPr wrap="square" lIns="0" tIns="0" rIns="0" bIns="0" rtlCol="0" anchor="ctr"/>
          <a:lstStyle/>
          <a:p>
            <a:pPr algn="ctr" indent="0" marL="0">
              <a:buNone/>
            </a:pPr>
            <a:r>
              <a:rPr lang="en-US" sz="1800" b="1" dirty="0">
                <a:solidFill>
                  <a:srgbClr val="FFB020"/>
                </a:solidFill>
              </a:rPr>
              <a:t>34,000+</a:t>
            </a:r>
            <a:endParaRPr lang="en-US" sz="1800" dirty="0"/>
          </a:p>
        </p:txBody>
      </p:sp>
      <p:sp>
        <p:nvSpPr>
          <p:cNvPr id="18" name="Text 15"/>
          <p:cNvSpPr/>
          <p:nvPr/>
        </p:nvSpPr>
        <p:spPr>
          <a:xfrm>
            <a:off x="5806440" y="2523744"/>
            <a:ext cx="2423160"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surface defects tracked and joined to lineage</a:t>
            </a:r>
            <a:endParaRPr lang="en-US" sz="750" dirty="0"/>
          </a:p>
        </p:txBody>
      </p:sp>
      <p:sp>
        <p:nvSpPr>
          <p:cNvPr id="19" name="Shape 16"/>
          <p:cNvSpPr/>
          <p:nvPr/>
        </p:nvSpPr>
        <p:spPr>
          <a:xfrm>
            <a:off x="8458200" y="1938528"/>
            <a:ext cx="2606040" cy="987552"/>
          </a:xfrm>
          <a:prstGeom prst="roundRect">
            <a:avLst>
              <a:gd name="adj" fmla="val 7407"/>
            </a:avLst>
          </a:prstGeom>
          <a:solidFill>
            <a:srgbClr val="0B1730">
              <a:alpha val="92000"/>
            </a:srgbClr>
          </a:solidFill>
          <a:ln w="15240">
            <a:solidFill>
              <a:srgbClr val="00D4FF">
                <a:alpha val="90000"/>
              </a:srgbClr>
            </a:solidFill>
            <a:prstDash val="solid"/>
          </a:ln>
          <a:effectLst>
            <a:outerShdw sx="100000" sy="100000" kx="0" ky="0" algn="bl" rotWithShape="0" blurRad="12700" dist="50800" dir="2700000">
              <a:srgbClr val="00D4FF">
                <a:alpha val="16000"/>
              </a:srgbClr>
            </a:outerShdw>
          </a:effectLst>
        </p:spPr>
      </p:sp>
      <p:sp>
        <p:nvSpPr>
          <p:cNvPr id="20" name="Text 17"/>
          <p:cNvSpPr/>
          <p:nvPr/>
        </p:nvSpPr>
        <p:spPr>
          <a:xfrm>
            <a:off x="8531352" y="2121408"/>
            <a:ext cx="2459736" cy="320040"/>
          </a:xfrm>
          <a:prstGeom prst="rect">
            <a:avLst/>
          </a:prstGeom>
          <a:noFill/>
          <a:ln/>
        </p:spPr>
        <p:txBody>
          <a:bodyPr wrap="square" lIns="0" tIns="0" rIns="0" bIns="0" rtlCol="0" anchor="ctr"/>
          <a:lstStyle/>
          <a:p>
            <a:pPr algn="ctr" indent="0" marL="0">
              <a:buNone/>
            </a:pPr>
            <a:r>
              <a:rPr lang="en-US" sz="1800" b="1" dirty="0">
                <a:solidFill>
                  <a:srgbClr val="00D4FF"/>
                </a:solidFill>
              </a:rPr>
              <a:t>37,000+</a:t>
            </a:r>
            <a:endParaRPr lang="en-US" sz="1800" dirty="0"/>
          </a:p>
        </p:txBody>
      </p:sp>
      <p:sp>
        <p:nvSpPr>
          <p:cNvPr id="21" name="Text 18"/>
          <p:cNvSpPr/>
          <p:nvPr/>
        </p:nvSpPr>
        <p:spPr>
          <a:xfrm>
            <a:off x="8549640" y="2523744"/>
            <a:ext cx="2423160" cy="228600"/>
          </a:xfrm>
          <a:prstGeom prst="rect">
            <a:avLst/>
          </a:prstGeom>
          <a:noFill/>
          <a:ln/>
        </p:spPr>
        <p:txBody>
          <a:bodyPr wrap="square" lIns="0" tIns="0" rIns="0" bIns="0" rtlCol="0" anchor="ctr">
            <a:normAutofit/>
          </a:bodyPr>
          <a:lstStyle/>
          <a:p>
            <a:pPr algn="ctr" indent="0" marL="0">
              <a:buNone/>
            </a:pPr>
            <a:r>
              <a:rPr lang="en-US" sz="750" dirty="0">
                <a:solidFill>
                  <a:srgbClr val="B6C7D9"/>
                </a:solidFill>
              </a:rPr>
              <a:t>genealogy edges expected across the thread</a:t>
            </a:r>
            <a:endParaRPr lang="en-US" sz="750" dirty="0"/>
          </a:p>
        </p:txBody>
      </p:sp>
      <p:sp>
        <p:nvSpPr>
          <p:cNvPr id="22" name="Shape 19"/>
          <p:cNvSpPr/>
          <p:nvPr/>
        </p:nvSpPr>
        <p:spPr>
          <a:xfrm>
            <a:off x="777240" y="4160520"/>
            <a:ext cx="132588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3" name="Text 20"/>
          <p:cNvSpPr/>
          <p:nvPr/>
        </p:nvSpPr>
        <p:spPr>
          <a:xfrm>
            <a:off x="850392" y="4334256"/>
            <a:ext cx="117957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Meltshop</a:t>
            </a:r>
            <a:endParaRPr lang="en-US" sz="740" dirty="0"/>
          </a:p>
        </p:txBody>
      </p:sp>
      <p:sp>
        <p:nvSpPr>
          <p:cNvPr id="24" name="Shape 21"/>
          <p:cNvSpPr/>
          <p:nvPr/>
        </p:nvSpPr>
        <p:spPr>
          <a:xfrm>
            <a:off x="2926080" y="4160520"/>
            <a:ext cx="132588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5" name="Text 22"/>
          <p:cNvSpPr/>
          <p:nvPr/>
        </p:nvSpPr>
        <p:spPr>
          <a:xfrm>
            <a:off x="2999232" y="4334256"/>
            <a:ext cx="117957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Caster</a:t>
            </a:r>
            <a:endParaRPr lang="en-US" sz="740" dirty="0"/>
          </a:p>
        </p:txBody>
      </p:sp>
      <p:sp>
        <p:nvSpPr>
          <p:cNvPr id="26" name="Shape 23"/>
          <p:cNvSpPr/>
          <p:nvPr/>
        </p:nvSpPr>
        <p:spPr>
          <a:xfrm>
            <a:off x="5074920" y="4160520"/>
            <a:ext cx="132588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7" name="Text 24"/>
          <p:cNvSpPr/>
          <p:nvPr/>
        </p:nvSpPr>
        <p:spPr>
          <a:xfrm>
            <a:off x="5148072" y="4334256"/>
            <a:ext cx="117957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HSM</a:t>
            </a:r>
            <a:endParaRPr lang="en-US" sz="740" dirty="0"/>
          </a:p>
        </p:txBody>
      </p:sp>
      <p:sp>
        <p:nvSpPr>
          <p:cNvPr id="28" name="Shape 25"/>
          <p:cNvSpPr/>
          <p:nvPr/>
        </p:nvSpPr>
        <p:spPr>
          <a:xfrm>
            <a:off x="7223760" y="4160520"/>
            <a:ext cx="132588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9" name="Text 26"/>
          <p:cNvSpPr/>
          <p:nvPr/>
        </p:nvSpPr>
        <p:spPr>
          <a:xfrm>
            <a:off x="7296912" y="4334256"/>
            <a:ext cx="117957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Inspection</a:t>
            </a:r>
            <a:endParaRPr lang="en-US" sz="740" dirty="0"/>
          </a:p>
        </p:txBody>
      </p:sp>
      <p:sp>
        <p:nvSpPr>
          <p:cNvPr id="30" name="Shape 27"/>
          <p:cNvSpPr/>
          <p:nvPr/>
        </p:nvSpPr>
        <p:spPr>
          <a:xfrm>
            <a:off x="9372600" y="4160520"/>
            <a:ext cx="1325880" cy="530352"/>
          </a:xfrm>
          <a:prstGeom prst="roundRect">
            <a:avLst>
              <a:gd name="adj" fmla="val 13793"/>
            </a:avLst>
          </a:prstGeom>
          <a:solidFill>
            <a:srgbClr val="0B1730">
              <a:alpha val="95000"/>
            </a:srgbClr>
          </a:solidFill>
          <a:ln w="11430">
            <a:solidFill>
              <a:srgbClr val="2CE6A2">
                <a:alpha val="92000"/>
              </a:srgbClr>
            </a:solidFill>
            <a:prstDash val="solid"/>
          </a:ln>
        </p:spPr>
      </p:sp>
      <p:sp>
        <p:nvSpPr>
          <p:cNvPr id="31" name="Text 28"/>
          <p:cNvSpPr/>
          <p:nvPr/>
        </p:nvSpPr>
        <p:spPr>
          <a:xfrm>
            <a:off x="9445752" y="4334256"/>
            <a:ext cx="117957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Engine</a:t>
            </a:r>
            <a:endParaRPr lang="en-US" sz="740" dirty="0"/>
          </a:p>
        </p:txBody>
      </p:sp>
      <p:sp>
        <p:nvSpPr>
          <p:cNvPr id="32" name="Shape 29"/>
          <p:cNvSpPr/>
          <p:nvPr/>
        </p:nvSpPr>
        <p:spPr>
          <a:xfrm>
            <a:off x="2103120" y="4425696"/>
            <a:ext cx="566928" cy="0"/>
          </a:xfrm>
          <a:prstGeom prst="line">
            <a:avLst/>
          </a:prstGeom>
          <a:noFill/>
          <a:ln w="15240">
            <a:solidFill>
              <a:srgbClr val="00D4FF"/>
            </a:solidFill>
            <a:prstDash val="solid"/>
            <a:headEnd type="none"/>
            <a:tailEnd type="triangle"/>
          </a:ln>
        </p:spPr>
      </p:sp>
      <p:sp>
        <p:nvSpPr>
          <p:cNvPr id="33" name="Shape 30"/>
          <p:cNvSpPr/>
          <p:nvPr/>
        </p:nvSpPr>
        <p:spPr>
          <a:xfrm>
            <a:off x="4251960" y="4425696"/>
            <a:ext cx="566928" cy="0"/>
          </a:xfrm>
          <a:prstGeom prst="line">
            <a:avLst/>
          </a:prstGeom>
          <a:noFill/>
          <a:ln w="15240">
            <a:solidFill>
              <a:srgbClr val="00D4FF"/>
            </a:solidFill>
            <a:prstDash val="solid"/>
            <a:headEnd type="none"/>
            <a:tailEnd type="triangle"/>
          </a:ln>
        </p:spPr>
      </p:sp>
      <p:sp>
        <p:nvSpPr>
          <p:cNvPr id="34" name="Shape 31"/>
          <p:cNvSpPr/>
          <p:nvPr/>
        </p:nvSpPr>
        <p:spPr>
          <a:xfrm>
            <a:off x="6400800" y="4425696"/>
            <a:ext cx="566928" cy="0"/>
          </a:xfrm>
          <a:prstGeom prst="line">
            <a:avLst/>
          </a:prstGeom>
          <a:noFill/>
          <a:ln w="15240">
            <a:solidFill>
              <a:srgbClr val="00D4FF"/>
            </a:solidFill>
            <a:prstDash val="solid"/>
            <a:headEnd type="none"/>
            <a:tailEnd type="triangle"/>
          </a:ln>
        </p:spPr>
      </p:sp>
      <p:sp>
        <p:nvSpPr>
          <p:cNvPr id="35" name="Shape 32"/>
          <p:cNvSpPr/>
          <p:nvPr/>
        </p:nvSpPr>
        <p:spPr>
          <a:xfrm>
            <a:off x="8549640" y="4425696"/>
            <a:ext cx="566928" cy="0"/>
          </a:xfrm>
          <a:prstGeom prst="line">
            <a:avLst/>
          </a:prstGeom>
          <a:noFill/>
          <a:ln w="15240">
            <a:solidFill>
              <a:srgbClr val="2CE6A2"/>
            </a:solidFill>
            <a:prstDash val="solid"/>
            <a:headEnd type="none"/>
            <a:tailEnd type="triangle"/>
          </a:ln>
        </p:spPr>
      </p:sp>
      <p:sp>
        <p:nvSpPr>
          <p:cNvPr id="36" name="Text 33"/>
          <p:cNvSpPr/>
          <p:nvPr/>
        </p:nvSpPr>
        <p:spPr>
          <a:xfrm>
            <a:off x="1051560" y="5596128"/>
            <a:ext cx="10012680" cy="320040"/>
          </a:xfrm>
          <a:prstGeom prst="rect">
            <a:avLst/>
          </a:prstGeom>
          <a:noFill/>
          <a:ln/>
        </p:spPr>
        <p:txBody>
          <a:bodyPr wrap="square" lIns="0" tIns="0" rIns="0" bIns="0" rtlCol="0" anchor="ctr">
            <a:normAutofit/>
          </a:bodyPr>
          <a:lstStyle/>
          <a:p>
            <a:pPr algn="ctr" indent="0" marL="0">
              <a:buNone/>
            </a:pPr>
            <a:r>
              <a:rPr lang="en-US" sz="1300" b="1" dirty="0">
                <a:solidFill>
                  <a:srgbClr val="EAF6FF"/>
                </a:solidFill>
              </a:rPr>
              <a:t>Commercial point: the demo is not a static story. It is the same engine path: import → lineage → analysis → evidence.</a:t>
            </a:r>
            <a:endParaRPr lang="en-US" sz="1300" dirty="0"/>
          </a:p>
        </p:txBody>
      </p:sp>
      <p:sp>
        <p:nvSpPr>
          <p:cNvPr id="37" name="Text 34"/>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8" name="Text 35"/>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9" name="Text 36"/>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B18"/>
        </a:solidFill>
      </p:bgPr>
    </p:bg>
    <p:spTree>
      <p:nvGrpSpPr>
        <p:cNvPr id="1" name=""/>
        <p:cNvGrpSpPr/>
        <p:nvPr/>
      </p:nvGrpSpPr>
      <p:grpSpPr>
        <a:xfrm>
          <a:off x="0" y="0"/>
          <a:ext cx="0" cy="0"/>
          <a:chOff x="0" y="0"/>
          <a:chExt cx="0" cy="0"/>
        </a:xfrm>
      </p:grpSpPr>
      <p:pic>
        <p:nvPicPr>
          <p:cNvPr id="2" name="Image 0" descr="/mnt/data/a_high_tech_futuristic_data_industrial_infographic_batch_2.png">    </p:cNvPr>
          <p:cNvPicPr>
            <a:picLocks noChangeAspect="1"/>
          </p:cNvPicPr>
          <p:nvPr/>
        </p:nvPicPr>
        <p:blipFill>
          <a:blip r:embed="rId1"/>
          <a:srcRect l="0" r="-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62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Shape 2"/>
          <p:cNvSpPr/>
          <p:nvPr/>
        </p:nvSpPr>
        <p:spPr>
          <a:xfrm>
            <a:off x="0" y="0"/>
            <a:ext cx="7040880" cy="6858000"/>
          </a:xfrm>
          <a:prstGeom prst="rect">
            <a:avLst/>
          </a:prstGeom>
          <a:solidFill>
            <a:srgbClr val="050B18">
              <a:alpha val="99000"/>
            </a:srgbClr>
          </a:solidFill>
          <a:ln w="12700">
            <a:solidFill>
              <a:srgbClr val="050B18">
                <a:alpha val="0"/>
              </a:srgbClr>
            </a:solidFill>
            <a:prstDash val="solid"/>
          </a:ln>
        </p:spPr>
      </p:sp>
      <p:sp>
        <p:nvSpPr>
          <p:cNvPr id="6" name="Text 3"/>
          <p:cNvSpPr/>
          <p:nvPr/>
        </p:nvSpPr>
        <p:spPr>
          <a:xfrm>
            <a:off x="502920" y="420624"/>
            <a:ext cx="6217920" cy="228600"/>
          </a:xfrm>
          <a:prstGeom prst="rect">
            <a:avLst/>
          </a:prstGeom>
          <a:noFill/>
          <a:ln/>
        </p:spPr>
        <p:txBody>
          <a:bodyPr wrap="square" lIns="0" tIns="0" rIns="0" bIns="0" rtlCol="0" anchor="ctr"/>
          <a:lstStyle/>
          <a:p>
            <a:pPr indent="0" marL="0">
              <a:buNone/>
            </a:pPr>
            <a:r>
              <a:rPr lang="en-US" sz="850" b="1" dirty="0">
                <a:solidFill>
                  <a:srgbClr val="00D4FF"/>
                </a:solidFill>
              </a:rPr>
              <a:t>ACT 1 · THE CRIME SCENE</a:t>
            </a:r>
            <a:endParaRPr lang="en-US" sz="850" dirty="0"/>
          </a:p>
        </p:txBody>
      </p:sp>
      <p:sp>
        <p:nvSpPr>
          <p:cNvPr id="7" name="Text 4"/>
          <p:cNvSpPr/>
          <p:nvPr/>
        </p:nvSpPr>
        <p:spPr>
          <a:xfrm>
            <a:off x="502920" y="713232"/>
            <a:ext cx="621792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The defect is visible. The origin is hidden.</a:t>
            </a:r>
            <a:endParaRPr lang="en-US" sz="3000" dirty="0"/>
          </a:p>
        </p:txBody>
      </p:sp>
      <p:sp>
        <p:nvSpPr>
          <p:cNvPr id="8" name="Text 5"/>
          <p:cNvSpPr/>
          <p:nvPr/>
        </p:nvSpPr>
        <p:spPr>
          <a:xfrm>
            <a:off x="502920" y="1499616"/>
            <a:ext cx="6217920" cy="411480"/>
          </a:xfrm>
          <a:prstGeom prst="rect">
            <a:avLst/>
          </a:prstGeom>
          <a:noFill/>
          <a:ln/>
        </p:spPr>
        <p:txBody>
          <a:bodyPr wrap="square" lIns="0" tIns="0" rIns="0" bIns="0" rtlCol="0" anchor="ctr">
            <a:normAutofit/>
          </a:bodyPr>
          <a:lstStyle/>
          <a:p>
            <a:pPr indent="0" marL="0">
              <a:buNone/>
            </a:pPr>
            <a:r>
              <a:rPr lang="en-US" sz="1300" dirty="0">
                <a:solidFill>
                  <a:srgbClr val="B6C7D9"/>
                </a:solidFill>
              </a:rPr>
              <a:t>The evidence exists — but it is scattered across systems, shifts, files, and process stages.</a:t>
            </a:r>
            <a:endParaRPr lang="en-US" sz="1300" dirty="0"/>
          </a:p>
        </p:txBody>
      </p:sp>
      <p:sp>
        <p:nvSpPr>
          <p:cNvPr id="9" name="Shape 6"/>
          <p:cNvSpPr/>
          <p:nvPr/>
        </p:nvSpPr>
        <p:spPr>
          <a:xfrm>
            <a:off x="822960" y="214884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0" name="Text 7"/>
          <p:cNvSpPr/>
          <p:nvPr/>
        </p:nvSpPr>
        <p:spPr>
          <a:xfrm>
            <a:off x="896112" y="232257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MES</a:t>
            </a:r>
            <a:endParaRPr lang="en-US" sz="740" dirty="0"/>
          </a:p>
        </p:txBody>
      </p:sp>
      <p:sp>
        <p:nvSpPr>
          <p:cNvPr id="11" name="Shape 8"/>
          <p:cNvSpPr/>
          <p:nvPr/>
        </p:nvSpPr>
        <p:spPr>
          <a:xfrm>
            <a:off x="3200400" y="201168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2" name="Text 9"/>
          <p:cNvSpPr/>
          <p:nvPr/>
        </p:nvSpPr>
        <p:spPr>
          <a:xfrm>
            <a:off x="3273552" y="218541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SCADA</a:t>
            </a:r>
            <a:endParaRPr lang="en-US" sz="740" dirty="0"/>
          </a:p>
        </p:txBody>
      </p:sp>
      <p:sp>
        <p:nvSpPr>
          <p:cNvPr id="13" name="Shape 10"/>
          <p:cNvSpPr/>
          <p:nvPr/>
        </p:nvSpPr>
        <p:spPr>
          <a:xfrm>
            <a:off x="1645920" y="324612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4" name="Text 11"/>
          <p:cNvSpPr/>
          <p:nvPr/>
        </p:nvSpPr>
        <p:spPr>
          <a:xfrm>
            <a:off x="1719072" y="341985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L2</a:t>
            </a:r>
            <a:endParaRPr lang="en-US" sz="740" dirty="0"/>
          </a:p>
        </p:txBody>
      </p:sp>
      <p:sp>
        <p:nvSpPr>
          <p:cNvPr id="15" name="Shape 12"/>
          <p:cNvSpPr/>
          <p:nvPr/>
        </p:nvSpPr>
        <p:spPr>
          <a:xfrm>
            <a:off x="4297680" y="310896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6" name="Text 13"/>
          <p:cNvSpPr/>
          <p:nvPr/>
        </p:nvSpPr>
        <p:spPr>
          <a:xfrm>
            <a:off x="4370832" y="328269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Historian</a:t>
            </a:r>
            <a:endParaRPr lang="en-US" sz="740" dirty="0"/>
          </a:p>
        </p:txBody>
      </p:sp>
      <p:sp>
        <p:nvSpPr>
          <p:cNvPr id="17" name="Shape 14"/>
          <p:cNvSpPr/>
          <p:nvPr/>
        </p:nvSpPr>
        <p:spPr>
          <a:xfrm>
            <a:off x="2697480" y="4343400"/>
            <a:ext cx="1005840" cy="530352"/>
          </a:xfrm>
          <a:prstGeom prst="roundRect">
            <a:avLst>
              <a:gd name="adj" fmla="val 13793"/>
            </a:avLst>
          </a:prstGeom>
          <a:solidFill>
            <a:srgbClr val="0B1730">
              <a:alpha val="95000"/>
            </a:srgbClr>
          </a:solidFill>
          <a:ln w="11430">
            <a:solidFill>
              <a:srgbClr val="FF4D6D">
                <a:alpha val="92000"/>
              </a:srgbClr>
            </a:solidFill>
            <a:prstDash val="solid"/>
          </a:ln>
        </p:spPr>
      </p:sp>
      <p:sp>
        <p:nvSpPr>
          <p:cNvPr id="18" name="Text 15"/>
          <p:cNvSpPr/>
          <p:nvPr/>
        </p:nvSpPr>
        <p:spPr>
          <a:xfrm>
            <a:off x="2770632" y="451713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Inspection</a:t>
            </a:r>
            <a:endParaRPr lang="en-US" sz="740" dirty="0"/>
          </a:p>
        </p:txBody>
      </p:sp>
      <p:sp>
        <p:nvSpPr>
          <p:cNvPr id="19" name="Shape 16"/>
          <p:cNvSpPr/>
          <p:nvPr/>
        </p:nvSpPr>
        <p:spPr>
          <a:xfrm>
            <a:off x="5349240" y="260604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0" name="Text 17"/>
          <p:cNvSpPr/>
          <p:nvPr/>
        </p:nvSpPr>
        <p:spPr>
          <a:xfrm>
            <a:off x="5422392" y="277977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Lab</a:t>
            </a:r>
            <a:endParaRPr lang="en-US" sz="740" dirty="0"/>
          </a:p>
        </p:txBody>
      </p:sp>
      <p:sp>
        <p:nvSpPr>
          <p:cNvPr id="21" name="Shape 18"/>
          <p:cNvSpPr/>
          <p:nvPr/>
        </p:nvSpPr>
        <p:spPr>
          <a:xfrm>
            <a:off x="5394960" y="4251960"/>
            <a:ext cx="1005840" cy="530352"/>
          </a:xfrm>
          <a:prstGeom prst="roundRect">
            <a:avLst>
              <a:gd name="adj" fmla="val 13793"/>
            </a:avLst>
          </a:prstGeom>
          <a:solidFill>
            <a:srgbClr val="0B1730">
              <a:alpha val="95000"/>
            </a:srgbClr>
          </a:solidFill>
          <a:ln w="11430">
            <a:solidFill>
              <a:srgbClr val="FFB020">
                <a:alpha val="92000"/>
              </a:srgbClr>
            </a:solidFill>
            <a:prstDash val="solid"/>
          </a:ln>
        </p:spPr>
      </p:sp>
      <p:sp>
        <p:nvSpPr>
          <p:cNvPr id="22" name="Text 19"/>
          <p:cNvSpPr/>
          <p:nvPr/>
        </p:nvSpPr>
        <p:spPr>
          <a:xfrm>
            <a:off x="5468112" y="442569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Excel</a:t>
            </a:r>
            <a:endParaRPr lang="en-US" sz="740" dirty="0"/>
          </a:p>
        </p:txBody>
      </p:sp>
      <p:sp>
        <p:nvSpPr>
          <p:cNvPr id="23" name="Shape 20"/>
          <p:cNvSpPr/>
          <p:nvPr/>
        </p:nvSpPr>
        <p:spPr>
          <a:xfrm>
            <a:off x="822960" y="4663440"/>
            <a:ext cx="100584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24" name="Text 21"/>
          <p:cNvSpPr/>
          <p:nvPr/>
        </p:nvSpPr>
        <p:spPr>
          <a:xfrm>
            <a:off x="896112" y="4837176"/>
            <a:ext cx="85953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Logs</a:t>
            </a:r>
            <a:endParaRPr lang="en-US" sz="740" dirty="0"/>
          </a:p>
        </p:txBody>
      </p:sp>
      <p:sp>
        <p:nvSpPr>
          <p:cNvPr id="25" name="Shape 22"/>
          <p:cNvSpPr/>
          <p:nvPr/>
        </p:nvSpPr>
        <p:spPr>
          <a:xfrm>
            <a:off x="731520" y="5715000"/>
            <a:ext cx="5715000" cy="411480"/>
          </a:xfrm>
          <a:prstGeom prst="roundRect">
            <a:avLst>
              <a:gd name="adj" fmla="val 11111"/>
            </a:avLst>
          </a:prstGeom>
          <a:solidFill>
            <a:srgbClr val="FF4D6D">
              <a:alpha val="18000"/>
            </a:srgbClr>
          </a:solidFill>
          <a:ln w="10160">
            <a:solidFill>
              <a:srgbClr val="FF4D6D">
                <a:alpha val="80000"/>
              </a:srgbClr>
            </a:solidFill>
            <a:prstDash val="solid"/>
          </a:ln>
        </p:spPr>
      </p:sp>
      <p:sp>
        <p:nvSpPr>
          <p:cNvPr id="26" name="Text 23"/>
          <p:cNvSpPr/>
          <p:nvPr/>
        </p:nvSpPr>
        <p:spPr>
          <a:xfrm>
            <a:off x="822960" y="5843016"/>
            <a:ext cx="5532120" cy="73152"/>
          </a:xfrm>
          <a:prstGeom prst="rect">
            <a:avLst/>
          </a:prstGeom>
          <a:noFill/>
          <a:ln/>
        </p:spPr>
        <p:txBody>
          <a:bodyPr wrap="square" lIns="0" tIns="0" rIns="0" bIns="0" rtlCol="0" anchor="ctr"/>
          <a:lstStyle/>
          <a:p>
            <a:pPr algn="ctr" indent="0" marL="0">
              <a:buNone/>
            </a:pPr>
            <a:r>
              <a:rPr lang="en-US" sz="720" b="1" dirty="0">
                <a:solidFill>
                  <a:srgbClr val="FF4D6D"/>
                </a:solidFill>
              </a:rPr>
              <a:t>While the team investigates manually, the plant keeps producing risk.</a:t>
            </a:r>
            <a:endParaRPr lang="en-US" sz="720" dirty="0"/>
          </a:p>
        </p:txBody>
      </p:sp>
      <p:sp>
        <p:nvSpPr>
          <p:cNvPr id="27" name="Text 24"/>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28" name="Text 25"/>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29" name="Text 26"/>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B18"/>
        </a:solidFill>
      </p:bgPr>
    </p:bg>
    <p:spTree>
      <p:nvGrpSpPr>
        <p:cNvPr id="1" name=""/>
        <p:cNvGrpSpPr/>
        <p:nvPr/>
      </p:nvGrpSpPr>
      <p:grpSpPr>
        <a:xfrm>
          <a:off x="0" y="0"/>
          <a:ext cx="0" cy="0"/>
          <a:chOff x="0" y="0"/>
          <a:chExt cx="0" cy="0"/>
        </a:xfrm>
      </p:grpSpPr>
      <p:pic>
        <p:nvPicPr>
          <p:cNvPr id="2" name="Image 0" descr="/mnt/data/a_wide_cinematic_industrial_infographic_concept_batch_3.png">    </p:cNvPr>
          <p:cNvPicPr>
            <a:picLocks noChangeAspect="1"/>
          </p:cNvPicPr>
          <p:nvPr/>
        </p:nvPicPr>
        <p:blipFill>
          <a:blip r:embed="rId1"/>
          <a:srcRect l="0" r="-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80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Shape 2"/>
          <p:cNvSpPr/>
          <p:nvPr/>
        </p:nvSpPr>
        <p:spPr>
          <a:xfrm>
            <a:off x="0" y="0"/>
            <a:ext cx="12191695" cy="1874520"/>
          </a:xfrm>
          <a:prstGeom prst="rect">
            <a:avLst/>
          </a:prstGeom>
          <a:solidFill>
            <a:srgbClr val="050B18">
              <a:alpha val="95000"/>
            </a:srgbClr>
          </a:solidFill>
          <a:ln w="12700">
            <a:solidFill>
              <a:srgbClr val="050B18">
                <a:alpha val="0"/>
              </a:srgbClr>
            </a:solidFill>
            <a:prstDash val="solid"/>
          </a:ln>
        </p:spPr>
      </p:sp>
      <p:sp>
        <p:nvSpPr>
          <p:cNvPr id="6" name="Text 3"/>
          <p:cNvSpPr/>
          <p:nvPr/>
        </p:nvSpPr>
        <p:spPr>
          <a:xfrm>
            <a:off x="502920" y="347472"/>
            <a:ext cx="6583680" cy="228600"/>
          </a:xfrm>
          <a:prstGeom prst="rect">
            <a:avLst/>
          </a:prstGeom>
          <a:noFill/>
          <a:ln/>
        </p:spPr>
        <p:txBody>
          <a:bodyPr wrap="square" lIns="0" tIns="0" rIns="0" bIns="0" rtlCol="0" anchor="ctr"/>
          <a:lstStyle/>
          <a:p>
            <a:pPr indent="0" marL="0">
              <a:buNone/>
            </a:pPr>
            <a:r>
              <a:rPr lang="en-US" sz="850" b="1" dirty="0">
                <a:solidFill>
                  <a:srgbClr val="00D4FF"/>
                </a:solidFill>
              </a:rPr>
              <a:t>ACT 2 · TRACING THE FOOTPRINTS</a:t>
            </a:r>
            <a:endParaRPr lang="en-US" sz="850" dirty="0"/>
          </a:p>
        </p:txBody>
      </p:sp>
      <p:sp>
        <p:nvSpPr>
          <p:cNvPr id="7" name="Text 4"/>
          <p:cNvSpPr/>
          <p:nvPr/>
        </p:nvSpPr>
        <p:spPr>
          <a:xfrm>
            <a:off x="502920" y="640080"/>
            <a:ext cx="6583680" cy="822960"/>
          </a:xfrm>
          <a:prstGeom prst="rect">
            <a:avLst/>
          </a:prstGeom>
          <a:noFill/>
          <a:ln/>
        </p:spPr>
        <p:txBody>
          <a:bodyPr wrap="square" lIns="0" tIns="0" rIns="0" bIns="0" rtlCol="0" anchor="ctr">
            <a:normAutofit/>
          </a:bodyPr>
          <a:lstStyle/>
          <a:p>
            <a:pPr indent="0" marL="0">
              <a:buNone/>
            </a:pPr>
            <a:r>
              <a:rPr lang="en-US" sz="2900" b="1" dirty="0">
                <a:solidFill>
                  <a:srgbClr val="EAF6FF"/>
                </a:solidFill>
              </a:rPr>
              <a:t>Reconstruct the production journey in seconds.</a:t>
            </a:r>
            <a:endParaRPr lang="en-US" sz="2900" dirty="0"/>
          </a:p>
        </p:txBody>
      </p:sp>
      <p:sp>
        <p:nvSpPr>
          <p:cNvPr id="8" name="Text 5"/>
          <p:cNvSpPr/>
          <p:nvPr/>
        </p:nvSpPr>
        <p:spPr>
          <a:xfrm>
            <a:off x="502920" y="1426464"/>
            <a:ext cx="6583680" cy="411480"/>
          </a:xfrm>
          <a:prstGeom prst="rect">
            <a:avLst/>
          </a:prstGeom>
          <a:noFill/>
          <a:ln/>
        </p:spPr>
        <p:txBody>
          <a:bodyPr wrap="square" lIns="0" tIns="0" rIns="0" bIns="0" rtlCol="0" anchor="ctr">
            <a:normAutofit/>
          </a:bodyPr>
          <a:lstStyle/>
          <a:p>
            <a:pPr indent="0" marL="0">
              <a:buNone/>
            </a:pPr>
            <a:r>
              <a:rPr lang="en-US" sz="1200" dirty="0">
                <a:solidFill>
                  <a:srgbClr val="B6C7D9"/>
                </a:solidFill>
              </a:rPr>
              <a:t>From the defective coil back to the slab and the meltshop heat.</a:t>
            </a:r>
            <a:endParaRPr lang="en-US" sz="1200" dirty="0"/>
          </a:p>
        </p:txBody>
      </p:sp>
      <p:sp>
        <p:nvSpPr>
          <p:cNvPr id="9" name="Shape 6"/>
          <p:cNvSpPr/>
          <p:nvPr/>
        </p:nvSpPr>
        <p:spPr>
          <a:xfrm>
            <a:off x="9006840" y="384048"/>
            <a:ext cx="1737360" cy="329184"/>
          </a:xfrm>
          <a:prstGeom prst="roundRect">
            <a:avLst>
              <a:gd name="adj" fmla="val 11111"/>
            </a:avLst>
          </a:prstGeom>
          <a:solidFill>
            <a:srgbClr val="2CE6A2">
              <a:alpha val="8000"/>
            </a:srgbClr>
          </a:solidFill>
          <a:ln w="8890">
            <a:solidFill>
              <a:srgbClr val="2CE6A2"/>
            </a:solidFill>
            <a:prstDash val="solid"/>
          </a:ln>
        </p:spPr>
      </p:sp>
      <p:sp>
        <p:nvSpPr>
          <p:cNvPr id="10" name="Text 7"/>
          <p:cNvSpPr/>
          <p:nvPr/>
        </p:nvSpPr>
        <p:spPr>
          <a:xfrm>
            <a:off x="9006840" y="466344"/>
            <a:ext cx="1737360" cy="109728"/>
          </a:xfrm>
          <a:prstGeom prst="rect">
            <a:avLst/>
          </a:prstGeom>
          <a:noFill/>
          <a:ln/>
        </p:spPr>
        <p:txBody>
          <a:bodyPr wrap="square" lIns="0" tIns="0" rIns="0" bIns="0" rtlCol="0" anchor="ctr"/>
          <a:lstStyle/>
          <a:p>
            <a:pPr algn="ctr" indent="0" marL="0">
              <a:buNone/>
            </a:pPr>
            <a:r>
              <a:rPr lang="en-US" sz="580" b="1" dirty="0">
                <a:solidFill>
                  <a:srgbClr val="2CE6A2"/>
                </a:solidFill>
              </a:rPr>
              <a:t>GOLDEN THREAD</a:t>
            </a:r>
            <a:endParaRPr lang="en-US" sz="580" dirty="0"/>
          </a:p>
        </p:txBody>
      </p:sp>
      <p:sp>
        <p:nvSpPr>
          <p:cNvPr id="11" name="Shape 8"/>
          <p:cNvSpPr/>
          <p:nvPr/>
        </p:nvSpPr>
        <p:spPr>
          <a:xfrm>
            <a:off x="731520" y="3474720"/>
            <a:ext cx="1965960" cy="960120"/>
          </a:xfrm>
          <a:prstGeom prst="roundRect">
            <a:avLst>
              <a:gd name="adj" fmla="val 7619"/>
            </a:avLst>
          </a:prstGeom>
          <a:solidFill>
            <a:srgbClr val="0B1730">
              <a:alpha val="94000"/>
            </a:srgbClr>
          </a:solidFill>
          <a:ln w="15240">
            <a:solidFill>
              <a:srgbClr val="00D4FF">
                <a:alpha val="95000"/>
              </a:srgbClr>
            </a:solidFill>
            <a:prstDash val="solid"/>
          </a:ln>
          <a:effectLst>
            <a:outerShdw sx="100000" sy="100000" kx="0" ky="0" algn="bl" rotWithShape="0" blurRad="12700" dist="50800" dir="2700000">
              <a:srgbClr val="00D4FF">
                <a:alpha val="16000"/>
              </a:srgbClr>
            </a:outerShdw>
          </a:effectLst>
        </p:spPr>
      </p:sp>
      <p:sp>
        <p:nvSpPr>
          <p:cNvPr id="12" name="Text 9"/>
          <p:cNvSpPr/>
          <p:nvPr/>
        </p:nvSpPr>
        <p:spPr>
          <a:xfrm>
            <a:off x="822960" y="3630168"/>
            <a:ext cx="1783080" cy="109728"/>
          </a:xfrm>
          <a:prstGeom prst="rect">
            <a:avLst/>
          </a:prstGeom>
          <a:noFill/>
          <a:ln/>
        </p:spPr>
        <p:txBody>
          <a:bodyPr wrap="square" lIns="0" tIns="0" rIns="0" bIns="0" rtlCol="0" anchor="ctr"/>
          <a:lstStyle/>
          <a:p>
            <a:pPr algn="ctr" indent="0" marL="0">
              <a:buNone/>
            </a:pPr>
            <a:r>
              <a:rPr lang="en-US" sz="630" b="1" dirty="0">
                <a:solidFill>
                  <a:srgbClr val="00D4FF"/>
                </a:solidFill>
              </a:rPr>
              <a:t>HEAT</a:t>
            </a:r>
            <a:endParaRPr lang="en-US" sz="630" dirty="0"/>
          </a:p>
        </p:txBody>
      </p:sp>
      <p:sp>
        <p:nvSpPr>
          <p:cNvPr id="13" name="Text 10"/>
          <p:cNvSpPr/>
          <p:nvPr/>
        </p:nvSpPr>
        <p:spPr>
          <a:xfrm>
            <a:off x="822960" y="3831336"/>
            <a:ext cx="1783080" cy="228600"/>
          </a:xfrm>
          <a:prstGeom prst="rect">
            <a:avLst/>
          </a:prstGeom>
          <a:noFill/>
          <a:ln/>
        </p:spPr>
        <p:txBody>
          <a:bodyPr wrap="square" lIns="0" tIns="0" rIns="0" bIns="0" rtlCol="0" anchor="ctr"/>
          <a:lstStyle/>
          <a:p>
            <a:pPr algn="ctr" indent="0" marL="0">
              <a:buNone/>
            </a:pPr>
            <a:r>
              <a:rPr lang="en-US" sz="1300" b="1" dirty="0">
                <a:solidFill>
                  <a:srgbClr val="EAF6FF"/>
                </a:solidFill>
              </a:rPr>
              <a:t>H-26014</a:t>
            </a:r>
            <a:endParaRPr lang="en-US" sz="1300" dirty="0"/>
          </a:p>
        </p:txBody>
      </p:sp>
      <p:sp>
        <p:nvSpPr>
          <p:cNvPr id="14" name="Text 11"/>
          <p:cNvSpPr/>
          <p:nvPr/>
        </p:nvSpPr>
        <p:spPr>
          <a:xfrm>
            <a:off x="822960" y="4133088"/>
            <a:ext cx="1783080" cy="137160"/>
          </a:xfrm>
          <a:prstGeom prst="rect">
            <a:avLst/>
          </a:prstGeom>
          <a:noFill/>
          <a:ln/>
        </p:spPr>
        <p:txBody>
          <a:bodyPr wrap="square" lIns="0" tIns="0" rIns="0" bIns="0" rtlCol="0" anchor="ctr"/>
          <a:lstStyle/>
          <a:p>
            <a:pPr algn="ctr" indent="0" marL="0">
              <a:buNone/>
            </a:pPr>
            <a:r>
              <a:rPr lang="en-US" sz="650" dirty="0">
                <a:solidFill>
                  <a:srgbClr val="8EA7C1"/>
                </a:solidFill>
              </a:rPr>
              <a:t>Meltshop</a:t>
            </a:r>
            <a:endParaRPr lang="en-US" sz="650" dirty="0"/>
          </a:p>
        </p:txBody>
      </p:sp>
      <p:sp>
        <p:nvSpPr>
          <p:cNvPr id="15" name="Shape 12"/>
          <p:cNvSpPr/>
          <p:nvPr/>
        </p:nvSpPr>
        <p:spPr>
          <a:xfrm>
            <a:off x="2706624" y="3950208"/>
            <a:ext cx="539496" cy="0"/>
          </a:xfrm>
          <a:prstGeom prst="line">
            <a:avLst/>
          </a:prstGeom>
          <a:noFill/>
          <a:ln w="19050">
            <a:solidFill>
              <a:srgbClr val="00D4FF"/>
            </a:solidFill>
            <a:prstDash val="solid"/>
            <a:headEnd type="none"/>
            <a:tailEnd type="triangle"/>
          </a:ln>
        </p:spPr>
      </p:sp>
      <p:sp>
        <p:nvSpPr>
          <p:cNvPr id="16" name="Shape 13"/>
          <p:cNvSpPr/>
          <p:nvPr/>
        </p:nvSpPr>
        <p:spPr>
          <a:xfrm>
            <a:off x="3337560" y="3474720"/>
            <a:ext cx="1965960" cy="960120"/>
          </a:xfrm>
          <a:prstGeom prst="roundRect">
            <a:avLst>
              <a:gd name="adj" fmla="val 7619"/>
            </a:avLst>
          </a:prstGeom>
          <a:solidFill>
            <a:srgbClr val="0B1730">
              <a:alpha val="94000"/>
            </a:srgbClr>
          </a:solidFill>
          <a:ln w="15240">
            <a:solidFill>
              <a:srgbClr val="00D4FF">
                <a:alpha val="95000"/>
              </a:srgbClr>
            </a:solidFill>
            <a:prstDash val="solid"/>
          </a:ln>
          <a:effectLst>
            <a:outerShdw sx="100000" sy="100000" kx="0" ky="0" algn="bl" rotWithShape="0" blurRad="12700" dist="50800" dir="2700000">
              <a:srgbClr val="00D4FF">
                <a:alpha val="16000"/>
              </a:srgbClr>
            </a:outerShdw>
          </a:effectLst>
        </p:spPr>
      </p:sp>
      <p:sp>
        <p:nvSpPr>
          <p:cNvPr id="17" name="Text 14"/>
          <p:cNvSpPr/>
          <p:nvPr/>
        </p:nvSpPr>
        <p:spPr>
          <a:xfrm>
            <a:off x="3429000" y="3630168"/>
            <a:ext cx="1783080" cy="109728"/>
          </a:xfrm>
          <a:prstGeom prst="rect">
            <a:avLst/>
          </a:prstGeom>
          <a:noFill/>
          <a:ln/>
        </p:spPr>
        <p:txBody>
          <a:bodyPr wrap="square" lIns="0" tIns="0" rIns="0" bIns="0" rtlCol="0" anchor="ctr"/>
          <a:lstStyle/>
          <a:p>
            <a:pPr algn="ctr" indent="0" marL="0">
              <a:buNone/>
            </a:pPr>
            <a:r>
              <a:rPr lang="en-US" sz="630" b="1" dirty="0">
                <a:solidFill>
                  <a:srgbClr val="00D4FF"/>
                </a:solidFill>
              </a:rPr>
              <a:t>SLAB</a:t>
            </a:r>
            <a:endParaRPr lang="en-US" sz="630" dirty="0"/>
          </a:p>
        </p:txBody>
      </p:sp>
      <p:sp>
        <p:nvSpPr>
          <p:cNvPr id="18" name="Text 15"/>
          <p:cNvSpPr/>
          <p:nvPr/>
        </p:nvSpPr>
        <p:spPr>
          <a:xfrm>
            <a:off x="3429000" y="3831336"/>
            <a:ext cx="1783080" cy="228600"/>
          </a:xfrm>
          <a:prstGeom prst="rect">
            <a:avLst/>
          </a:prstGeom>
          <a:noFill/>
          <a:ln/>
        </p:spPr>
        <p:txBody>
          <a:bodyPr wrap="square" lIns="0" tIns="0" rIns="0" bIns="0" rtlCol="0" anchor="ctr"/>
          <a:lstStyle/>
          <a:p>
            <a:pPr algn="ctr" indent="0" marL="0">
              <a:buNone/>
            </a:pPr>
            <a:r>
              <a:rPr lang="en-US" sz="1300" b="1" dirty="0">
                <a:solidFill>
                  <a:srgbClr val="EAF6FF"/>
                </a:solidFill>
              </a:rPr>
              <a:t>SL-60105</a:t>
            </a:r>
            <a:endParaRPr lang="en-US" sz="1300" dirty="0"/>
          </a:p>
        </p:txBody>
      </p:sp>
      <p:sp>
        <p:nvSpPr>
          <p:cNvPr id="19" name="Text 16"/>
          <p:cNvSpPr/>
          <p:nvPr/>
        </p:nvSpPr>
        <p:spPr>
          <a:xfrm>
            <a:off x="3429000" y="4133088"/>
            <a:ext cx="1783080" cy="137160"/>
          </a:xfrm>
          <a:prstGeom prst="rect">
            <a:avLst/>
          </a:prstGeom>
          <a:noFill/>
          <a:ln/>
        </p:spPr>
        <p:txBody>
          <a:bodyPr wrap="square" lIns="0" tIns="0" rIns="0" bIns="0" rtlCol="0" anchor="ctr"/>
          <a:lstStyle/>
          <a:p>
            <a:pPr algn="ctr" indent="0" marL="0">
              <a:buNone/>
            </a:pPr>
            <a:r>
              <a:rPr lang="en-US" sz="650" dirty="0">
                <a:solidFill>
                  <a:srgbClr val="8EA7C1"/>
                </a:solidFill>
              </a:rPr>
              <a:t>Caster</a:t>
            </a:r>
            <a:endParaRPr lang="en-US" sz="650" dirty="0"/>
          </a:p>
        </p:txBody>
      </p:sp>
      <p:sp>
        <p:nvSpPr>
          <p:cNvPr id="20" name="Shape 17"/>
          <p:cNvSpPr/>
          <p:nvPr/>
        </p:nvSpPr>
        <p:spPr>
          <a:xfrm>
            <a:off x="5312664" y="3950208"/>
            <a:ext cx="539496" cy="0"/>
          </a:xfrm>
          <a:prstGeom prst="line">
            <a:avLst/>
          </a:prstGeom>
          <a:noFill/>
          <a:ln w="19050">
            <a:solidFill>
              <a:srgbClr val="00D4FF"/>
            </a:solidFill>
            <a:prstDash val="solid"/>
            <a:headEnd type="none"/>
            <a:tailEnd type="triangle"/>
          </a:ln>
        </p:spPr>
      </p:sp>
      <p:sp>
        <p:nvSpPr>
          <p:cNvPr id="21" name="Shape 18"/>
          <p:cNvSpPr/>
          <p:nvPr/>
        </p:nvSpPr>
        <p:spPr>
          <a:xfrm>
            <a:off x="5943600" y="3474720"/>
            <a:ext cx="1965960" cy="960120"/>
          </a:xfrm>
          <a:prstGeom prst="roundRect">
            <a:avLst>
              <a:gd name="adj" fmla="val 7619"/>
            </a:avLst>
          </a:prstGeom>
          <a:solidFill>
            <a:srgbClr val="0B1730">
              <a:alpha val="94000"/>
            </a:srgbClr>
          </a:solidFill>
          <a:ln w="15240">
            <a:solidFill>
              <a:srgbClr val="2CE6A2">
                <a:alpha val="95000"/>
              </a:srgbClr>
            </a:solidFill>
            <a:prstDash val="solid"/>
          </a:ln>
          <a:effectLst>
            <a:outerShdw sx="100000" sy="100000" kx="0" ky="0" algn="bl" rotWithShape="0" blurRad="12700" dist="50800" dir="2700000">
              <a:srgbClr val="2CE6A2">
                <a:alpha val="16000"/>
              </a:srgbClr>
            </a:outerShdw>
          </a:effectLst>
        </p:spPr>
      </p:sp>
      <p:sp>
        <p:nvSpPr>
          <p:cNvPr id="22" name="Text 19"/>
          <p:cNvSpPr/>
          <p:nvPr/>
        </p:nvSpPr>
        <p:spPr>
          <a:xfrm>
            <a:off x="6035040" y="3630168"/>
            <a:ext cx="1783080" cy="109728"/>
          </a:xfrm>
          <a:prstGeom prst="rect">
            <a:avLst/>
          </a:prstGeom>
          <a:noFill/>
          <a:ln/>
        </p:spPr>
        <p:txBody>
          <a:bodyPr wrap="square" lIns="0" tIns="0" rIns="0" bIns="0" rtlCol="0" anchor="ctr"/>
          <a:lstStyle/>
          <a:p>
            <a:pPr algn="ctr" indent="0" marL="0">
              <a:buNone/>
            </a:pPr>
            <a:r>
              <a:rPr lang="en-US" sz="630" b="1" dirty="0">
                <a:solidFill>
                  <a:srgbClr val="2CE6A2"/>
                </a:solidFill>
              </a:rPr>
              <a:t>COIL</a:t>
            </a:r>
            <a:endParaRPr lang="en-US" sz="630" dirty="0"/>
          </a:p>
        </p:txBody>
      </p:sp>
      <p:sp>
        <p:nvSpPr>
          <p:cNvPr id="23" name="Text 20"/>
          <p:cNvSpPr/>
          <p:nvPr/>
        </p:nvSpPr>
        <p:spPr>
          <a:xfrm>
            <a:off x="6035040" y="3831336"/>
            <a:ext cx="1783080" cy="228600"/>
          </a:xfrm>
          <a:prstGeom prst="rect">
            <a:avLst/>
          </a:prstGeom>
          <a:noFill/>
          <a:ln/>
        </p:spPr>
        <p:txBody>
          <a:bodyPr wrap="square" lIns="0" tIns="0" rIns="0" bIns="0" rtlCol="0" anchor="ctr"/>
          <a:lstStyle/>
          <a:p>
            <a:pPr algn="ctr" indent="0" marL="0">
              <a:buNone/>
            </a:pPr>
            <a:r>
              <a:rPr lang="en-US" sz="1300" b="1" dirty="0">
                <a:solidFill>
                  <a:srgbClr val="EAF6FF"/>
                </a:solidFill>
              </a:rPr>
              <a:t>C-700394</a:t>
            </a:r>
            <a:endParaRPr lang="en-US" sz="1300" dirty="0"/>
          </a:p>
        </p:txBody>
      </p:sp>
      <p:sp>
        <p:nvSpPr>
          <p:cNvPr id="24" name="Text 21"/>
          <p:cNvSpPr/>
          <p:nvPr/>
        </p:nvSpPr>
        <p:spPr>
          <a:xfrm>
            <a:off x="6035040" y="4133088"/>
            <a:ext cx="1783080" cy="137160"/>
          </a:xfrm>
          <a:prstGeom prst="rect">
            <a:avLst/>
          </a:prstGeom>
          <a:noFill/>
          <a:ln/>
        </p:spPr>
        <p:txBody>
          <a:bodyPr wrap="square" lIns="0" tIns="0" rIns="0" bIns="0" rtlCol="0" anchor="ctr"/>
          <a:lstStyle/>
          <a:p>
            <a:pPr algn="ctr" indent="0" marL="0">
              <a:buNone/>
            </a:pPr>
            <a:r>
              <a:rPr lang="en-US" sz="650" dirty="0">
                <a:solidFill>
                  <a:srgbClr val="8EA7C1"/>
                </a:solidFill>
              </a:rPr>
              <a:t>HSM</a:t>
            </a:r>
            <a:endParaRPr lang="en-US" sz="650" dirty="0"/>
          </a:p>
        </p:txBody>
      </p:sp>
      <p:sp>
        <p:nvSpPr>
          <p:cNvPr id="25" name="Shape 22"/>
          <p:cNvSpPr/>
          <p:nvPr/>
        </p:nvSpPr>
        <p:spPr>
          <a:xfrm>
            <a:off x="7918704" y="3950208"/>
            <a:ext cx="539496" cy="0"/>
          </a:xfrm>
          <a:prstGeom prst="line">
            <a:avLst/>
          </a:prstGeom>
          <a:noFill/>
          <a:ln w="19050">
            <a:solidFill>
              <a:srgbClr val="2CE6A2"/>
            </a:solidFill>
            <a:prstDash val="solid"/>
            <a:headEnd type="none"/>
            <a:tailEnd type="triangle"/>
          </a:ln>
        </p:spPr>
      </p:sp>
      <p:sp>
        <p:nvSpPr>
          <p:cNvPr id="26" name="Shape 23"/>
          <p:cNvSpPr/>
          <p:nvPr/>
        </p:nvSpPr>
        <p:spPr>
          <a:xfrm>
            <a:off x="8549640" y="3474720"/>
            <a:ext cx="1965960" cy="960120"/>
          </a:xfrm>
          <a:prstGeom prst="roundRect">
            <a:avLst>
              <a:gd name="adj" fmla="val 7619"/>
            </a:avLst>
          </a:prstGeom>
          <a:solidFill>
            <a:srgbClr val="0B1730">
              <a:alpha val="94000"/>
            </a:srgbClr>
          </a:solidFill>
          <a:ln w="15240">
            <a:solidFill>
              <a:srgbClr val="FF4D6D">
                <a:alpha val="95000"/>
              </a:srgbClr>
            </a:solidFill>
            <a:prstDash val="solid"/>
          </a:ln>
          <a:effectLst>
            <a:outerShdw sx="100000" sy="100000" kx="0" ky="0" algn="bl" rotWithShape="0" blurRad="12700" dist="50800" dir="2700000">
              <a:srgbClr val="FF4D6D">
                <a:alpha val="16000"/>
              </a:srgbClr>
            </a:outerShdw>
          </a:effectLst>
        </p:spPr>
      </p:sp>
      <p:sp>
        <p:nvSpPr>
          <p:cNvPr id="27" name="Text 24"/>
          <p:cNvSpPr/>
          <p:nvPr/>
        </p:nvSpPr>
        <p:spPr>
          <a:xfrm>
            <a:off x="8641080" y="3630168"/>
            <a:ext cx="1783080" cy="109728"/>
          </a:xfrm>
          <a:prstGeom prst="rect">
            <a:avLst/>
          </a:prstGeom>
          <a:noFill/>
          <a:ln/>
        </p:spPr>
        <p:txBody>
          <a:bodyPr wrap="square" lIns="0" tIns="0" rIns="0" bIns="0" rtlCol="0" anchor="ctr"/>
          <a:lstStyle/>
          <a:p>
            <a:pPr algn="ctr" indent="0" marL="0">
              <a:buNone/>
            </a:pPr>
            <a:r>
              <a:rPr lang="en-US" sz="630" b="1" dirty="0">
                <a:solidFill>
                  <a:srgbClr val="FF4D6D"/>
                </a:solidFill>
              </a:rPr>
              <a:t>SURFACE DEFECT</a:t>
            </a:r>
            <a:endParaRPr lang="en-US" sz="630" dirty="0"/>
          </a:p>
        </p:txBody>
      </p:sp>
      <p:sp>
        <p:nvSpPr>
          <p:cNvPr id="28" name="Text 25"/>
          <p:cNvSpPr/>
          <p:nvPr/>
        </p:nvSpPr>
        <p:spPr>
          <a:xfrm>
            <a:off x="8641080" y="3831336"/>
            <a:ext cx="1783080" cy="228600"/>
          </a:xfrm>
          <a:prstGeom prst="rect">
            <a:avLst/>
          </a:prstGeom>
          <a:noFill/>
          <a:ln/>
        </p:spPr>
        <p:txBody>
          <a:bodyPr wrap="square" lIns="0" tIns="0" rIns="0" bIns="0" rtlCol="0" anchor="ctr"/>
          <a:lstStyle/>
          <a:p>
            <a:pPr algn="ctr" indent="0" marL="0">
              <a:buNone/>
            </a:pPr>
            <a:r>
              <a:rPr lang="en-US" sz="1300" b="1" dirty="0">
                <a:solidFill>
                  <a:srgbClr val="EAF6FF"/>
                </a:solidFill>
              </a:rPr>
              <a:t>CRACK_LONG</a:t>
            </a:r>
            <a:endParaRPr lang="en-US" sz="1300" dirty="0"/>
          </a:p>
        </p:txBody>
      </p:sp>
      <p:sp>
        <p:nvSpPr>
          <p:cNvPr id="29" name="Text 26"/>
          <p:cNvSpPr/>
          <p:nvPr/>
        </p:nvSpPr>
        <p:spPr>
          <a:xfrm>
            <a:off x="8641080" y="4133088"/>
            <a:ext cx="1783080" cy="137160"/>
          </a:xfrm>
          <a:prstGeom prst="rect">
            <a:avLst/>
          </a:prstGeom>
          <a:noFill/>
          <a:ln/>
        </p:spPr>
        <p:txBody>
          <a:bodyPr wrap="square" lIns="0" tIns="0" rIns="0" bIns="0" rtlCol="0" anchor="ctr"/>
          <a:lstStyle/>
          <a:p>
            <a:pPr algn="ctr" indent="0" marL="0">
              <a:buNone/>
            </a:pPr>
            <a:r>
              <a:rPr lang="en-US" sz="650" dirty="0">
                <a:solidFill>
                  <a:srgbClr val="8EA7C1"/>
                </a:solidFill>
              </a:rPr>
              <a:t>Inspection</a:t>
            </a:r>
            <a:endParaRPr lang="en-US" sz="650" dirty="0"/>
          </a:p>
        </p:txBody>
      </p:sp>
      <p:sp>
        <p:nvSpPr>
          <p:cNvPr id="30" name="Shape 27"/>
          <p:cNvSpPr/>
          <p:nvPr/>
        </p:nvSpPr>
        <p:spPr>
          <a:xfrm>
            <a:off x="1325880" y="5650992"/>
            <a:ext cx="9464040" cy="530352"/>
          </a:xfrm>
          <a:prstGeom prst="roundRect">
            <a:avLst>
              <a:gd name="adj" fmla="val 10345"/>
            </a:avLst>
          </a:prstGeom>
          <a:solidFill>
            <a:srgbClr val="0B1730">
              <a:alpha val="97000"/>
            </a:srgbClr>
          </a:solidFill>
          <a:ln w="12700">
            <a:solidFill>
              <a:srgbClr val="2CE6A2">
                <a:alpha val="90000"/>
              </a:srgbClr>
            </a:solidFill>
            <a:prstDash val="solid"/>
          </a:ln>
        </p:spPr>
      </p:sp>
      <p:sp>
        <p:nvSpPr>
          <p:cNvPr id="31" name="Shape 28"/>
          <p:cNvSpPr/>
          <p:nvPr/>
        </p:nvSpPr>
        <p:spPr>
          <a:xfrm>
            <a:off x="1325880" y="5650992"/>
            <a:ext cx="54864" cy="530352"/>
          </a:xfrm>
          <a:prstGeom prst="rect">
            <a:avLst/>
          </a:prstGeom>
          <a:solidFill>
            <a:srgbClr val="2CE6A2"/>
          </a:solidFill>
          <a:ln w="12700">
            <a:solidFill>
              <a:srgbClr val="2CE6A2">
                <a:alpha val="0"/>
              </a:srgbClr>
            </a:solidFill>
            <a:prstDash val="solid"/>
          </a:ln>
        </p:spPr>
      </p:sp>
      <p:sp>
        <p:nvSpPr>
          <p:cNvPr id="32" name="Text 29"/>
          <p:cNvSpPr/>
          <p:nvPr/>
        </p:nvSpPr>
        <p:spPr>
          <a:xfrm>
            <a:off x="1490472" y="5815584"/>
            <a:ext cx="9171432" cy="219456"/>
          </a:xfrm>
          <a:prstGeom prst="rect">
            <a:avLst/>
          </a:prstGeom>
          <a:noFill/>
          <a:ln/>
        </p:spPr>
        <p:txBody>
          <a:bodyPr wrap="square" lIns="0" tIns="0" rIns="0" bIns="0" rtlCol="0" anchor="ctr">
            <a:normAutofit/>
          </a:bodyPr>
          <a:lstStyle/>
          <a:p>
            <a:pPr indent="0" marL="0">
              <a:buNone/>
            </a:pPr>
            <a:r>
              <a:rPr lang="en-US" sz="1200" b="1" dirty="0">
                <a:solidFill>
                  <a:srgbClr val="EAF6FF"/>
                </a:solidFill>
              </a:rPr>
              <a:t>The buyer sees a defect. PPIQ reveals the path that produced it.</a:t>
            </a:r>
            <a:endParaRPr lang="en-US" sz="1200" dirty="0"/>
          </a:p>
        </p:txBody>
      </p:sp>
      <p:sp>
        <p:nvSpPr>
          <p:cNvPr id="33" name="Text 30"/>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4" name="Text 31"/>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5" name="Text 32"/>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3" name="Shape 1"/>
          <p:cNvSpPr/>
          <p:nvPr/>
        </p:nvSpPr>
        <p:spPr>
          <a:xfrm>
            <a:off x="0" y="0"/>
            <a:ext cx="12191695" cy="6858000"/>
          </a:xfrm>
          <a:prstGeom prst="rect">
            <a:avLst/>
          </a:prstGeom>
          <a:solidFill>
            <a:srgbClr val="050B18"/>
          </a:solidFill>
          <a:ln w="12700">
            <a:solidFill>
              <a:srgbClr val="050B18">
                <a:alpha val="0"/>
              </a:srgbClr>
            </a:solidFill>
            <a:prstDash val="solid"/>
          </a:ln>
        </p:spPr>
      </p:sp>
      <p:sp>
        <p:nvSpPr>
          <p:cNvPr id="4" name="Text 2"/>
          <p:cNvSpPr/>
          <p:nvPr/>
        </p:nvSpPr>
        <p:spPr>
          <a:xfrm>
            <a:off x="502920" y="384048"/>
            <a:ext cx="7040880" cy="228600"/>
          </a:xfrm>
          <a:prstGeom prst="rect">
            <a:avLst/>
          </a:prstGeom>
          <a:noFill/>
          <a:ln/>
        </p:spPr>
        <p:txBody>
          <a:bodyPr wrap="square" lIns="0" tIns="0" rIns="0" bIns="0" rtlCol="0" anchor="ctr"/>
          <a:lstStyle/>
          <a:p>
            <a:pPr indent="0" marL="0">
              <a:buNone/>
            </a:pPr>
            <a:r>
              <a:rPr lang="en-US" sz="850" b="1" dirty="0">
                <a:solidFill>
                  <a:srgbClr val="00D4FF"/>
                </a:solidFill>
              </a:rPr>
              <a:t>LIVE DEMO INSERT</a:t>
            </a:r>
            <a:endParaRPr lang="en-US" sz="850" dirty="0"/>
          </a:p>
        </p:txBody>
      </p:sp>
      <p:sp>
        <p:nvSpPr>
          <p:cNvPr id="5" name="Text 3"/>
          <p:cNvSpPr/>
          <p:nvPr/>
        </p:nvSpPr>
        <p:spPr>
          <a:xfrm>
            <a:off x="502920" y="676656"/>
            <a:ext cx="7040880" cy="822960"/>
          </a:xfrm>
          <a:prstGeom prst="rect">
            <a:avLst/>
          </a:prstGeom>
          <a:noFill/>
          <a:ln/>
        </p:spPr>
        <p:txBody>
          <a:bodyPr wrap="square" lIns="0" tIns="0" rIns="0" bIns="0" rtlCol="0" anchor="ctr">
            <a:normAutofit/>
          </a:bodyPr>
          <a:lstStyle/>
          <a:p>
            <a:pPr indent="0" marL="0">
              <a:buNone/>
            </a:pPr>
            <a:r>
              <a:rPr lang="en-US" sz="2900" b="1" dirty="0">
                <a:solidFill>
                  <a:srgbClr val="EAF6FF"/>
                </a:solidFill>
              </a:rPr>
              <a:t>Material Investigation: the golden thread on screen.</a:t>
            </a:r>
            <a:endParaRPr lang="en-US" sz="2900" dirty="0"/>
          </a:p>
        </p:txBody>
      </p:sp>
      <p:sp>
        <p:nvSpPr>
          <p:cNvPr id="6" name="Text 4"/>
          <p:cNvSpPr/>
          <p:nvPr/>
        </p:nvSpPr>
        <p:spPr>
          <a:xfrm>
            <a:off x="502920" y="1463040"/>
            <a:ext cx="7040880" cy="411480"/>
          </a:xfrm>
          <a:prstGeom prst="rect">
            <a:avLst/>
          </a:prstGeom>
          <a:noFill/>
          <a:ln/>
        </p:spPr>
        <p:txBody>
          <a:bodyPr wrap="square" lIns="0" tIns="0" rIns="0" bIns="0" rtlCol="0" anchor="ctr">
            <a:normAutofit/>
          </a:bodyPr>
          <a:lstStyle/>
          <a:p>
            <a:pPr indent="0" marL="0">
              <a:buNone/>
            </a:pPr>
            <a:r>
              <a:rPr lang="en-US" sz="1200" dirty="0">
                <a:solidFill>
                  <a:srgbClr val="B6C7D9"/>
                </a:solidFill>
              </a:rPr>
              <a:t>Drop your verified screenshot here before the meeting, or use this as the live navigation moment.</a:t>
            </a:r>
            <a:endParaRPr lang="en-US" sz="1200" dirty="0"/>
          </a:p>
        </p:txBody>
      </p:sp>
      <p:sp>
        <p:nvSpPr>
          <p:cNvPr id="7" name="Shape 5"/>
          <p:cNvSpPr/>
          <p:nvPr/>
        </p:nvSpPr>
        <p:spPr>
          <a:xfrm>
            <a:off x="9235440" y="411480"/>
            <a:ext cx="1645920" cy="329184"/>
          </a:xfrm>
          <a:prstGeom prst="roundRect">
            <a:avLst>
              <a:gd name="adj" fmla="val 11111"/>
            </a:avLst>
          </a:prstGeom>
          <a:solidFill>
            <a:srgbClr val="FFB020">
              <a:alpha val="8000"/>
            </a:srgbClr>
          </a:solidFill>
          <a:ln w="8890">
            <a:solidFill>
              <a:srgbClr val="FFB020"/>
            </a:solidFill>
            <a:prstDash val="solid"/>
          </a:ln>
        </p:spPr>
      </p:sp>
      <p:sp>
        <p:nvSpPr>
          <p:cNvPr id="8" name="Text 6"/>
          <p:cNvSpPr/>
          <p:nvPr/>
        </p:nvSpPr>
        <p:spPr>
          <a:xfrm>
            <a:off x="9235440" y="493776"/>
            <a:ext cx="1645920" cy="109728"/>
          </a:xfrm>
          <a:prstGeom prst="rect">
            <a:avLst/>
          </a:prstGeom>
          <a:noFill/>
          <a:ln/>
        </p:spPr>
        <p:txBody>
          <a:bodyPr wrap="square" lIns="0" tIns="0" rIns="0" bIns="0" rtlCol="0" anchor="ctr"/>
          <a:lstStyle/>
          <a:p>
            <a:pPr algn="ctr" indent="0" marL="0">
              <a:buNone/>
            </a:pPr>
            <a:r>
              <a:rPr lang="en-US" sz="580" b="1" dirty="0">
                <a:solidFill>
                  <a:srgbClr val="FFB020"/>
                </a:solidFill>
              </a:rPr>
              <a:t>SCREENSHOT SLOT</a:t>
            </a:r>
            <a:endParaRPr lang="en-US" sz="580" dirty="0"/>
          </a:p>
        </p:txBody>
      </p:sp>
      <p:sp>
        <p:nvSpPr>
          <p:cNvPr id="9" name="Shape 7"/>
          <p:cNvSpPr/>
          <p:nvPr/>
        </p:nvSpPr>
        <p:spPr>
          <a:xfrm>
            <a:off x="685800" y="1508760"/>
            <a:ext cx="10835640" cy="4526280"/>
          </a:xfrm>
          <a:prstGeom prst="roundRect">
            <a:avLst>
              <a:gd name="adj" fmla="val 1616"/>
            </a:avLst>
          </a:prstGeom>
          <a:solidFill>
            <a:srgbClr val="0B1730">
              <a:alpha val="98000"/>
            </a:srgbClr>
          </a:solidFill>
          <a:ln w="15240">
            <a:solidFill>
              <a:srgbClr val="00D4FF">
                <a:alpha val="95000"/>
              </a:srgbClr>
            </a:solidFill>
            <a:prstDash val="solid"/>
          </a:ln>
          <a:effectLst>
            <a:outerShdw sx="100000" sy="100000" kx="0" ky="0" algn="bl" rotWithShape="0" blurRad="25400" dist="50800" dir="2700000">
              <a:srgbClr val="00D4FF">
                <a:alpha val="18000"/>
              </a:srgbClr>
            </a:outerShdw>
          </a:effectLst>
        </p:spPr>
      </p:sp>
      <p:sp>
        <p:nvSpPr>
          <p:cNvPr id="10" name="Shape 8"/>
          <p:cNvSpPr/>
          <p:nvPr/>
        </p:nvSpPr>
        <p:spPr>
          <a:xfrm>
            <a:off x="685800" y="1508760"/>
            <a:ext cx="10835640" cy="329184"/>
          </a:xfrm>
          <a:prstGeom prst="rect">
            <a:avLst/>
          </a:prstGeom>
          <a:solidFill>
            <a:srgbClr val="0E203B"/>
          </a:solidFill>
          <a:ln w="12700">
            <a:solidFill>
              <a:srgbClr val="0E203B">
                <a:alpha val="0"/>
              </a:srgbClr>
            </a:solidFill>
            <a:prstDash val="solid"/>
          </a:ln>
        </p:spPr>
      </p:sp>
      <p:sp>
        <p:nvSpPr>
          <p:cNvPr id="11" name="Text 9"/>
          <p:cNvSpPr/>
          <p:nvPr/>
        </p:nvSpPr>
        <p:spPr>
          <a:xfrm>
            <a:off x="868680" y="1627632"/>
            <a:ext cx="3108960" cy="82296"/>
          </a:xfrm>
          <a:prstGeom prst="rect">
            <a:avLst/>
          </a:prstGeom>
          <a:noFill/>
          <a:ln/>
        </p:spPr>
        <p:txBody>
          <a:bodyPr wrap="square" lIns="0" tIns="0" rIns="0" bIns="0" rtlCol="0" anchor="ctr"/>
          <a:lstStyle/>
          <a:p>
            <a:pPr indent="0" marL="0">
              <a:buNone/>
            </a:pPr>
            <a:r>
              <a:rPr lang="en-US" sz="650" b="1" dirty="0">
                <a:solidFill>
                  <a:srgbClr val="8EA7C1"/>
                </a:solidFill>
              </a:rPr>
              <a:t>MATERIAL INVESTIGATION / GENEALOGY UI</a:t>
            </a:r>
            <a:endParaRPr lang="en-US" sz="650" dirty="0"/>
          </a:p>
        </p:txBody>
      </p:sp>
      <p:sp>
        <p:nvSpPr>
          <p:cNvPr id="12" name="Text 10"/>
          <p:cNvSpPr/>
          <p:nvPr/>
        </p:nvSpPr>
        <p:spPr>
          <a:xfrm>
            <a:off x="11064240" y="1609344"/>
            <a:ext cx="182880" cy="82296"/>
          </a:xfrm>
          <a:prstGeom prst="rect">
            <a:avLst/>
          </a:prstGeom>
          <a:noFill/>
          <a:ln/>
        </p:spPr>
        <p:txBody>
          <a:bodyPr wrap="square" lIns="0" tIns="0" rIns="0" bIns="0" rtlCol="0" anchor="ctr"/>
          <a:lstStyle/>
          <a:p>
            <a:pPr algn="ctr" indent="0" marL="0">
              <a:buNone/>
            </a:pPr>
            <a:r>
              <a:rPr lang="en-US" sz="1200" b="1" dirty="0">
                <a:solidFill>
                  <a:srgbClr val="00D4FF"/>
                </a:solidFill>
              </a:rPr>
              <a:t>+</a:t>
            </a:r>
            <a:endParaRPr lang="en-US" sz="1200" dirty="0"/>
          </a:p>
        </p:txBody>
      </p:sp>
      <p:sp>
        <p:nvSpPr>
          <p:cNvPr id="13" name="Text 11"/>
          <p:cNvSpPr/>
          <p:nvPr/>
        </p:nvSpPr>
        <p:spPr>
          <a:xfrm>
            <a:off x="868680" y="3154680"/>
            <a:ext cx="10424160" cy="320040"/>
          </a:xfrm>
          <a:prstGeom prst="rect">
            <a:avLst/>
          </a:prstGeom>
          <a:noFill/>
          <a:ln/>
        </p:spPr>
        <p:txBody>
          <a:bodyPr wrap="square" lIns="0" tIns="0" rIns="0" bIns="0" rtlCol="0" anchor="ctr"/>
          <a:lstStyle/>
          <a:p>
            <a:pPr algn="ctr" indent="0" marL="0">
              <a:buNone/>
            </a:pPr>
            <a:r>
              <a:rPr lang="en-US" sz="2200" b="1" dirty="0">
                <a:solidFill>
                  <a:srgbClr val="EAF6FF"/>
                </a:solidFill>
              </a:rPr>
              <a:t>DROP LIVE SCREENSHOT HERE</a:t>
            </a:r>
            <a:endParaRPr lang="en-US" sz="2200" dirty="0"/>
          </a:p>
        </p:txBody>
      </p:sp>
      <p:sp>
        <p:nvSpPr>
          <p:cNvPr id="14" name="Text 12"/>
          <p:cNvSpPr/>
          <p:nvPr/>
        </p:nvSpPr>
        <p:spPr>
          <a:xfrm>
            <a:off x="1463040" y="3749040"/>
            <a:ext cx="9144000" cy="256032"/>
          </a:xfrm>
          <a:prstGeom prst="rect">
            <a:avLst/>
          </a:prstGeom>
          <a:noFill/>
          <a:ln/>
        </p:spPr>
        <p:txBody>
          <a:bodyPr wrap="square" lIns="0" tIns="0" rIns="0" bIns="0" rtlCol="0" anchor="ctr">
            <a:normAutofit/>
          </a:bodyPr>
          <a:lstStyle/>
          <a:p>
            <a:pPr algn="ctr" indent="0" marL="0">
              <a:buNone/>
            </a:pPr>
            <a:r>
              <a:rPr lang="en-US" sz="1050" dirty="0">
                <a:solidFill>
                  <a:srgbClr val="2CE6A2"/>
                </a:solidFill>
              </a:rPr>
              <a:t>Expected view: search C-700394 → Heat H-26014 → Slab SL-60105 → Coil → CRACK_LONG evidence</a:t>
            </a:r>
            <a:endParaRPr lang="en-US" sz="1050" dirty="0"/>
          </a:p>
        </p:txBody>
      </p:sp>
      <p:sp>
        <p:nvSpPr>
          <p:cNvPr id="15" name="Text 13"/>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16" name="Text 14"/>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17" name="Text 15"/>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3" name="Shape 1"/>
          <p:cNvSpPr/>
          <p:nvPr/>
        </p:nvSpPr>
        <p:spPr>
          <a:xfrm>
            <a:off x="0" y="0"/>
            <a:ext cx="12191695" cy="6858000"/>
          </a:xfrm>
          <a:prstGeom prst="rect">
            <a:avLst/>
          </a:prstGeom>
          <a:solidFill>
            <a:srgbClr val="050B18"/>
          </a:solidFill>
          <a:ln w="12700">
            <a:solidFill>
              <a:srgbClr val="050B18">
                <a:alpha val="0"/>
              </a:srgbClr>
            </a:solidFill>
            <a:prstDash val="solid"/>
          </a:ln>
        </p:spPr>
      </p:sp>
      <p:sp>
        <p:nvSpPr>
          <p:cNvPr id="4" name="Text 2"/>
          <p:cNvSpPr/>
          <p:nvPr/>
        </p:nvSpPr>
        <p:spPr>
          <a:xfrm>
            <a:off x="502920" y="411480"/>
            <a:ext cx="6949440" cy="228600"/>
          </a:xfrm>
          <a:prstGeom prst="rect">
            <a:avLst/>
          </a:prstGeom>
          <a:noFill/>
          <a:ln/>
        </p:spPr>
        <p:txBody>
          <a:bodyPr wrap="square" lIns="0" tIns="0" rIns="0" bIns="0" rtlCol="0" anchor="ctr"/>
          <a:lstStyle/>
          <a:p>
            <a:pPr indent="0" marL="0">
              <a:buNone/>
            </a:pPr>
            <a:r>
              <a:rPr lang="en-US" sz="850" b="1" dirty="0">
                <a:solidFill>
                  <a:srgbClr val="00D4FF"/>
                </a:solidFill>
              </a:rPr>
              <a:t>ACT 3 · THE TRIAL</a:t>
            </a:r>
            <a:endParaRPr lang="en-US" sz="850" dirty="0"/>
          </a:p>
        </p:txBody>
      </p:sp>
      <p:sp>
        <p:nvSpPr>
          <p:cNvPr id="5" name="Text 3"/>
          <p:cNvSpPr/>
          <p:nvPr/>
        </p:nvSpPr>
        <p:spPr>
          <a:xfrm>
            <a:off x="502920" y="704088"/>
            <a:ext cx="694944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Evidence, not AI guesswork.</a:t>
            </a:r>
            <a:endParaRPr lang="en-US" sz="3000" dirty="0"/>
          </a:p>
        </p:txBody>
      </p:sp>
      <p:sp>
        <p:nvSpPr>
          <p:cNvPr id="6" name="Text 4"/>
          <p:cNvSpPr/>
          <p:nvPr/>
        </p:nvSpPr>
        <p:spPr>
          <a:xfrm>
            <a:off x="502920" y="1490472"/>
            <a:ext cx="694944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The process is put on trial by deterministic statistics. The assistant explains; it does not invent.</a:t>
            </a:r>
            <a:endParaRPr lang="en-US" sz="1250" dirty="0"/>
          </a:p>
        </p:txBody>
      </p:sp>
      <p:sp>
        <p:nvSpPr>
          <p:cNvPr id="7" name="Shape 5"/>
          <p:cNvSpPr/>
          <p:nvPr/>
        </p:nvSpPr>
        <p:spPr>
          <a:xfrm>
            <a:off x="9326880" y="411480"/>
            <a:ext cx="1600200" cy="329184"/>
          </a:xfrm>
          <a:prstGeom prst="roundRect">
            <a:avLst>
              <a:gd name="adj" fmla="val 11111"/>
            </a:avLst>
          </a:prstGeom>
          <a:solidFill>
            <a:srgbClr val="FFB020">
              <a:alpha val="8000"/>
            </a:srgbClr>
          </a:solidFill>
          <a:ln w="8890">
            <a:solidFill>
              <a:srgbClr val="FFB020"/>
            </a:solidFill>
            <a:prstDash val="solid"/>
          </a:ln>
        </p:spPr>
      </p:sp>
      <p:sp>
        <p:nvSpPr>
          <p:cNvPr id="8" name="Text 6"/>
          <p:cNvSpPr/>
          <p:nvPr/>
        </p:nvSpPr>
        <p:spPr>
          <a:xfrm>
            <a:off x="9326880" y="493776"/>
            <a:ext cx="1600200" cy="109728"/>
          </a:xfrm>
          <a:prstGeom prst="rect">
            <a:avLst/>
          </a:prstGeom>
          <a:noFill/>
          <a:ln/>
        </p:spPr>
        <p:txBody>
          <a:bodyPr wrap="square" lIns="0" tIns="0" rIns="0" bIns="0" rtlCol="0" anchor="ctr"/>
          <a:lstStyle/>
          <a:p>
            <a:pPr algn="ctr" indent="0" marL="0">
              <a:buNone/>
            </a:pPr>
            <a:r>
              <a:rPr lang="en-US" sz="580" b="1" dirty="0">
                <a:solidFill>
                  <a:srgbClr val="FFB020"/>
                </a:solidFill>
              </a:rPr>
              <a:t>NO AI THEATER</a:t>
            </a:r>
            <a:endParaRPr lang="en-US" sz="580" dirty="0"/>
          </a:p>
        </p:txBody>
      </p:sp>
      <p:sp>
        <p:nvSpPr>
          <p:cNvPr id="9" name="Shape 7"/>
          <p:cNvSpPr/>
          <p:nvPr/>
        </p:nvSpPr>
        <p:spPr>
          <a:xfrm>
            <a:off x="777240" y="1828800"/>
            <a:ext cx="3931920" cy="3291840"/>
          </a:xfrm>
          <a:prstGeom prst="roundRect">
            <a:avLst>
              <a:gd name="adj" fmla="val 2222"/>
            </a:avLst>
          </a:prstGeom>
          <a:solidFill>
            <a:srgbClr val="0B1730">
              <a:alpha val="97000"/>
            </a:srgbClr>
          </a:solidFill>
          <a:ln w="15240">
            <a:solidFill>
              <a:srgbClr val="2CE6A2"/>
            </a:solidFill>
            <a:prstDash val="solid"/>
          </a:ln>
        </p:spPr>
      </p:sp>
      <p:sp>
        <p:nvSpPr>
          <p:cNvPr id="10" name="Text 8"/>
          <p:cNvSpPr/>
          <p:nvPr/>
        </p:nvSpPr>
        <p:spPr>
          <a:xfrm>
            <a:off x="1051560" y="2121408"/>
            <a:ext cx="3383280" cy="182880"/>
          </a:xfrm>
          <a:prstGeom prst="rect">
            <a:avLst/>
          </a:prstGeom>
          <a:noFill/>
          <a:ln/>
        </p:spPr>
        <p:txBody>
          <a:bodyPr wrap="square" lIns="0" tIns="0" rIns="0" bIns="0" rtlCol="0" anchor="ctr"/>
          <a:lstStyle/>
          <a:p>
            <a:pPr algn="ctr" indent="0" marL="0">
              <a:buNone/>
            </a:pPr>
            <a:r>
              <a:rPr lang="en-US" sz="1500" b="1" dirty="0">
                <a:solidFill>
                  <a:srgbClr val="2CE6A2"/>
                </a:solidFill>
              </a:rPr>
              <a:t>DETERMINISTIC ENGINE</a:t>
            </a:r>
            <a:endParaRPr lang="en-US" sz="1500" dirty="0"/>
          </a:p>
        </p:txBody>
      </p:sp>
      <p:sp>
        <p:nvSpPr>
          <p:cNvPr id="11" name="Shape 9"/>
          <p:cNvSpPr/>
          <p:nvPr/>
        </p:nvSpPr>
        <p:spPr>
          <a:xfrm>
            <a:off x="1234440" y="2651760"/>
            <a:ext cx="3017520" cy="310896"/>
          </a:xfrm>
          <a:prstGeom prst="roundRect">
            <a:avLst>
              <a:gd name="adj" fmla="val 11765"/>
            </a:avLst>
          </a:prstGeom>
          <a:solidFill>
            <a:srgbClr val="2CE6A2">
              <a:alpha val="10000"/>
            </a:srgbClr>
          </a:solidFill>
          <a:ln w="7620">
            <a:solidFill>
              <a:srgbClr val="2CE6A2">
                <a:alpha val="90000"/>
              </a:srgbClr>
            </a:solidFill>
            <a:prstDash val="solid"/>
          </a:ln>
        </p:spPr>
      </p:sp>
      <p:sp>
        <p:nvSpPr>
          <p:cNvPr id="12" name="Text 10"/>
          <p:cNvSpPr/>
          <p:nvPr/>
        </p:nvSpPr>
        <p:spPr>
          <a:xfrm>
            <a:off x="1289304" y="2734056"/>
            <a:ext cx="2907792"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Population</a:t>
            </a:r>
            <a:endParaRPr lang="en-US" sz="650" dirty="0"/>
          </a:p>
        </p:txBody>
      </p:sp>
      <p:sp>
        <p:nvSpPr>
          <p:cNvPr id="13" name="Shape 11"/>
          <p:cNvSpPr/>
          <p:nvPr/>
        </p:nvSpPr>
        <p:spPr>
          <a:xfrm>
            <a:off x="1234440" y="3035808"/>
            <a:ext cx="3017520" cy="310896"/>
          </a:xfrm>
          <a:prstGeom prst="roundRect">
            <a:avLst>
              <a:gd name="adj" fmla="val 11765"/>
            </a:avLst>
          </a:prstGeom>
          <a:solidFill>
            <a:srgbClr val="2CE6A2">
              <a:alpha val="10000"/>
            </a:srgbClr>
          </a:solidFill>
          <a:ln w="7620">
            <a:solidFill>
              <a:srgbClr val="2CE6A2">
                <a:alpha val="90000"/>
              </a:srgbClr>
            </a:solidFill>
            <a:prstDash val="solid"/>
          </a:ln>
        </p:spPr>
      </p:sp>
      <p:sp>
        <p:nvSpPr>
          <p:cNvPr id="14" name="Text 12"/>
          <p:cNvSpPr/>
          <p:nvPr/>
        </p:nvSpPr>
        <p:spPr>
          <a:xfrm>
            <a:off x="1289304" y="3118104"/>
            <a:ext cx="2907792"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Method</a:t>
            </a:r>
            <a:endParaRPr lang="en-US" sz="650" dirty="0"/>
          </a:p>
        </p:txBody>
      </p:sp>
      <p:sp>
        <p:nvSpPr>
          <p:cNvPr id="15" name="Shape 13"/>
          <p:cNvSpPr/>
          <p:nvPr/>
        </p:nvSpPr>
        <p:spPr>
          <a:xfrm>
            <a:off x="1234440" y="3419856"/>
            <a:ext cx="3017520" cy="310896"/>
          </a:xfrm>
          <a:prstGeom prst="roundRect">
            <a:avLst>
              <a:gd name="adj" fmla="val 11765"/>
            </a:avLst>
          </a:prstGeom>
          <a:solidFill>
            <a:srgbClr val="2CE6A2">
              <a:alpha val="10000"/>
            </a:srgbClr>
          </a:solidFill>
          <a:ln w="7620">
            <a:solidFill>
              <a:srgbClr val="2CE6A2">
                <a:alpha val="90000"/>
              </a:srgbClr>
            </a:solidFill>
            <a:prstDash val="solid"/>
          </a:ln>
        </p:spPr>
      </p:sp>
      <p:sp>
        <p:nvSpPr>
          <p:cNvPr id="16" name="Text 14"/>
          <p:cNvSpPr/>
          <p:nvPr/>
        </p:nvSpPr>
        <p:spPr>
          <a:xfrm>
            <a:off x="1289304" y="3502152"/>
            <a:ext cx="2907792"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Effect size</a:t>
            </a:r>
            <a:endParaRPr lang="en-US" sz="650" dirty="0"/>
          </a:p>
        </p:txBody>
      </p:sp>
      <p:sp>
        <p:nvSpPr>
          <p:cNvPr id="17" name="Shape 15"/>
          <p:cNvSpPr/>
          <p:nvPr/>
        </p:nvSpPr>
        <p:spPr>
          <a:xfrm>
            <a:off x="1234440" y="3803904"/>
            <a:ext cx="3017520" cy="310896"/>
          </a:xfrm>
          <a:prstGeom prst="roundRect">
            <a:avLst>
              <a:gd name="adj" fmla="val 11765"/>
            </a:avLst>
          </a:prstGeom>
          <a:solidFill>
            <a:srgbClr val="2CE6A2">
              <a:alpha val="10000"/>
            </a:srgbClr>
          </a:solidFill>
          <a:ln w="7620">
            <a:solidFill>
              <a:srgbClr val="2CE6A2">
                <a:alpha val="90000"/>
              </a:srgbClr>
            </a:solidFill>
            <a:prstDash val="solid"/>
          </a:ln>
        </p:spPr>
      </p:sp>
      <p:sp>
        <p:nvSpPr>
          <p:cNvPr id="18" name="Text 16"/>
          <p:cNvSpPr/>
          <p:nvPr/>
        </p:nvSpPr>
        <p:spPr>
          <a:xfrm>
            <a:off x="1289304" y="3886200"/>
            <a:ext cx="2907792"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FDR q-value</a:t>
            </a:r>
            <a:endParaRPr lang="en-US" sz="650" dirty="0"/>
          </a:p>
        </p:txBody>
      </p:sp>
      <p:sp>
        <p:nvSpPr>
          <p:cNvPr id="19" name="Shape 17"/>
          <p:cNvSpPr/>
          <p:nvPr/>
        </p:nvSpPr>
        <p:spPr>
          <a:xfrm>
            <a:off x="1234440" y="4187952"/>
            <a:ext cx="3017520" cy="310896"/>
          </a:xfrm>
          <a:prstGeom prst="roundRect">
            <a:avLst>
              <a:gd name="adj" fmla="val 11765"/>
            </a:avLst>
          </a:prstGeom>
          <a:solidFill>
            <a:srgbClr val="2CE6A2">
              <a:alpha val="10000"/>
            </a:srgbClr>
          </a:solidFill>
          <a:ln w="7620">
            <a:solidFill>
              <a:srgbClr val="2CE6A2">
                <a:alpha val="90000"/>
              </a:srgbClr>
            </a:solidFill>
            <a:prstDash val="solid"/>
          </a:ln>
        </p:spPr>
      </p:sp>
      <p:sp>
        <p:nvSpPr>
          <p:cNvPr id="20" name="Text 18"/>
          <p:cNvSpPr/>
          <p:nvPr/>
        </p:nvSpPr>
        <p:spPr>
          <a:xfrm>
            <a:off x="1289304" y="4270248"/>
            <a:ext cx="2907792" cy="91440"/>
          </a:xfrm>
          <a:prstGeom prst="rect">
            <a:avLst/>
          </a:prstGeom>
          <a:noFill/>
          <a:ln/>
        </p:spPr>
        <p:txBody>
          <a:bodyPr wrap="square" lIns="0" tIns="0" rIns="0" bIns="0" rtlCol="0" anchor="ctr">
            <a:normAutofit/>
          </a:bodyPr>
          <a:lstStyle/>
          <a:p>
            <a:pPr algn="ctr" indent="0" marL="0">
              <a:buNone/>
            </a:pPr>
            <a:r>
              <a:rPr lang="en-US" sz="650" b="1" dirty="0">
                <a:solidFill>
                  <a:srgbClr val="2CE6A2"/>
                </a:solidFill>
              </a:rPr>
              <a:t>Evidence handle</a:t>
            </a:r>
            <a:endParaRPr lang="en-US" sz="650" dirty="0"/>
          </a:p>
        </p:txBody>
      </p:sp>
      <p:sp>
        <p:nvSpPr>
          <p:cNvPr id="21" name="Shape 19"/>
          <p:cNvSpPr/>
          <p:nvPr/>
        </p:nvSpPr>
        <p:spPr>
          <a:xfrm>
            <a:off x="7452360" y="1828800"/>
            <a:ext cx="3931920" cy="3291840"/>
          </a:xfrm>
          <a:prstGeom prst="roundRect">
            <a:avLst>
              <a:gd name="adj" fmla="val 2222"/>
            </a:avLst>
          </a:prstGeom>
          <a:solidFill>
            <a:srgbClr val="0B1730">
              <a:alpha val="97000"/>
            </a:srgbClr>
          </a:solidFill>
          <a:ln w="15240">
            <a:solidFill>
              <a:srgbClr val="00D4FF"/>
            </a:solidFill>
            <a:prstDash val="solid"/>
          </a:ln>
        </p:spPr>
      </p:sp>
      <p:sp>
        <p:nvSpPr>
          <p:cNvPr id="22" name="Text 20"/>
          <p:cNvSpPr/>
          <p:nvPr/>
        </p:nvSpPr>
        <p:spPr>
          <a:xfrm>
            <a:off x="7754112" y="2121408"/>
            <a:ext cx="3383280" cy="182880"/>
          </a:xfrm>
          <a:prstGeom prst="rect">
            <a:avLst/>
          </a:prstGeom>
          <a:noFill/>
          <a:ln/>
        </p:spPr>
        <p:txBody>
          <a:bodyPr wrap="square" lIns="0" tIns="0" rIns="0" bIns="0" rtlCol="0" anchor="ctr"/>
          <a:lstStyle/>
          <a:p>
            <a:pPr algn="ctr" indent="0" marL="0">
              <a:buNone/>
            </a:pPr>
            <a:r>
              <a:rPr lang="en-US" sz="1500" b="1" dirty="0">
                <a:solidFill>
                  <a:srgbClr val="00D4FF"/>
                </a:solidFill>
              </a:rPr>
              <a:t>GROUNDED ASSISTANT</a:t>
            </a:r>
            <a:endParaRPr lang="en-US" sz="1500" dirty="0"/>
          </a:p>
        </p:txBody>
      </p:sp>
      <p:sp>
        <p:nvSpPr>
          <p:cNvPr id="23" name="Shape 21"/>
          <p:cNvSpPr/>
          <p:nvPr/>
        </p:nvSpPr>
        <p:spPr>
          <a:xfrm>
            <a:off x="7936992" y="2697480"/>
            <a:ext cx="2971800" cy="310896"/>
          </a:xfrm>
          <a:prstGeom prst="roundRect">
            <a:avLst>
              <a:gd name="adj" fmla="val 11765"/>
            </a:avLst>
          </a:prstGeom>
          <a:solidFill>
            <a:srgbClr val="00D4FF">
              <a:alpha val="10000"/>
            </a:srgbClr>
          </a:solidFill>
          <a:ln w="7620">
            <a:solidFill>
              <a:srgbClr val="00D4FF">
                <a:alpha val="90000"/>
              </a:srgbClr>
            </a:solidFill>
            <a:prstDash val="solid"/>
          </a:ln>
        </p:spPr>
      </p:sp>
      <p:sp>
        <p:nvSpPr>
          <p:cNvPr id="24" name="Text 22"/>
          <p:cNvSpPr/>
          <p:nvPr/>
        </p:nvSpPr>
        <p:spPr>
          <a:xfrm>
            <a:off x="7991856" y="2779776"/>
            <a:ext cx="2862072"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Reads approved evidence</a:t>
            </a:r>
            <a:endParaRPr lang="en-US" sz="650" dirty="0"/>
          </a:p>
        </p:txBody>
      </p:sp>
      <p:sp>
        <p:nvSpPr>
          <p:cNvPr id="25" name="Shape 23"/>
          <p:cNvSpPr/>
          <p:nvPr/>
        </p:nvSpPr>
        <p:spPr>
          <a:xfrm>
            <a:off x="7936992" y="3118104"/>
            <a:ext cx="2971800" cy="310896"/>
          </a:xfrm>
          <a:prstGeom prst="roundRect">
            <a:avLst>
              <a:gd name="adj" fmla="val 11765"/>
            </a:avLst>
          </a:prstGeom>
          <a:solidFill>
            <a:srgbClr val="00D4FF">
              <a:alpha val="10000"/>
            </a:srgbClr>
          </a:solidFill>
          <a:ln w="7620">
            <a:solidFill>
              <a:srgbClr val="00D4FF">
                <a:alpha val="90000"/>
              </a:srgbClr>
            </a:solidFill>
            <a:prstDash val="solid"/>
          </a:ln>
        </p:spPr>
      </p:sp>
      <p:sp>
        <p:nvSpPr>
          <p:cNvPr id="26" name="Text 24"/>
          <p:cNvSpPr/>
          <p:nvPr/>
        </p:nvSpPr>
        <p:spPr>
          <a:xfrm>
            <a:off x="7991856" y="3200400"/>
            <a:ext cx="2862072"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Explains in plain language</a:t>
            </a:r>
            <a:endParaRPr lang="en-US" sz="650" dirty="0"/>
          </a:p>
        </p:txBody>
      </p:sp>
      <p:sp>
        <p:nvSpPr>
          <p:cNvPr id="27" name="Shape 25"/>
          <p:cNvSpPr/>
          <p:nvPr/>
        </p:nvSpPr>
        <p:spPr>
          <a:xfrm>
            <a:off x="7936992" y="3538728"/>
            <a:ext cx="2971800" cy="310896"/>
          </a:xfrm>
          <a:prstGeom prst="roundRect">
            <a:avLst>
              <a:gd name="adj" fmla="val 11765"/>
            </a:avLst>
          </a:prstGeom>
          <a:solidFill>
            <a:srgbClr val="00D4FF">
              <a:alpha val="10000"/>
            </a:srgbClr>
          </a:solidFill>
          <a:ln w="7620">
            <a:solidFill>
              <a:srgbClr val="00D4FF">
                <a:alpha val="90000"/>
              </a:srgbClr>
            </a:solidFill>
            <a:prstDash val="solid"/>
          </a:ln>
        </p:spPr>
      </p:sp>
      <p:sp>
        <p:nvSpPr>
          <p:cNvPr id="28" name="Text 26"/>
          <p:cNvSpPr/>
          <p:nvPr/>
        </p:nvSpPr>
        <p:spPr>
          <a:xfrm>
            <a:off x="7991856" y="3621024"/>
            <a:ext cx="2862072"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Cites findings and jobs</a:t>
            </a:r>
            <a:endParaRPr lang="en-US" sz="650" dirty="0"/>
          </a:p>
        </p:txBody>
      </p:sp>
      <p:sp>
        <p:nvSpPr>
          <p:cNvPr id="29" name="Shape 27"/>
          <p:cNvSpPr/>
          <p:nvPr/>
        </p:nvSpPr>
        <p:spPr>
          <a:xfrm>
            <a:off x="7936992" y="3959352"/>
            <a:ext cx="2971800" cy="310896"/>
          </a:xfrm>
          <a:prstGeom prst="roundRect">
            <a:avLst>
              <a:gd name="adj" fmla="val 11765"/>
            </a:avLst>
          </a:prstGeom>
          <a:solidFill>
            <a:srgbClr val="00D4FF">
              <a:alpha val="10000"/>
            </a:srgbClr>
          </a:solidFill>
          <a:ln w="7620">
            <a:solidFill>
              <a:srgbClr val="00D4FF">
                <a:alpha val="90000"/>
              </a:srgbClr>
            </a:solidFill>
            <a:prstDash val="solid"/>
          </a:ln>
        </p:spPr>
      </p:sp>
      <p:sp>
        <p:nvSpPr>
          <p:cNvPr id="30" name="Text 28"/>
          <p:cNvSpPr/>
          <p:nvPr/>
        </p:nvSpPr>
        <p:spPr>
          <a:xfrm>
            <a:off x="7991856" y="4041648"/>
            <a:ext cx="2862072" cy="91440"/>
          </a:xfrm>
          <a:prstGeom prst="rect">
            <a:avLst/>
          </a:prstGeom>
          <a:noFill/>
          <a:ln/>
        </p:spPr>
        <p:txBody>
          <a:bodyPr wrap="square" lIns="0" tIns="0" rIns="0" bIns="0" rtlCol="0" anchor="ctr">
            <a:normAutofit/>
          </a:bodyPr>
          <a:lstStyle/>
          <a:p>
            <a:pPr algn="ctr" indent="0" marL="0">
              <a:buNone/>
            </a:pPr>
            <a:r>
              <a:rPr lang="en-US" sz="650" b="1" dirty="0">
                <a:solidFill>
                  <a:srgbClr val="00D4FF"/>
                </a:solidFill>
              </a:rPr>
              <a:t>Refuses unsupported claims</a:t>
            </a:r>
            <a:endParaRPr lang="en-US" sz="650" dirty="0"/>
          </a:p>
        </p:txBody>
      </p:sp>
      <p:sp>
        <p:nvSpPr>
          <p:cNvPr id="31" name="Shape 29"/>
          <p:cNvSpPr/>
          <p:nvPr/>
        </p:nvSpPr>
        <p:spPr>
          <a:xfrm>
            <a:off x="5166360" y="2880360"/>
            <a:ext cx="1783080" cy="1097280"/>
          </a:xfrm>
          <a:prstGeom prst="chevron">
            <a:avLst/>
          </a:prstGeom>
          <a:solidFill>
            <a:srgbClr val="2CE6A2">
              <a:alpha val="85000"/>
            </a:srgbClr>
          </a:solidFill>
          <a:ln w="12700">
            <a:solidFill>
              <a:srgbClr val="2CE6A2">
                <a:alpha val="0"/>
              </a:srgbClr>
            </a:solidFill>
            <a:prstDash val="solid"/>
          </a:ln>
        </p:spPr>
      </p:sp>
      <p:sp>
        <p:nvSpPr>
          <p:cNvPr id="32" name="Text 30"/>
          <p:cNvSpPr/>
          <p:nvPr/>
        </p:nvSpPr>
        <p:spPr>
          <a:xfrm>
            <a:off x="5257800" y="3127248"/>
            <a:ext cx="1554480" cy="320040"/>
          </a:xfrm>
          <a:prstGeom prst="rect">
            <a:avLst/>
          </a:prstGeom>
          <a:noFill/>
          <a:ln/>
        </p:spPr>
        <p:txBody>
          <a:bodyPr wrap="square" lIns="0" tIns="0" rIns="0" bIns="0" rtlCol="0" anchor="ctr"/>
          <a:lstStyle/>
          <a:p>
            <a:pPr algn="ctr" indent="0" marL="0">
              <a:buNone/>
            </a:pPr>
            <a:r>
              <a:rPr lang="en-US" sz="1500" b="1" dirty="0">
                <a:solidFill>
                  <a:srgbClr val="EAF6FF"/>
                </a:solidFill>
              </a:rPr>
              <a:t>EVIDENCE</a:t>
            </a:r>
            <a:endParaRPr lang="en-US" sz="1500" dirty="0"/>
          </a:p>
          <a:p>
            <a:pPr algn="ctr" indent="0" marL="0">
              <a:buNone/>
            </a:pPr>
            <a:r>
              <a:rPr lang="en-US" sz="1500" b="1" dirty="0">
                <a:solidFill>
                  <a:srgbClr val="EAF6FF"/>
                </a:solidFill>
              </a:rPr>
              <a:t>STORE</a:t>
            </a:r>
            <a:endParaRPr lang="en-US" sz="1500" dirty="0"/>
          </a:p>
        </p:txBody>
      </p:sp>
      <p:sp>
        <p:nvSpPr>
          <p:cNvPr id="33" name="Text 31"/>
          <p:cNvSpPr/>
          <p:nvPr/>
        </p:nvSpPr>
        <p:spPr>
          <a:xfrm>
            <a:off x="1828800" y="5760720"/>
            <a:ext cx="8549640" cy="301752"/>
          </a:xfrm>
          <a:prstGeom prst="rect">
            <a:avLst/>
          </a:prstGeom>
          <a:noFill/>
          <a:ln/>
        </p:spPr>
        <p:txBody>
          <a:bodyPr wrap="square" lIns="0" tIns="0" rIns="0" bIns="0" rtlCol="0" anchor="ctr"/>
          <a:lstStyle/>
          <a:p>
            <a:pPr algn="ctr" indent="0" marL="0">
              <a:buNone/>
            </a:pPr>
            <a:r>
              <a:rPr lang="en-US" sz="1800" b="1" dirty="0">
                <a:solidFill>
                  <a:srgbClr val="EAF6FF"/>
                </a:solidFill>
              </a:rPr>
              <a:t>The model explains. The engine computes.</a:t>
            </a:r>
            <a:endParaRPr lang="en-US" sz="1800" dirty="0"/>
          </a:p>
        </p:txBody>
      </p:sp>
      <p:sp>
        <p:nvSpPr>
          <p:cNvPr id="34" name="Text 32"/>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5" name="Text 33"/>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6" name="Text 34"/>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B18"/>
        </a:solidFill>
      </p:bgPr>
    </p:bg>
    <p:spTree>
      <p:nvGrpSpPr>
        <p:cNvPr id="1" name=""/>
        <p:cNvGrpSpPr/>
        <p:nvPr/>
      </p:nvGrpSpPr>
      <p:grpSpPr>
        <a:xfrm>
          <a:off x="0" y="0"/>
          <a:ext cx="0" cy="0"/>
          <a:chOff x="0" y="0"/>
          <a:chExt cx="0" cy="0"/>
        </a:xfrm>
      </p:grpSpPr>
      <p:pic>
        <p:nvPicPr>
          <p:cNvPr id="2" name="Image 0" descr="/mnt/data/a_sleek_futuristic_data_visualization_control_roo_batch_4.png">    </p:cNvPr>
          <p:cNvPicPr>
            <a:picLocks noChangeAspect="1"/>
          </p:cNvPicPr>
          <p:nvPr/>
        </p:nvPicPr>
        <p:blipFill>
          <a:blip r:embed="rId1"/>
          <a:srcRect l="15000" r="-150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50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Shape 2"/>
          <p:cNvSpPr/>
          <p:nvPr/>
        </p:nvSpPr>
        <p:spPr>
          <a:xfrm>
            <a:off x="0" y="0"/>
            <a:ext cx="12191695" cy="6858000"/>
          </a:xfrm>
          <a:prstGeom prst="rect">
            <a:avLst/>
          </a:prstGeom>
          <a:solidFill>
            <a:srgbClr val="050B18">
              <a:alpha val="65000"/>
            </a:srgbClr>
          </a:solidFill>
          <a:ln w="12700">
            <a:solidFill>
              <a:srgbClr val="050B18">
                <a:alpha val="0"/>
              </a:srgbClr>
            </a:solidFill>
            <a:prstDash val="solid"/>
          </a:ln>
        </p:spPr>
      </p:sp>
      <p:sp>
        <p:nvSpPr>
          <p:cNvPr id="6" name="Text 3"/>
          <p:cNvSpPr/>
          <p:nvPr/>
        </p:nvSpPr>
        <p:spPr>
          <a:xfrm>
            <a:off x="502920" y="384048"/>
            <a:ext cx="7498080" cy="228600"/>
          </a:xfrm>
          <a:prstGeom prst="rect">
            <a:avLst/>
          </a:prstGeom>
          <a:noFill/>
          <a:ln/>
        </p:spPr>
        <p:txBody>
          <a:bodyPr wrap="square" lIns="0" tIns="0" rIns="0" bIns="0" rtlCol="0" anchor="ctr"/>
          <a:lstStyle/>
          <a:p>
            <a:pPr indent="0" marL="0">
              <a:buNone/>
            </a:pPr>
            <a:r>
              <a:rPr lang="en-US" sz="850" b="1" dirty="0">
                <a:solidFill>
                  <a:srgbClr val="00D4FF"/>
                </a:solidFill>
              </a:rPr>
              <a:t>ACT 3 · THE VERDICT</a:t>
            </a:r>
            <a:endParaRPr lang="en-US" sz="850" dirty="0"/>
          </a:p>
        </p:txBody>
      </p:sp>
      <p:sp>
        <p:nvSpPr>
          <p:cNvPr id="7" name="Text 4"/>
          <p:cNvSpPr/>
          <p:nvPr/>
        </p:nvSpPr>
        <p:spPr>
          <a:xfrm>
            <a:off x="502920" y="676656"/>
            <a:ext cx="7498080" cy="822960"/>
          </a:xfrm>
          <a:prstGeom prst="rect">
            <a:avLst/>
          </a:prstGeom>
          <a:noFill/>
          <a:ln/>
        </p:spPr>
        <p:txBody>
          <a:bodyPr wrap="square" lIns="0" tIns="0" rIns="0" bIns="0" rtlCol="0" anchor="ctr">
            <a:normAutofit/>
          </a:bodyPr>
          <a:lstStyle/>
          <a:p>
            <a:pPr indent="0" marL="0">
              <a:buNone/>
            </a:pPr>
            <a:r>
              <a:rPr lang="en-US" sz="3100" b="1" dirty="0">
                <a:solidFill>
                  <a:srgbClr val="EAF6FF"/>
                </a:solidFill>
              </a:rPr>
              <a:t>The trust difference: signal vs. noise.</a:t>
            </a:r>
            <a:endParaRPr lang="en-US" sz="3100" dirty="0"/>
          </a:p>
        </p:txBody>
      </p:sp>
      <p:sp>
        <p:nvSpPr>
          <p:cNvPr id="8" name="Text 5"/>
          <p:cNvSpPr/>
          <p:nvPr/>
        </p:nvSpPr>
        <p:spPr>
          <a:xfrm>
            <a:off x="502920" y="1463040"/>
            <a:ext cx="749808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A system you can trust must tell you what to act on — and what to ignore.</a:t>
            </a:r>
            <a:endParaRPr lang="en-US" sz="1250" dirty="0"/>
          </a:p>
        </p:txBody>
      </p:sp>
      <p:sp>
        <p:nvSpPr>
          <p:cNvPr id="9" name="Shape 6"/>
          <p:cNvSpPr/>
          <p:nvPr/>
        </p:nvSpPr>
        <p:spPr>
          <a:xfrm>
            <a:off x="9372600" y="411480"/>
            <a:ext cx="1417320" cy="329184"/>
          </a:xfrm>
          <a:prstGeom prst="roundRect">
            <a:avLst>
              <a:gd name="adj" fmla="val 11111"/>
            </a:avLst>
          </a:prstGeom>
          <a:solidFill>
            <a:srgbClr val="2CE6A2">
              <a:alpha val="8000"/>
            </a:srgbClr>
          </a:solidFill>
          <a:ln w="8890">
            <a:solidFill>
              <a:srgbClr val="2CE6A2"/>
            </a:solidFill>
            <a:prstDash val="solid"/>
          </a:ln>
        </p:spPr>
      </p:sp>
      <p:sp>
        <p:nvSpPr>
          <p:cNvPr id="10" name="Text 7"/>
          <p:cNvSpPr/>
          <p:nvPr/>
        </p:nvSpPr>
        <p:spPr>
          <a:xfrm>
            <a:off x="9372600" y="493776"/>
            <a:ext cx="1417320" cy="109728"/>
          </a:xfrm>
          <a:prstGeom prst="rect">
            <a:avLst/>
          </a:prstGeom>
          <a:noFill/>
          <a:ln/>
        </p:spPr>
        <p:txBody>
          <a:bodyPr wrap="square" lIns="0" tIns="0" rIns="0" bIns="0" rtlCol="0" anchor="ctr"/>
          <a:lstStyle/>
          <a:p>
            <a:pPr algn="ctr" indent="0" marL="0">
              <a:buNone/>
            </a:pPr>
            <a:r>
              <a:rPr lang="en-US" sz="580" b="1" dirty="0">
                <a:solidFill>
                  <a:srgbClr val="2CE6A2"/>
                </a:solidFill>
              </a:rPr>
              <a:t>WOW MOMENT</a:t>
            </a:r>
            <a:endParaRPr lang="en-US" sz="580" dirty="0"/>
          </a:p>
        </p:txBody>
      </p:sp>
      <p:sp>
        <p:nvSpPr>
          <p:cNvPr id="11" name="Shape 8"/>
          <p:cNvSpPr/>
          <p:nvPr/>
        </p:nvSpPr>
        <p:spPr>
          <a:xfrm>
            <a:off x="685800" y="1600200"/>
            <a:ext cx="10835640" cy="4526280"/>
          </a:xfrm>
          <a:prstGeom prst="roundRect">
            <a:avLst>
              <a:gd name="adj" fmla="val 1616"/>
            </a:avLst>
          </a:prstGeom>
          <a:solidFill>
            <a:srgbClr val="0B1730">
              <a:alpha val="94000"/>
            </a:srgbClr>
          </a:solidFill>
          <a:ln w="15240">
            <a:solidFill>
              <a:srgbClr val="00D4FF">
                <a:alpha val="93000"/>
              </a:srgbClr>
            </a:solidFill>
            <a:prstDash val="solid"/>
          </a:ln>
          <a:effectLst>
            <a:outerShdw sx="100000" sy="100000" kx="0" ky="0" algn="bl" rotWithShape="0" blurRad="25400" dist="50800" dir="2700000">
              <a:srgbClr val="2CE6A2">
                <a:alpha val="20000"/>
              </a:srgbClr>
            </a:outerShdw>
          </a:effectLst>
        </p:spPr>
      </p:sp>
      <p:sp>
        <p:nvSpPr>
          <p:cNvPr id="12" name="Text 9"/>
          <p:cNvSpPr/>
          <p:nvPr/>
        </p:nvSpPr>
        <p:spPr>
          <a:xfrm>
            <a:off x="960120" y="2331720"/>
            <a:ext cx="2240280" cy="182880"/>
          </a:xfrm>
          <a:prstGeom prst="rect">
            <a:avLst/>
          </a:prstGeom>
          <a:noFill/>
          <a:ln/>
        </p:spPr>
        <p:txBody>
          <a:bodyPr wrap="square" lIns="0" tIns="0" rIns="0" bIns="0" rtlCol="0" anchor="ctr"/>
          <a:lstStyle/>
          <a:p>
            <a:pPr indent="0" marL="0">
              <a:buNone/>
            </a:pPr>
            <a:r>
              <a:rPr lang="en-US" sz="1100" b="1" dirty="0">
                <a:solidFill>
                  <a:srgbClr val="EAF6FF"/>
                </a:solidFill>
              </a:rPr>
              <a:t>CRACK_LONG supported signal</a:t>
            </a:r>
            <a:endParaRPr lang="en-US" sz="1100" dirty="0"/>
          </a:p>
        </p:txBody>
      </p:sp>
      <p:sp>
        <p:nvSpPr>
          <p:cNvPr id="13" name="Shape 10"/>
          <p:cNvSpPr/>
          <p:nvPr/>
        </p:nvSpPr>
        <p:spPr>
          <a:xfrm>
            <a:off x="3337560" y="2148840"/>
            <a:ext cx="5806440" cy="566928"/>
          </a:xfrm>
          <a:prstGeom prst="roundRect">
            <a:avLst>
              <a:gd name="adj" fmla="val 8065"/>
            </a:avLst>
          </a:prstGeom>
          <a:solidFill>
            <a:srgbClr val="2CE6A2"/>
          </a:solidFill>
          <a:ln w="12700">
            <a:solidFill>
              <a:srgbClr val="2CE6A2">
                <a:alpha val="0"/>
              </a:srgbClr>
            </a:solidFill>
            <a:prstDash val="solid"/>
          </a:ln>
          <a:effectLst>
            <a:outerShdw sx="100000" sy="100000" kx="0" ky="0" algn="bl" rotWithShape="0" blurRad="12700" dist="50800" dir="2700000">
              <a:srgbClr val="2CE6A2">
                <a:alpha val="35000"/>
              </a:srgbClr>
            </a:outerShdw>
          </a:effectLst>
        </p:spPr>
      </p:sp>
      <p:sp>
        <p:nvSpPr>
          <p:cNvPr id="14" name="Text 11"/>
          <p:cNvSpPr/>
          <p:nvPr/>
        </p:nvSpPr>
        <p:spPr>
          <a:xfrm>
            <a:off x="9400032" y="2093976"/>
            <a:ext cx="1143000" cy="502920"/>
          </a:xfrm>
          <a:prstGeom prst="rect">
            <a:avLst/>
          </a:prstGeom>
          <a:noFill/>
          <a:ln/>
        </p:spPr>
        <p:txBody>
          <a:bodyPr wrap="square" lIns="0" tIns="0" rIns="0" bIns="0" rtlCol="0" anchor="ctr"/>
          <a:lstStyle/>
          <a:p>
            <a:pPr algn="ctr" indent="0" marL="0">
              <a:buNone/>
            </a:pPr>
            <a:r>
              <a:rPr lang="en-US" sz="3000" b="1" dirty="0">
                <a:solidFill>
                  <a:srgbClr val="2CE6A2"/>
                </a:solidFill>
              </a:rPr>
              <a:t>9.3x</a:t>
            </a:r>
            <a:endParaRPr lang="en-US" sz="3000" dirty="0"/>
          </a:p>
        </p:txBody>
      </p:sp>
      <p:sp>
        <p:nvSpPr>
          <p:cNvPr id="15" name="Text 12"/>
          <p:cNvSpPr/>
          <p:nvPr/>
        </p:nvSpPr>
        <p:spPr>
          <a:xfrm>
            <a:off x="960120" y="3977640"/>
            <a:ext cx="2240280" cy="182880"/>
          </a:xfrm>
          <a:prstGeom prst="rect">
            <a:avLst/>
          </a:prstGeom>
          <a:noFill/>
          <a:ln/>
        </p:spPr>
        <p:txBody>
          <a:bodyPr wrap="square" lIns="0" tIns="0" rIns="0" bIns="0" rtlCol="0" anchor="ctr"/>
          <a:lstStyle/>
          <a:p>
            <a:pPr indent="0" marL="0">
              <a:buNone/>
            </a:pPr>
            <a:r>
              <a:rPr lang="en-US" sz="1100" b="1" dirty="0">
                <a:solidFill>
                  <a:srgbClr val="EAF6FF"/>
                </a:solidFill>
              </a:rPr>
              <a:t>SCRATCH null control</a:t>
            </a:r>
            <a:endParaRPr lang="en-US" sz="1100" dirty="0"/>
          </a:p>
        </p:txBody>
      </p:sp>
      <p:sp>
        <p:nvSpPr>
          <p:cNvPr id="16" name="Shape 13"/>
          <p:cNvSpPr/>
          <p:nvPr/>
        </p:nvSpPr>
        <p:spPr>
          <a:xfrm>
            <a:off x="3337560" y="3840480"/>
            <a:ext cx="621792" cy="566928"/>
          </a:xfrm>
          <a:prstGeom prst="roundRect">
            <a:avLst>
              <a:gd name="adj" fmla="val 6452"/>
            </a:avLst>
          </a:prstGeom>
          <a:solidFill>
            <a:srgbClr val="8EA7C1">
              <a:alpha val="90000"/>
            </a:srgbClr>
          </a:solidFill>
          <a:ln w="12700">
            <a:solidFill>
              <a:srgbClr val="8EA7C1">
                <a:alpha val="0"/>
              </a:srgbClr>
            </a:solidFill>
            <a:prstDash val="solid"/>
          </a:ln>
        </p:spPr>
      </p:sp>
      <p:sp>
        <p:nvSpPr>
          <p:cNvPr id="17" name="Text 14"/>
          <p:cNvSpPr/>
          <p:nvPr/>
        </p:nvSpPr>
        <p:spPr>
          <a:xfrm>
            <a:off x="9400032" y="3794760"/>
            <a:ext cx="1143000" cy="438912"/>
          </a:xfrm>
          <a:prstGeom prst="rect">
            <a:avLst/>
          </a:prstGeom>
          <a:noFill/>
          <a:ln/>
        </p:spPr>
        <p:txBody>
          <a:bodyPr wrap="square" lIns="0" tIns="0" rIns="0" bIns="0" rtlCol="0" anchor="ctr"/>
          <a:lstStyle/>
          <a:p>
            <a:pPr algn="ctr" indent="0" marL="0">
              <a:buNone/>
            </a:pPr>
            <a:r>
              <a:rPr lang="en-US" sz="2400" b="1" dirty="0">
                <a:solidFill>
                  <a:srgbClr val="C6D3E0"/>
                </a:solidFill>
              </a:rPr>
              <a:t>1.0x</a:t>
            </a:r>
            <a:endParaRPr lang="en-US" sz="2400" dirty="0"/>
          </a:p>
        </p:txBody>
      </p:sp>
      <p:sp>
        <p:nvSpPr>
          <p:cNvPr id="18" name="Shape 15"/>
          <p:cNvSpPr/>
          <p:nvPr/>
        </p:nvSpPr>
        <p:spPr>
          <a:xfrm>
            <a:off x="3337560" y="4773168"/>
            <a:ext cx="6035040" cy="0"/>
          </a:xfrm>
          <a:prstGeom prst="line">
            <a:avLst/>
          </a:prstGeom>
          <a:noFill/>
          <a:ln w="6350">
            <a:solidFill>
              <a:srgbClr val="8EA7C1">
                <a:alpha val="45000"/>
              </a:srgbClr>
            </a:solidFill>
            <a:prstDash val="solid"/>
          </a:ln>
        </p:spPr>
      </p:sp>
      <p:sp>
        <p:nvSpPr>
          <p:cNvPr id="19" name="Text 16"/>
          <p:cNvSpPr/>
          <p:nvPr/>
        </p:nvSpPr>
        <p:spPr>
          <a:xfrm>
            <a:off x="2926080" y="5193792"/>
            <a:ext cx="6355080" cy="329184"/>
          </a:xfrm>
          <a:prstGeom prst="rect">
            <a:avLst/>
          </a:prstGeom>
          <a:noFill/>
          <a:ln/>
        </p:spPr>
        <p:txBody>
          <a:bodyPr wrap="square" lIns="0" tIns="0" rIns="0" bIns="0" rtlCol="0" anchor="ctr"/>
          <a:lstStyle/>
          <a:p>
            <a:pPr algn="ctr" indent="0" marL="0">
              <a:buNone/>
            </a:pPr>
            <a:r>
              <a:rPr lang="en-US" sz="1800" b="1" dirty="0">
                <a:solidFill>
                  <a:srgbClr val="00D4FF"/>
                </a:solidFill>
              </a:rPr>
              <a:t>Noise dismissed. Signal retained.</a:t>
            </a:r>
            <a:endParaRPr lang="en-US" sz="1800" dirty="0"/>
          </a:p>
        </p:txBody>
      </p:sp>
      <p:sp>
        <p:nvSpPr>
          <p:cNvPr id="20" name="Text 17"/>
          <p:cNvSpPr/>
          <p:nvPr/>
        </p:nvSpPr>
        <p:spPr>
          <a:xfrm>
            <a:off x="1920240" y="5815584"/>
            <a:ext cx="8503920" cy="128016"/>
          </a:xfrm>
          <a:prstGeom prst="rect">
            <a:avLst/>
          </a:prstGeom>
          <a:noFill/>
          <a:ln/>
        </p:spPr>
        <p:txBody>
          <a:bodyPr wrap="square" lIns="0" tIns="0" rIns="0" bIns="0" rtlCol="0" anchor="ctr"/>
          <a:lstStyle/>
          <a:p>
            <a:pPr algn="ctr" indent="0" marL="0">
              <a:buNone/>
            </a:pPr>
            <a:r>
              <a:rPr lang="en-US" sz="700" dirty="0">
                <a:solidFill>
                  <a:srgbClr val="8EA7C1"/>
                </a:solidFill>
              </a:rPr>
              <a:t>Evidence-ranked association · not a guaranteed root cause · method/population/q-value shown in product</a:t>
            </a:r>
            <a:endParaRPr lang="en-US" sz="700" dirty="0"/>
          </a:p>
        </p:txBody>
      </p:sp>
      <p:sp>
        <p:nvSpPr>
          <p:cNvPr id="21" name="Text 18"/>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22" name="Text 19"/>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23" name="Text 20"/>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3" name="Shape 1"/>
          <p:cNvSpPr/>
          <p:nvPr/>
        </p:nvSpPr>
        <p:spPr>
          <a:xfrm>
            <a:off x="0" y="0"/>
            <a:ext cx="12191695" cy="6858000"/>
          </a:xfrm>
          <a:prstGeom prst="rect">
            <a:avLst/>
          </a:prstGeom>
          <a:solidFill>
            <a:srgbClr val="050B18"/>
          </a:solidFill>
          <a:ln w="12700">
            <a:solidFill>
              <a:srgbClr val="050B18">
                <a:alpha val="0"/>
              </a:srgbClr>
            </a:solidFill>
            <a:prstDash val="solid"/>
          </a:ln>
        </p:spPr>
      </p:sp>
      <p:sp>
        <p:nvSpPr>
          <p:cNvPr id="4" name="Text 2"/>
          <p:cNvSpPr/>
          <p:nvPr/>
        </p:nvSpPr>
        <p:spPr>
          <a:xfrm>
            <a:off x="502920" y="411480"/>
            <a:ext cx="7680960" cy="228600"/>
          </a:xfrm>
          <a:prstGeom prst="rect">
            <a:avLst/>
          </a:prstGeom>
          <a:noFill/>
          <a:ln/>
        </p:spPr>
        <p:txBody>
          <a:bodyPr wrap="square" lIns="0" tIns="0" rIns="0" bIns="0" rtlCol="0" anchor="ctr"/>
          <a:lstStyle/>
          <a:p>
            <a:pPr indent="0" marL="0">
              <a:buNone/>
            </a:pPr>
            <a:r>
              <a:rPr lang="en-US" sz="850" b="1" dirty="0">
                <a:solidFill>
                  <a:srgbClr val="00D4FF"/>
                </a:solidFill>
              </a:rPr>
              <a:t>ACT 4 · EXECUTION</a:t>
            </a:r>
            <a:endParaRPr lang="en-US" sz="850" dirty="0"/>
          </a:p>
        </p:txBody>
      </p:sp>
      <p:sp>
        <p:nvSpPr>
          <p:cNvPr id="5" name="Text 3"/>
          <p:cNvSpPr/>
          <p:nvPr/>
        </p:nvSpPr>
        <p:spPr>
          <a:xfrm>
            <a:off x="502920" y="704088"/>
            <a:ext cx="768096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Turn evidence into money-saving action.</a:t>
            </a:r>
            <a:endParaRPr lang="en-US" sz="3000" dirty="0"/>
          </a:p>
        </p:txBody>
      </p:sp>
      <p:sp>
        <p:nvSpPr>
          <p:cNvPr id="6" name="Text 4"/>
          <p:cNvSpPr/>
          <p:nvPr/>
        </p:nvSpPr>
        <p:spPr>
          <a:xfrm>
            <a:off x="502920" y="1490472"/>
            <a:ext cx="768096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The buyer is the hero: faster decisions, fewer repeated losses, safer prioritization.</a:t>
            </a:r>
            <a:endParaRPr lang="en-US" sz="1250" dirty="0"/>
          </a:p>
        </p:txBody>
      </p:sp>
      <p:sp>
        <p:nvSpPr>
          <p:cNvPr id="7" name="Shape 5"/>
          <p:cNvSpPr/>
          <p:nvPr/>
        </p:nvSpPr>
        <p:spPr>
          <a:xfrm>
            <a:off x="9326880" y="411480"/>
            <a:ext cx="1463040" cy="329184"/>
          </a:xfrm>
          <a:prstGeom prst="roundRect">
            <a:avLst>
              <a:gd name="adj" fmla="val 11111"/>
            </a:avLst>
          </a:prstGeom>
          <a:solidFill>
            <a:srgbClr val="2CE6A2">
              <a:alpha val="8000"/>
            </a:srgbClr>
          </a:solidFill>
          <a:ln w="8890">
            <a:solidFill>
              <a:srgbClr val="2CE6A2"/>
            </a:solidFill>
            <a:prstDash val="solid"/>
          </a:ln>
        </p:spPr>
      </p:sp>
      <p:sp>
        <p:nvSpPr>
          <p:cNvPr id="8" name="Text 6"/>
          <p:cNvSpPr/>
          <p:nvPr/>
        </p:nvSpPr>
        <p:spPr>
          <a:xfrm>
            <a:off x="9326880" y="493776"/>
            <a:ext cx="1463040" cy="109728"/>
          </a:xfrm>
          <a:prstGeom prst="rect">
            <a:avLst/>
          </a:prstGeom>
          <a:noFill/>
          <a:ln/>
        </p:spPr>
        <p:txBody>
          <a:bodyPr wrap="square" lIns="0" tIns="0" rIns="0" bIns="0" rtlCol="0" anchor="ctr"/>
          <a:lstStyle/>
          <a:p>
            <a:pPr algn="ctr" indent="0" marL="0">
              <a:buNone/>
            </a:pPr>
            <a:r>
              <a:rPr lang="en-US" sz="580" b="1" dirty="0">
                <a:solidFill>
                  <a:srgbClr val="2CE6A2"/>
                </a:solidFill>
              </a:rPr>
              <a:t>ACTION &amp; ROI</a:t>
            </a:r>
            <a:endParaRPr lang="en-US" sz="580" dirty="0"/>
          </a:p>
        </p:txBody>
      </p:sp>
      <p:sp>
        <p:nvSpPr>
          <p:cNvPr id="9" name="Shape 7"/>
          <p:cNvSpPr/>
          <p:nvPr/>
        </p:nvSpPr>
        <p:spPr>
          <a:xfrm>
            <a:off x="731520" y="1737360"/>
            <a:ext cx="5120640" cy="822960"/>
          </a:xfrm>
          <a:prstGeom prst="roundRect">
            <a:avLst>
              <a:gd name="adj" fmla="val 7778"/>
            </a:avLst>
          </a:prstGeom>
          <a:solidFill>
            <a:srgbClr val="0B1730">
              <a:alpha val="97000"/>
            </a:srgbClr>
          </a:solidFill>
          <a:ln w="10160">
            <a:solidFill>
              <a:srgbClr val="00D4FF">
                <a:alpha val="85000"/>
              </a:srgbClr>
            </a:solidFill>
            <a:prstDash val="solid"/>
          </a:ln>
        </p:spPr>
      </p:sp>
      <p:sp>
        <p:nvSpPr>
          <p:cNvPr id="10" name="Text 8"/>
          <p:cNvSpPr/>
          <p:nvPr/>
        </p:nvSpPr>
        <p:spPr>
          <a:xfrm>
            <a:off x="987552" y="1901952"/>
            <a:ext cx="274320" cy="274320"/>
          </a:xfrm>
          <a:prstGeom prst="rect">
            <a:avLst/>
          </a:prstGeom>
          <a:noFill/>
          <a:ln/>
        </p:spPr>
        <p:txBody>
          <a:bodyPr wrap="square" lIns="0" tIns="0" rIns="0" bIns="0" rtlCol="0" anchor="ctr"/>
          <a:lstStyle/>
          <a:p>
            <a:pPr algn="ctr" indent="0" marL="0">
              <a:buNone/>
            </a:pPr>
            <a:r>
              <a:rPr lang="en-US" sz="1800" b="1" dirty="0">
                <a:solidFill>
                  <a:srgbClr val="00D4FF"/>
                </a:solidFill>
              </a:rPr>
              <a:t>1</a:t>
            </a:r>
            <a:endParaRPr lang="en-US" sz="1800" dirty="0"/>
          </a:p>
        </p:txBody>
      </p:sp>
      <p:sp>
        <p:nvSpPr>
          <p:cNvPr id="11" name="Text 9"/>
          <p:cNvSpPr/>
          <p:nvPr/>
        </p:nvSpPr>
        <p:spPr>
          <a:xfrm>
            <a:off x="1481328" y="1901952"/>
            <a:ext cx="1828800" cy="164592"/>
          </a:xfrm>
          <a:prstGeom prst="rect">
            <a:avLst/>
          </a:prstGeom>
          <a:noFill/>
          <a:ln/>
        </p:spPr>
        <p:txBody>
          <a:bodyPr wrap="square" lIns="0" tIns="0" rIns="0" bIns="0" rtlCol="0" anchor="ctr"/>
          <a:lstStyle/>
          <a:p>
            <a:pPr indent="0" marL="0">
              <a:buNone/>
            </a:pPr>
            <a:r>
              <a:rPr lang="en-US" sz="1200" b="1" dirty="0">
                <a:solidFill>
                  <a:srgbClr val="EAF6FF"/>
                </a:solidFill>
              </a:rPr>
              <a:t>Detect earlier</a:t>
            </a:r>
            <a:endParaRPr lang="en-US" sz="1200" dirty="0"/>
          </a:p>
        </p:txBody>
      </p:sp>
      <p:sp>
        <p:nvSpPr>
          <p:cNvPr id="12" name="Text 10"/>
          <p:cNvSpPr/>
          <p:nvPr/>
        </p:nvSpPr>
        <p:spPr>
          <a:xfrm>
            <a:off x="1481328" y="2148840"/>
            <a:ext cx="4069080" cy="201168"/>
          </a:xfrm>
          <a:prstGeom prst="rect">
            <a:avLst/>
          </a:prstGeom>
          <a:noFill/>
          <a:ln/>
        </p:spPr>
        <p:txBody>
          <a:bodyPr wrap="square" lIns="0" tIns="0" rIns="0" bIns="0" rtlCol="0" anchor="ctr">
            <a:normAutofit/>
          </a:bodyPr>
          <a:lstStyle/>
          <a:p>
            <a:pPr indent="0" marL="0">
              <a:buNone/>
            </a:pPr>
            <a:r>
              <a:rPr lang="en-US" sz="750" dirty="0">
                <a:solidFill>
                  <a:srgbClr val="B6C7D9"/>
                </a:solidFill>
              </a:rPr>
              <a:t>monitor high-risk process windows before repeated losses</a:t>
            </a:r>
            <a:endParaRPr lang="en-US" sz="750" dirty="0"/>
          </a:p>
        </p:txBody>
      </p:sp>
      <p:sp>
        <p:nvSpPr>
          <p:cNvPr id="13" name="Shape 11"/>
          <p:cNvSpPr/>
          <p:nvPr/>
        </p:nvSpPr>
        <p:spPr>
          <a:xfrm>
            <a:off x="6263640" y="1737360"/>
            <a:ext cx="5120640" cy="822960"/>
          </a:xfrm>
          <a:prstGeom prst="roundRect">
            <a:avLst>
              <a:gd name="adj" fmla="val 7778"/>
            </a:avLst>
          </a:prstGeom>
          <a:solidFill>
            <a:srgbClr val="0B1730">
              <a:alpha val="97000"/>
            </a:srgbClr>
          </a:solidFill>
          <a:ln w="10160">
            <a:solidFill>
              <a:srgbClr val="00D4FF">
                <a:alpha val="85000"/>
              </a:srgbClr>
            </a:solidFill>
            <a:prstDash val="solid"/>
          </a:ln>
        </p:spPr>
      </p:sp>
      <p:sp>
        <p:nvSpPr>
          <p:cNvPr id="14" name="Text 12"/>
          <p:cNvSpPr/>
          <p:nvPr/>
        </p:nvSpPr>
        <p:spPr>
          <a:xfrm>
            <a:off x="6519672" y="1901952"/>
            <a:ext cx="274320" cy="274320"/>
          </a:xfrm>
          <a:prstGeom prst="rect">
            <a:avLst/>
          </a:prstGeom>
          <a:noFill/>
          <a:ln/>
        </p:spPr>
        <p:txBody>
          <a:bodyPr wrap="square" lIns="0" tIns="0" rIns="0" bIns="0" rtlCol="0" anchor="ctr"/>
          <a:lstStyle/>
          <a:p>
            <a:pPr algn="ctr" indent="0" marL="0">
              <a:buNone/>
            </a:pPr>
            <a:r>
              <a:rPr lang="en-US" sz="1800" b="1" dirty="0">
                <a:solidFill>
                  <a:srgbClr val="00D4FF"/>
                </a:solidFill>
              </a:rPr>
              <a:t>2</a:t>
            </a:r>
            <a:endParaRPr lang="en-US" sz="1800" dirty="0"/>
          </a:p>
        </p:txBody>
      </p:sp>
      <p:sp>
        <p:nvSpPr>
          <p:cNvPr id="15" name="Text 13"/>
          <p:cNvSpPr/>
          <p:nvPr/>
        </p:nvSpPr>
        <p:spPr>
          <a:xfrm>
            <a:off x="7013448" y="1901952"/>
            <a:ext cx="1828800" cy="164592"/>
          </a:xfrm>
          <a:prstGeom prst="rect">
            <a:avLst/>
          </a:prstGeom>
          <a:noFill/>
          <a:ln/>
        </p:spPr>
        <p:txBody>
          <a:bodyPr wrap="square" lIns="0" tIns="0" rIns="0" bIns="0" rtlCol="0" anchor="ctr"/>
          <a:lstStyle/>
          <a:p>
            <a:pPr indent="0" marL="0">
              <a:buNone/>
            </a:pPr>
            <a:r>
              <a:rPr lang="en-US" sz="1200" b="1" dirty="0">
                <a:solidFill>
                  <a:srgbClr val="EAF6FF"/>
                </a:solidFill>
              </a:rPr>
              <a:t>Investigate faster</a:t>
            </a:r>
            <a:endParaRPr lang="en-US" sz="1200" dirty="0"/>
          </a:p>
        </p:txBody>
      </p:sp>
      <p:sp>
        <p:nvSpPr>
          <p:cNvPr id="16" name="Text 14"/>
          <p:cNvSpPr/>
          <p:nvPr/>
        </p:nvSpPr>
        <p:spPr>
          <a:xfrm>
            <a:off x="7013448" y="2148840"/>
            <a:ext cx="4069080" cy="201168"/>
          </a:xfrm>
          <a:prstGeom prst="rect">
            <a:avLst/>
          </a:prstGeom>
          <a:noFill/>
          <a:ln/>
        </p:spPr>
        <p:txBody>
          <a:bodyPr wrap="square" lIns="0" tIns="0" rIns="0" bIns="0" rtlCol="0" anchor="ctr">
            <a:normAutofit/>
          </a:bodyPr>
          <a:lstStyle/>
          <a:p>
            <a:pPr indent="0" marL="0">
              <a:buNone/>
            </a:pPr>
            <a:r>
              <a:rPr lang="en-US" sz="750" dirty="0">
                <a:solidFill>
                  <a:srgbClr val="B6C7D9"/>
                </a:solidFill>
              </a:rPr>
              <a:t>reduce root-cause work from weeks to minutes</a:t>
            </a:r>
            <a:endParaRPr lang="en-US" sz="750" dirty="0"/>
          </a:p>
        </p:txBody>
      </p:sp>
      <p:sp>
        <p:nvSpPr>
          <p:cNvPr id="17" name="Shape 15"/>
          <p:cNvSpPr/>
          <p:nvPr/>
        </p:nvSpPr>
        <p:spPr>
          <a:xfrm>
            <a:off x="731520" y="2880360"/>
            <a:ext cx="5120640" cy="822960"/>
          </a:xfrm>
          <a:prstGeom prst="roundRect">
            <a:avLst>
              <a:gd name="adj" fmla="val 7778"/>
            </a:avLst>
          </a:prstGeom>
          <a:solidFill>
            <a:srgbClr val="0B1730">
              <a:alpha val="97000"/>
            </a:srgbClr>
          </a:solidFill>
          <a:ln w="10160">
            <a:solidFill>
              <a:srgbClr val="00D4FF">
                <a:alpha val="85000"/>
              </a:srgbClr>
            </a:solidFill>
            <a:prstDash val="solid"/>
          </a:ln>
        </p:spPr>
      </p:sp>
      <p:sp>
        <p:nvSpPr>
          <p:cNvPr id="18" name="Text 16"/>
          <p:cNvSpPr/>
          <p:nvPr/>
        </p:nvSpPr>
        <p:spPr>
          <a:xfrm>
            <a:off x="987552" y="3044952"/>
            <a:ext cx="274320" cy="274320"/>
          </a:xfrm>
          <a:prstGeom prst="rect">
            <a:avLst/>
          </a:prstGeom>
          <a:noFill/>
          <a:ln/>
        </p:spPr>
        <p:txBody>
          <a:bodyPr wrap="square" lIns="0" tIns="0" rIns="0" bIns="0" rtlCol="0" anchor="ctr"/>
          <a:lstStyle/>
          <a:p>
            <a:pPr algn="ctr" indent="0" marL="0">
              <a:buNone/>
            </a:pPr>
            <a:r>
              <a:rPr lang="en-US" sz="1800" b="1" dirty="0">
                <a:solidFill>
                  <a:srgbClr val="00D4FF"/>
                </a:solidFill>
              </a:rPr>
              <a:t>3</a:t>
            </a:r>
            <a:endParaRPr lang="en-US" sz="1800" dirty="0"/>
          </a:p>
        </p:txBody>
      </p:sp>
      <p:sp>
        <p:nvSpPr>
          <p:cNvPr id="19" name="Text 17"/>
          <p:cNvSpPr/>
          <p:nvPr/>
        </p:nvSpPr>
        <p:spPr>
          <a:xfrm>
            <a:off x="1481328" y="3044952"/>
            <a:ext cx="1828800" cy="164592"/>
          </a:xfrm>
          <a:prstGeom prst="rect">
            <a:avLst/>
          </a:prstGeom>
          <a:noFill/>
          <a:ln/>
        </p:spPr>
        <p:txBody>
          <a:bodyPr wrap="square" lIns="0" tIns="0" rIns="0" bIns="0" rtlCol="0" anchor="ctr"/>
          <a:lstStyle/>
          <a:p>
            <a:pPr indent="0" marL="0">
              <a:buNone/>
            </a:pPr>
            <a:r>
              <a:rPr lang="en-US" sz="1200" b="1" dirty="0">
                <a:solidFill>
                  <a:srgbClr val="EAF6FF"/>
                </a:solidFill>
              </a:rPr>
              <a:t>Prioritize correctly</a:t>
            </a:r>
            <a:endParaRPr lang="en-US" sz="1200" dirty="0"/>
          </a:p>
        </p:txBody>
      </p:sp>
      <p:sp>
        <p:nvSpPr>
          <p:cNvPr id="20" name="Text 18"/>
          <p:cNvSpPr/>
          <p:nvPr/>
        </p:nvSpPr>
        <p:spPr>
          <a:xfrm>
            <a:off x="1481328" y="3291840"/>
            <a:ext cx="4069080" cy="201168"/>
          </a:xfrm>
          <a:prstGeom prst="rect">
            <a:avLst/>
          </a:prstGeom>
          <a:noFill/>
          <a:ln/>
        </p:spPr>
        <p:txBody>
          <a:bodyPr wrap="square" lIns="0" tIns="0" rIns="0" bIns="0" rtlCol="0" anchor="ctr">
            <a:normAutofit/>
          </a:bodyPr>
          <a:lstStyle/>
          <a:p>
            <a:pPr indent="0" marL="0">
              <a:buNone/>
            </a:pPr>
            <a:r>
              <a:rPr lang="en-US" sz="750" dirty="0">
                <a:solidFill>
                  <a:srgbClr val="B6C7D9"/>
                </a:solidFill>
              </a:rPr>
              <a:t>focus engineers on supported signals, not noise</a:t>
            </a:r>
            <a:endParaRPr lang="en-US" sz="750" dirty="0"/>
          </a:p>
        </p:txBody>
      </p:sp>
      <p:sp>
        <p:nvSpPr>
          <p:cNvPr id="21" name="Shape 19"/>
          <p:cNvSpPr/>
          <p:nvPr/>
        </p:nvSpPr>
        <p:spPr>
          <a:xfrm>
            <a:off x="6263640" y="2880360"/>
            <a:ext cx="5120640" cy="822960"/>
          </a:xfrm>
          <a:prstGeom prst="roundRect">
            <a:avLst>
              <a:gd name="adj" fmla="val 7778"/>
            </a:avLst>
          </a:prstGeom>
          <a:solidFill>
            <a:srgbClr val="0B1730">
              <a:alpha val="97000"/>
            </a:srgbClr>
          </a:solidFill>
          <a:ln w="10160">
            <a:solidFill>
              <a:srgbClr val="2CE6A2">
                <a:alpha val="85000"/>
              </a:srgbClr>
            </a:solidFill>
            <a:prstDash val="solid"/>
          </a:ln>
        </p:spPr>
      </p:sp>
      <p:sp>
        <p:nvSpPr>
          <p:cNvPr id="22" name="Text 20"/>
          <p:cNvSpPr/>
          <p:nvPr/>
        </p:nvSpPr>
        <p:spPr>
          <a:xfrm>
            <a:off x="6519672" y="3044952"/>
            <a:ext cx="274320" cy="274320"/>
          </a:xfrm>
          <a:prstGeom prst="rect">
            <a:avLst/>
          </a:prstGeom>
          <a:noFill/>
          <a:ln/>
        </p:spPr>
        <p:txBody>
          <a:bodyPr wrap="square" lIns="0" tIns="0" rIns="0" bIns="0" rtlCol="0" anchor="ctr"/>
          <a:lstStyle/>
          <a:p>
            <a:pPr algn="ctr" indent="0" marL="0">
              <a:buNone/>
            </a:pPr>
            <a:r>
              <a:rPr lang="en-US" sz="1800" b="1" dirty="0">
                <a:solidFill>
                  <a:srgbClr val="2CE6A2"/>
                </a:solidFill>
              </a:rPr>
              <a:t>4</a:t>
            </a:r>
            <a:endParaRPr lang="en-US" sz="1800" dirty="0"/>
          </a:p>
        </p:txBody>
      </p:sp>
      <p:sp>
        <p:nvSpPr>
          <p:cNvPr id="23" name="Text 21"/>
          <p:cNvSpPr/>
          <p:nvPr/>
        </p:nvSpPr>
        <p:spPr>
          <a:xfrm>
            <a:off x="7013448" y="3044952"/>
            <a:ext cx="1828800" cy="164592"/>
          </a:xfrm>
          <a:prstGeom prst="rect">
            <a:avLst/>
          </a:prstGeom>
          <a:noFill/>
          <a:ln/>
        </p:spPr>
        <p:txBody>
          <a:bodyPr wrap="square" lIns="0" tIns="0" rIns="0" bIns="0" rtlCol="0" anchor="ctr"/>
          <a:lstStyle/>
          <a:p>
            <a:pPr indent="0" marL="0">
              <a:buNone/>
            </a:pPr>
            <a:r>
              <a:rPr lang="en-US" sz="1200" b="1" dirty="0">
                <a:solidFill>
                  <a:srgbClr val="EAF6FF"/>
                </a:solidFill>
              </a:rPr>
              <a:t>Protect margin</a:t>
            </a:r>
            <a:endParaRPr lang="en-US" sz="1200" dirty="0"/>
          </a:p>
        </p:txBody>
      </p:sp>
      <p:sp>
        <p:nvSpPr>
          <p:cNvPr id="24" name="Text 22"/>
          <p:cNvSpPr/>
          <p:nvPr/>
        </p:nvSpPr>
        <p:spPr>
          <a:xfrm>
            <a:off x="7013448" y="3291840"/>
            <a:ext cx="4069080" cy="201168"/>
          </a:xfrm>
          <a:prstGeom prst="rect">
            <a:avLst/>
          </a:prstGeom>
          <a:noFill/>
          <a:ln/>
        </p:spPr>
        <p:txBody>
          <a:bodyPr wrap="square" lIns="0" tIns="0" rIns="0" bIns="0" rtlCol="0" anchor="ctr">
            <a:normAutofit/>
          </a:bodyPr>
          <a:lstStyle/>
          <a:p>
            <a:pPr indent="0" marL="0">
              <a:buNone/>
            </a:pPr>
            <a:r>
              <a:rPr lang="en-US" sz="750" dirty="0">
                <a:solidFill>
                  <a:srgbClr val="B6C7D9"/>
                </a:solidFill>
              </a:rPr>
              <a:t>reduce scrap, downgrade, claims, rework, and stoppage exposure</a:t>
            </a:r>
            <a:endParaRPr lang="en-US" sz="750" dirty="0"/>
          </a:p>
        </p:txBody>
      </p:sp>
      <p:sp>
        <p:nvSpPr>
          <p:cNvPr id="25" name="Shape 23"/>
          <p:cNvSpPr/>
          <p:nvPr/>
        </p:nvSpPr>
        <p:spPr>
          <a:xfrm>
            <a:off x="1325880" y="5230368"/>
            <a:ext cx="9509760" cy="694944"/>
          </a:xfrm>
          <a:prstGeom prst="roundRect">
            <a:avLst>
              <a:gd name="adj" fmla="val 7895"/>
            </a:avLst>
          </a:prstGeom>
          <a:solidFill>
            <a:srgbClr val="0B1730">
              <a:alpha val="97000"/>
            </a:srgbClr>
          </a:solidFill>
          <a:ln w="12700">
            <a:solidFill>
              <a:srgbClr val="2CE6A2">
                <a:alpha val="90000"/>
              </a:srgbClr>
            </a:solidFill>
            <a:prstDash val="solid"/>
          </a:ln>
        </p:spPr>
      </p:sp>
      <p:sp>
        <p:nvSpPr>
          <p:cNvPr id="26" name="Shape 24"/>
          <p:cNvSpPr/>
          <p:nvPr/>
        </p:nvSpPr>
        <p:spPr>
          <a:xfrm>
            <a:off x="1325880" y="5230368"/>
            <a:ext cx="54864" cy="694944"/>
          </a:xfrm>
          <a:prstGeom prst="rect">
            <a:avLst/>
          </a:prstGeom>
          <a:solidFill>
            <a:srgbClr val="2CE6A2"/>
          </a:solidFill>
          <a:ln w="12700">
            <a:solidFill>
              <a:srgbClr val="2CE6A2">
                <a:alpha val="0"/>
              </a:srgbClr>
            </a:solidFill>
            <a:prstDash val="solid"/>
          </a:ln>
        </p:spPr>
      </p:sp>
      <p:sp>
        <p:nvSpPr>
          <p:cNvPr id="27" name="Text 25"/>
          <p:cNvSpPr/>
          <p:nvPr/>
        </p:nvSpPr>
        <p:spPr>
          <a:xfrm>
            <a:off x="1490472" y="5394960"/>
            <a:ext cx="9217152" cy="384048"/>
          </a:xfrm>
          <a:prstGeom prst="rect">
            <a:avLst/>
          </a:prstGeom>
          <a:noFill/>
          <a:ln/>
        </p:spPr>
        <p:txBody>
          <a:bodyPr wrap="square" lIns="0" tIns="0" rIns="0" bIns="0" rtlCol="0" anchor="ctr">
            <a:normAutofit/>
          </a:bodyPr>
          <a:lstStyle/>
          <a:p>
            <a:pPr indent="0" marL="0">
              <a:buNone/>
            </a:pPr>
            <a:r>
              <a:rPr lang="en-US" sz="1200" b="1" dirty="0">
                <a:solidFill>
                  <a:srgbClr val="EAF6FF"/>
                </a:solidFill>
              </a:rPr>
              <a:t>If one severe downgrade batch — or one hour of mill downtime — is avoided, the annual subscription can pay for itself.</a:t>
            </a:r>
            <a:endParaRPr lang="en-US" sz="1200" dirty="0"/>
          </a:p>
        </p:txBody>
      </p:sp>
      <p:sp>
        <p:nvSpPr>
          <p:cNvPr id="28" name="Text 26"/>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29" name="Text 27"/>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0" name="Text 28"/>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B18"/>
        </a:solidFill>
      </p:bgPr>
    </p:bg>
    <p:spTree>
      <p:nvGrpSpPr>
        <p:cNvPr id="1" name=""/>
        <p:cNvGrpSpPr/>
        <p:nvPr/>
      </p:nvGrpSpPr>
      <p:grpSpPr>
        <a:xfrm>
          <a:off x="0" y="0"/>
          <a:ext cx="0" cy="0"/>
          <a:chOff x="0" y="0"/>
          <a:chExt cx="0" cy="0"/>
        </a:xfrm>
      </p:grpSpPr>
      <p:pic>
        <p:nvPicPr>
          <p:cNvPr id="2" name="Image 0" descr="/mnt/data/a_high_tech_futuristic_data_industrial_infographic_batch_2.png">    </p:cNvPr>
          <p:cNvPicPr>
            <a:picLocks noChangeAspect="1"/>
          </p:cNvPicPr>
          <p:nvPr/>
        </p:nvPicPr>
        <p:blipFill>
          <a:blip r:embed="rId1"/>
          <a:srcRect l="14000" r="-140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44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Text 2"/>
          <p:cNvSpPr/>
          <p:nvPr/>
        </p:nvSpPr>
        <p:spPr>
          <a:xfrm>
            <a:off x="502920" y="411480"/>
            <a:ext cx="6675120" cy="228600"/>
          </a:xfrm>
          <a:prstGeom prst="rect">
            <a:avLst/>
          </a:prstGeom>
          <a:noFill/>
          <a:ln/>
        </p:spPr>
        <p:txBody>
          <a:bodyPr wrap="square" lIns="0" tIns="0" rIns="0" bIns="0" rtlCol="0" anchor="ctr"/>
          <a:lstStyle/>
          <a:p>
            <a:pPr indent="0" marL="0">
              <a:buNone/>
            </a:pPr>
            <a:r>
              <a:rPr lang="en-US" sz="850" b="1" dirty="0">
                <a:solidFill>
                  <a:srgbClr val="00D4FF"/>
                </a:solidFill>
              </a:rPr>
              <a:t>ZERO OPERATIONAL RISK</a:t>
            </a:r>
            <a:endParaRPr lang="en-US" sz="850" dirty="0"/>
          </a:p>
        </p:txBody>
      </p:sp>
      <p:sp>
        <p:nvSpPr>
          <p:cNvPr id="6" name="Text 3"/>
          <p:cNvSpPr/>
          <p:nvPr/>
        </p:nvSpPr>
        <p:spPr>
          <a:xfrm>
            <a:off x="502920" y="704088"/>
            <a:ext cx="667512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Intelligence without control-system risk.</a:t>
            </a:r>
            <a:endParaRPr lang="en-US" sz="3000" dirty="0"/>
          </a:p>
        </p:txBody>
      </p:sp>
      <p:sp>
        <p:nvSpPr>
          <p:cNvPr id="7" name="Text 4"/>
          <p:cNvSpPr/>
          <p:nvPr/>
        </p:nvSpPr>
        <p:spPr>
          <a:xfrm>
            <a:off x="502920" y="1490472"/>
            <a:ext cx="6675120" cy="411480"/>
          </a:xfrm>
          <a:prstGeom prst="rect">
            <a:avLst/>
          </a:prstGeom>
          <a:noFill/>
          <a:ln/>
        </p:spPr>
        <p:txBody>
          <a:bodyPr wrap="square" lIns="0" tIns="0" rIns="0" bIns="0" rtlCol="0" anchor="ctr">
            <a:normAutofit/>
          </a:bodyPr>
          <a:lstStyle/>
          <a:p>
            <a:pPr indent="0" marL="0">
              <a:buNone/>
            </a:pPr>
            <a:r>
              <a:rPr lang="en-US" sz="1250" dirty="0">
                <a:solidFill>
                  <a:srgbClr val="B6C7D9"/>
                </a:solidFill>
              </a:rPr>
              <a:t>Strictly read-only: no setpoints, no recipes, no PLC commands.</a:t>
            </a:r>
            <a:endParaRPr lang="en-US" sz="1250" dirty="0"/>
          </a:p>
        </p:txBody>
      </p:sp>
      <p:sp>
        <p:nvSpPr>
          <p:cNvPr id="8" name="Shape 5"/>
          <p:cNvSpPr/>
          <p:nvPr/>
        </p:nvSpPr>
        <p:spPr>
          <a:xfrm>
            <a:off x="9372600" y="411480"/>
            <a:ext cx="1600200" cy="329184"/>
          </a:xfrm>
          <a:prstGeom prst="roundRect">
            <a:avLst>
              <a:gd name="adj" fmla="val 11111"/>
            </a:avLst>
          </a:prstGeom>
          <a:solidFill>
            <a:srgbClr val="00D4FF">
              <a:alpha val="8000"/>
            </a:srgbClr>
          </a:solidFill>
          <a:ln w="8890">
            <a:solidFill>
              <a:srgbClr val="00D4FF"/>
            </a:solidFill>
            <a:prstDash val="solid"/>
          </a:ln>
        </p:spPr>
      </p:sp>
      <p:sp>
        <p:nvSpPr>
          <p:cNvPr id="9" name="Text 6"/>
          <p:cNvSpPr/>
          <p:nvPr/>
        </p:nvSpPr>
        <p:spPr>
          <a:xfrm>
            <a:off x="9372600" y="493776"/>
            <a:ext cx="1600200" cy="109728"/>
          </a:xfrm>
          <a:prstGeom prst="rect">
            <a:avLst/>
          </a:prstGeom>
          <a:noFill/>
          <a:ln/>
        </p:spPr>
        <p:txBody>
          <a:bodyPr wrap="square" lIns="0" tIns="0" rIns="0" bIns="0" rtlCol="0" anchor="ctr"/>
          <a:lstStyle/>
          <a:p>
            <a:pPr algn="ctr" indent="0" marL="0">
              <a:buNone/>
            </a:pPr>
            <a:r>
              <a:rPr lang="en-US" sz="580" b="1" dirty="0">
                <a:solidFill>
                  <a:srgbClr val="00D4FF"/>
                </a:solidFill>
              </a:rPr>
              <a:t>IT / OT SAFE</a:t>
            </a:r>
            <a:endParaRPr lang="en-US" sz="580" dirty="0"/>
          </a:p>
        </p:txBody>
      </p:sp>
      <p:sp>
        <p:nvSpPr>
          <p:cNvPr id="10" name="Shape 7"/>
          <p:cNvSpPr/>
          <p:nvPr/>
        </p:nvSpPr>
        <p:spPr>
          <a:xfrm>
            <a:off x="822960" y="2148840"/>
            <a:ext cx="2926080" cy="1828800"/>
          </a:xfrm>
          <a:prstGeom prst="roundRect">
            <a:avLst>
              <a:gd name="adj" fmla="val 4000"/>
            </a:avLst>
          </a:prstGeom>
          <a:solidFill>
            <a:srgbClr val="0B1730">
              <a:alpha val="96000"/>
            </a:srgbClr>
          </a:solidFill>
          <a:ln w="12700">
            <a:solidFill>
              <a:srgbClr val="00D4FF">
                <a:alpha val="90000"/>
              </a:srgbClr>
            </a:solidFill>
            <a:prstDash val="solid"/>
          </a:ln>
        </p:spPr>
      </p:sp>
      <p:sp>
        <p:nvSpPr>
          <p:cNvPr id="11" name="Text 8"/>
          <p:cNvSpPr/>
          <p:nvPr/>
        </p:nvSpPr>
        <p:spPr>
          <a:xfrm>
            <a:off x="1005840" y="2423160"/>
            <a:ext cx="2560320" cy="137160"/>
          </a:xfrm>
          <a:prstGeom prst="rect">
            <a:avLst/>
          </a:prstGeom>
          <a:noFill/>
          <a:ln/>
        </p:spPr>
        <p:txBody>
          <a:bodyPr wrap="square" lIns="0" tIns="0" rIns="0" bIns="0" rtlCol="0" anchor="ctr"/>
          <a:lstStyle/>
          <a:p>
            <a:pPr algn="ctr" indent="0" marL="0">
              <a:buNone/>
            </a:pPr>
            <a:r>
              <a:rPr lang="en-US" sz="900" b="1" dirty="0">
                <a:solidFill>
                  <a:srgbClr val="00D4FF"/>
                </a:solidFill>
              </a:rPr>
              <a:t>PLANT SYSTEMS</a:t>
            </a:r>
            <a:endParaRPr lang="en-US" sz="900" dirty="0"/>
          </a:p>
        </p:txBody>
      </p:sp>
      <p:sp>
        <p:nvSpPr>
          <p:cNvPr id="12" name="Shape 9"/>
          <p:cNvSpPr/>
          <p:nvPr/>
        </p:nvSpPr>
        <p:spPr>
          <a:xfrm>
            <a:off x="1097280" y="2788920"/>
            <a:ext cx="91440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3" name="Text 10"/>
          <p:cNvSpPr/>
          <p:nvPr/>
        </p:nvSpPr>
        <p:spPr>
          <a:xfrm>
            <a:off x="1170432" y="2962656"/>
            <a:ext cx="76809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MES</a:t>
            </a:r>
            <a:endParaRPr lang="en-US" sz="740" dirty="0"/>
          </a:p>
        </p:txBody>
      </p:sp>
      <p:sp>
        <p:nvSpPr>
          <p:cNvPr id="14" name="Shape 11"/>
          <p:cNvSpPr/>
          <p:nvPr/>
        </p:nvSpPr>
        <p:spPr>
          <a:xfrm>
            <a:off x="2240280" y="2788920"/>
            <a:ext cx="91440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5" name="Text 12"/>
          <p:cNvSpPr/>
          <p:nvPr/>
        </p:nvSpPr>
        <p:spPr>
          <a:xfrm>
            <a:off x="2313432" y="2962656"/>
            <a:ext cx="76809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L2</a:t>
            </a:r>
            <a:endParaRPr lang="en-US" sz="740" dirty="0"/>
          </a:p>
        </p:txBody>
      </p:sp>
      <p:sp>
        <p:nvSpPr>
          <p:cNvPr id="16" name="Shape 13"/>
          <p:cNvSpPr/>
          <p:nvPr/>
        </p:nvSpPr>
        <p:spPr>
          <a:xfrm>
            <a:off x="1097280" y="3300984"/>
            <a:ext cx="91440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7" name="Text 14"/>
          <p:cNvSpPr/>
          <p:nvPr/>
        </p:nvSpPr>
        <p:spPr>
          <a:xfrm>
            <a:off x="1170432" y="3474720"/>
            <a:ext cx="76809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SCADA</a:t>
            </a:r>
            <a:endParaRPr lang="en-US" sz="740" dirty="0"/>
          </a:p>
        </p:txBody>
      </p:sp>
      <p:sp>
        <p:nvSpPr>
          <p:cNvPr id="18" name="Shape 15"/>
          <p:cNvSpPr/>
          <p:nvPr/>
        </p:nvSpPr>
        <p:spPr>
          <a:xfrm>
            <a:off x="2240280" y="3300984"/>
            <a:ext cx="914400" cy="530352"/>
          </a:xfrm>
          <a:prstGeom prst="roundRect">
            <a:avLst>
              <a:gd name="adj" fmla="val 13793"/>
            </a:avLst>
          </a:prstGeom>
          <a:solidFill>
            <a:srgbClr val="0B1730">
              <a:alpha val="95000"/>
            </a:srgbClr>
          </a:solidFill>
          <a:ln w="11430">
            <a:solidFill>
              <a:srgbClr val="00D4FF">
                <a:alpha val="92000"/>
              </a:srgbClr>
            </a:solidFill>
            <a:prstDash val="solid"/>
          </a:ln>
        </p:spPr>
      </p:sp>
      <p:sp>
        <p:nvSpPr>
          <p:cNvPr id="19" name="Text 16"/>
          <p:cNvSpPr/>
          <p:nvPr/>
        </p:nvSpPr>
        <p:spPr>
          <a:xfrm>
            <a:off x="2313432" y="3474720"/>
            <a:ext cx="768096" cy="155448"/>
          </a:xfrm>
          <a:prstGeom prst="rect">
            <a:avLst/>
          </a:prstGeom>
          <a:noFill/>
          <a:ln/>
        </p:spPr>
        <p:txBody>
          <a:bodyPr wrap="square" lIns="0" tIns="0" rIns="0" bIns="0" rtlCol="0" anchor="ctr">
            <a:normAutofit/>
          </a:bodyPr>
          <a:lstStyle/>
          <a:p>
            <a:pPr algn="ctr" indent="0" marL="0">
              <a:buNone/>
            </a:pPr>
            <a:r>
              <a:rPr lang="en-US" sz="740" b="1" dirty="0">
                <a:solidFill>
                  <a:srgbClr val="EAF6FF"/>
                </a:solidFill>
              </a:rPr>
              <a:t>Historian</a:t>
            </a:r>
            <a:endParaRPr lang="en-US" sz="740" dirty="0"/>
          </a:p>
        </p:txBody>
      </p:sp>
      <p:sp>
        <p:nvSpPr>
          <p:cNvPr id="20" name="Shape 17"/>
          <p:cNvSpPr/>
          <p:nvPr/>
        </p:nvSpPr>
        <p:spPr>
          <a:xfrm>
            <a:off x="4617720" y="2029968"/>
            <a:ext cx="512064" cy="2148840"/>
          </a:xfrm>
          <a:prstGeom prst="rect">
            <a:avLst/>
          </a:prstGeom>
          <a:solidFill>
            <a:srgbClr val="2CE6A2">
              <a:alpha val="20000"/>
            </a:srgbClr>
          </a:solidFill>
          <a:ln w="15240">
            <a:solidFill>
              <a:srgbClr val="2CE6A2"/>
            </a:solidFill>
            <a:prstDash val="solid"/>
          </a:ln>
        </p:spPr>
      </p:sp>
      <p:sp>
        <p:nvSpPr>
          <p:cNvPr id="21" name="Text 18"/>
          <p:cNvSpPr/>
          <p:nvPr/>
        </p:nvSpPr>
        <p:spPr>
          <a:xfrm>
            <a:off x="4443984" y="2743200"/>
            <a:ext cx="868680" cy="502920"/>
          </a:xfrm>
          <a:prstGeom prst="rect">
            <a:avLst/>
          </a:prstGeom>
          <a:noFill/>
          <a:ln/>
        </p:spPr>
        <p:txBody>
          <a:bodyPr wrap="square" lIns="0" tIns="0" rIns="0" bIns="0" rtlCol="0" anchor="ctr">
            <a:normAutofit/>
          </a:bodyPr>
          <a:lstStyle/>
          <a:p>
            <a:pPr algn="ctr" indent="0" marL="0">
              <a:buNone/>
            </a:pPr>
            <a:r>
              <a:rPr lang="en-US" sz="800" b="1" dirty="0">
                <a:solidFill>
                  <a:srgbClr val="2CE6A2"/>
                </a:solidFill>
              </a:rPr>
              <a:t>READ-ONLY</a:t>
            </a:r>
            <a:endParaRPr lang="en-US" sz="800" dirty="0"/>
          </a:p>
          <a:p>
            <a:pPr algn="ctr" indent="0" marL="0">
              <a:buNone/>
            </a:pPr>
            <a:r>
              <a:rPr lang="en-US" sz="800" b="1" dirty="0">
                <a:solidFill>
                  <a:srgbClr val="2CE6A2"/>
                </a:solidFill>
              </a:rPr>
              <a:t>BOUNDARY</a:t>
            </a:r>
            <a:endParaRPr lang="en-US" sz="800" dirty="0"/>
          </a:p>
        </p:txBody>
      </p:sp>
      <p:sp>
        <p:nvSpPr>
          <p:cNvPr id="22" name="Shape 19"/>
          <p:cNvSpPr/>
          <p:nvPr/>
        </p:nvSpPr>
        <p:spPr>
          <a:xfrm>
            <a:off x="6172200" y="2148840"/>
            <a:ext cx="3429000" cy="1828800"/>
          </a:xfrm>
          <a:prstGeom prst="roundRect">
            <a:avLst>
              <a:gd name="adj" fmla="val 4000"/>
            </a:avLst>
          </a:prstGeom>
          <a:solidFill>
            <a:srgbClr val="0B1730">
              <a:alpha val="96000"/>
            </a:srgbClr>
          </a:solidFill>
          <a:ln w="12700">
            <a:solidFill>
              <a:srgbClr val="2CE6A2">
                <a:alpha val="90000"/>
              </a:srgbClr>
            </a:solidFill>
            <a:prstDash val="solid"/>
          </a:ln>
        </p:spPr>
      </p:sp>
      <p:sp>
        <p:nvSpPr>
          <p:cNvPr id="23" name="Text 20"/>
          <p:cNvSpPr/>
          <p:nvPr/>
        </p:nvSpPr>
        <p:spPr>
          <a:xfrm>
            <a:off x="6400800" y="2542032"/>
            <a:ext cx="2971800" cy="164592"/>
          </a:xfrm>
          <a:prstGeom prst="rect">
            <a:avLst/>
          </a:prstGeom>
          <a:noFill/>
          <a:ln/>
        </p:spPr>
        <p:txBody>
          <a:bodyPr wrap="square" lIns="0" tIns="0" rIns="0" bIns="0" rtlCol="0" anchor="ctr"/>
          <a:lstStyle/>
          <a:p>
            <a:pPr algn="ctr" indent="0" marL="0">
              <a:buNone/>
            </a:pPr>
            <a:r>
              <a:rPr lang="en-US" sz="1300" b="1" dirty="0">
                <a:solidFill>
                  <a:srgbClr val="EAF6FF"/>
                </a:solidFill>
              </a:rPr>
              <a:t>PLANTPROCESS IQ</a:t>
            </a:r>
            <a:endParaRPr lang="en-US" sz="1300" dirty="0"/>
          </a:p>
        </p:txBody>
      </p:sp>
      <p:sp>
        <p:nvSpPr>
          <p:cNvPr id="24" name="Shape 21"/>
          <p:cNvSpPr/>
          <p:nvPr/>
        </p:nvSpPr>
        <p:spPr>
          <a:xfrm>
            <a:off x="6675120" y="3017520"/>
            <a:ext cx="1188720" cy="310896"/>
          </a:xfrm>
          <a:prstGeom prst="roundRect">
            <a:avLst>
              <a:gd name="adj" fmla="val 11765"/>
            </a:avLst>
          </a:prstGeom>
          <a:solidFill>
            <a:srgbClr val="FF4D6D">
              <a:alpha val="12000"/>
            </a:srgbClr>
          </a:solidFill>
          <a:ln w="7620">
            <a:solidFill>
              <a:srgbClr val="FF4D6D">
                <a:alpha val="90000"/>
              </a:srgbClr>
            </a:solidFill>
            <a:prstDash val="solid"/>
          </a:ln>
        </p:spPr>
      </p:sp>
      <p:sp>
        <p:nvSpPr>
          <p:cNvPr id="25" name="Text 22"/>
          <p:cNvSpPr/>
          <p:nvPr/>
        </p:nvSpPr>
        <p:spPr>
          <a:xfrm>
            <a:off x="6729984" y="3099816"/>
            <a:ext cx="1078992" cy="91440"/>
          </a:xfrm>
          <a:prstGeom prst="rect">
            <a:avLst/>
          </a:prstGeom>
          <a:noFill/>
          <a:ln/>
        </p:spPr>
        <p:txBody>
          <a:bodyPr wrap="square" lIns="0" tIns="0" rIns="0" bIns="0" rtlCol="0" anchor="ctr">
            <a:normAutofit/>
          </a:bodyPr>
          <a:lstStyle/>
          <a:p>
            <a:pPr algn="ctr" indent="0" marL="0">
              <a:buNone/>
            </a:pPr>
            <a:r>
              <a:rPr lang="en-US" sz="650" b="1" dirty="0">
                <a:solidFill>
                  <a:srgbClr val="FF4D6D"/>
                </a:solidFill>
              </a:rPr>
              <a:t>NO SETPOINTS</a:t>
            </a:r>
            <a:endParaRPr lang="en-US" sz="650" dirty="0"/>
          </a:p>
        </p:txBody>
      </p:sp>
      <p:sp>
        <p:nvSpPr>
          <p:cNvPr id="26" name="Shape 23"/>
          <p:cNvSpPr/>
          <p:nvPr/>
        </p:nvSpPr>
        <p:spPr>
          <a:xfrm>
            <a:off x="8001000" y="3017520"/>
            <a:ext cx="1097280" cy="310896"/>
          </a:xfrm>
          <a:prstGeom prst="roundRect">
            <a:avLst>
              <a:gd name="adj" fmla="val 11765"/>
            </a:avLst>
          </a:prstGeom>
          <a:solidFill>
            <a:srgbClr val="FF4D6D">
              <a:alpha val="12000"/>
            </a:srgbClr>
          </a:solidFill>
          <a:ln w="7620">
            <a:solidFill>
              <a:srgbClr val="FF4D6D">
                <a:alpha val="90000"/>
              </a:srgbClr>
            </a:solidFill>
            <a:prstDash val="solid"/>
          </a:ln>
        </p:spPr>
      </p:sp>
      <p:sp>
        <p:nvSpPr>
          <p:cNvPr id="27" name="Text 24"/>
          <p:cNvSpPr/>
          <p:nvPr/>
        </p:nvSpPr>
        <p:spPr>
          <a:xfrm>
            <a:off x="8055864" y="3099816"/>
            <a:ext cx="987552" cy="91440"/>
          </a:xfrm>
          <a:prstGeom prst="rect">
            <a:avLst/>
          </a:prstGeom>
          <a:noFill/>
          <a:ln/>
        </p:spPr>
        <p:txBody>
          <a:bodyPr wrap="square" lIns="0" tIns="0" rIns="0" bIns="0" rtlCol="0" anchor="ctr">
            <a:normAutofit/>
          </a:bodyPr>
          <a:lstStyle/>
          <a:p>
            <a:pPr algn="ctr" indent="0" marL="0">
              <a:buNone/>
            </a:pPr>
            <a:r>
              <a:rPr lang="en-US" sz="650" b="1" dirty="0">
                <a:solidFill>
                  <a:srgbClr val="FF4D6D"/>
                </a:solidFill>
              </a:rPr>
              <a:t>NO RECIPES</a:t>
            </a:r>
            <a:endParaRPr lang="en-US" sz="650" dirty="0"/>
          </a:p>
        </p:txBody>
      </p:sp>
      <p:sp>
        <p:nvSpPr>
          <p:cNvPr id="28" name="Shape 25"/>
          <p:cNvSpPr/>
          <p:nvPr/>
        </p:nvSpPr>
        <p:spPr>
          <a:xfrm>
            <a:off x="3730752" y="3063240"/>
            <a:ext cx="841248" cy="0"/>
          </a:xfrm>
          <a:prstGeom prst="line">
            <a:avLst/>
          </a:prstGeom>
          <a:noFill/>
          <a:ln w="16510">
            <a:solidFill>
              <a:srgbClr val="00D4FF"/>
            </a:solidFill>
            <a:prstDash val="solid"/>
            <a:headEnd type="none"/>
            <a:tailEnd type="triangle"/>
          </a:ln>
        </p:spPr>
      </p:sp>
      <p:sp>
        <p:nvSpPr>
          <p:cNvPr id="29" name="Shape 26"/>
          <p:cNvSpPr/>
          <p:nvPr/>
        </p:nvSpPr>
        <p:spPr>
          <a:xfrm>
            <a:off x="5102352" y="3063240"/>
            <a:ext cx="1042416" cy="0"/>
          </a:xfrm>
          <a:prstGeom prst="line">
            <a:avLst/>
          </a:prstGeom>
          <a:noFill/>
          <a:ln w="16510">
            <a:solidFill>
              <a:srgbClr val="2CE6A2"/>
            </a:solidFill>
            <a:prstDash val="solid"/>
            <a:headEnd type="none"/>
            <a:tailEnd type="triangle"/>
          </a:ln>
        </p:spPr>
      </p:sp>
      <p:sp>
        <p:nvSpPr>
          <p:cNvPr id="30" name="Shape 27"/>
          <p:cNvSpPr/>
          <p:nvPr/>
        </p:nvSpPr>
        <p:spPr>
          <a:xfrm>
            <a:off x="6035040" y="4297680"/>
            <a:ext cx="-2103120" cy="0"/>
          </a:xfrm>
          <a:prstGeom prst="line">
            <a:avLst/>
          </a:prstGeom>
          <a:noFill/>
          <a:ln w="15240">
            <a:solidFill>
              <a:srgbClr val="FF4D6D"/>
            </a:solidFill>
            <a:prstDash val="solid"/>
            <a:headEnd type="triangle"/>
            <a:tailEnd type="none"/>
          </a:ln>
        </p:spPr>
      </p:sp>
      <p:sp>
        <p:nvSpPr>
          <p:cNvPr id="31" name="Text 28"/>
          <p:cNvSpPr/>
          <p:nvPr/>
        </p:nvSpPr>
        <p:spPr>
          <a:xfrm>
            <a:off x="4443984" y="4462272"/>
            <a:ext cx="914400" cy="109728"/>
          </a:xfrm>
          <a:prstGeom prst="rect">
            <a:avLst/>
          </a:prstGeom>
          <a:noFill/>
          <a:ln/>
        </p:spPr>
        <p:txBody>
          <a:bodyPr wrap="square" lIns="0" tIns="0" rIns="0" bIns="0" rtlCol="0" anchor="ctr"/>
          <a:lstStyle/>
          <a:p>
            <a:pPr algn="ctr" indent="0" marL="0">
              <a:buNone/>
            </a:pPr>
            <a:r>
              <a:rPr lang="en-US" sz="650" b="1" dirty="0">
                <a:solidFill>
                  <a:srgbClr val="FF4D6D"/>
                </a:solidFill>
              </a:rPr>
              <a:t>BLOCKED</a:t>
            </a:r>
            <a:endParaRPr lang="en-US" sz="650" dirty="0"/>
          </a:p>
        </p:txBody>
      </p:sp>
      <p:sp>
        <p:nvSpPr>
          <p:cNvPr id="32" name="Text 29"/>
          <p:cNvSpPr/>
          <p:nvPr/>
        </p:nvSpPr>
        <p:spPr>
          <a:xfrm>
            <a:off x="1234440" y="5650992"/>
            <a:ext cx="9601200" cy="310896"/>
          </a:xfrm>
          <a:prstGeom prst="rect">
            <a:avLst/>
          </a:prstGeom>
          <a:noFill/>
          <a:ln/>
        </p:spPr>
        <p:txBody>
          <a:bodyPr wrap="square" lIns="0" tIns="0" rIns="0" bIns="0" rtlCol="0" anchor="ctr">
            <a:normAutofit/>
          </a:bodyPr>
          <a:lstStyle/>
          <a:p>
            <a:pPr algn="ctr" indent="0" marL="0">
              <a:buNone/>
            </a:pPr>
            <a:r>
              <a:rPr lang="en-US" sz="1200" b="1" dirty="0">
                <a:solidFill>
                  <a:srgbClr val="EAF6FF"/>
                </a:solidFill>
              </a:rPr>
              <a:t>For IT / OT: we read approved sources, analyze externally, and support human decisions. We do not control production.</a:t>
            </a:r>
            <a:endParaRPr lang="en-US" sz="1200" dirty="0"/>
          </a:p>
        </p:txBody>
      </p:sp>
      <p:sp>
        <p:nvSpPr>
          <p:cNvPr id="33" name="Text 30"/>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4" name="Text 31"/>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5" name="Text 32"/>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3" name="Shape 1"/>
          <p:cNvSpPr/>
          <p:nvPr/>
        </p:nvSpPr>
        <p:spPr>
          <a:xfrm>
            <a:off x="0" y="0"/>
            <a:ext cx="12191695" cy="6858000"/>
          </a:xfrm>
          <a:prstGeom prst="rect">
            <a:avLst/>
          </a:prstGeom>
          <a:solidFill>
            <a:srgbClr val="050B18"/>
          </a:solidFill>
          <a:ln w="12700">
            <a:solidFill>
              <a:srgbClr val="050B18">
                <a:alpha val="0"/>
              </a:srgbClr>
            </a:solidFill>
            <a:prstDash val="solid"/>
          </a:ln>
        </p:spPr>
      </p:sp>
      <p:sp>
        <p:nvSpPr>
          <p:cNvPr id="4" name="Text 2"/>
          <p:cNvSpPr/>
          <p:nvPr/>
        </p:nvSpPr>
        <p:spPr>
          <a:xfrm>
            <a:off x="502920" y="411480"/>
            <a:ext cx="8046720" cy="228600"/>
          </a:xfrm>
          <a:prstGeom prst="rect">
            <a:avLst/>
          </a:prstGeom>
          <a:noFill/>
          <a:ln/>
        </p:spPr>
        <p:txBody>
          <a:bodyPr wrap="square" lIns="0" tIns="0" rIns="0" bIns="0" rtlCol="0" anchor="ctr"/>
          <a:lstStyle/>
          <a:p>
            <a:pPr indent="0" marL="0">
              <a:buNone/>
            </a:pPr>
            <a:r>
              <a:rPr lang="en-US" sz="850" b="1" dirty="0">
                <a:solidFill>
                  <a:srgbClr val="00D4FF"/>
                </a:solidFill>
              </a:rPr>
              <a:t>COMMERCIAL MODEL</a:t>
            </a:r>
            <a:endParaRPr lang="en-US" sz="850" dirty="0"/>
          </a:p>
        </p:txBody>
      </p:sp>
      <p:sp>
        <p:nvSpPr>
          <p:cNvPr id="5" name="Text 3"/>
          <p:cNvSpPr/>
          <p:nvPr/>
        </p:nvSpPr>
        <p:spPr>
          <a:xfrm>
            <a:off x="502920" y="704088"/>
            <a:ext cx="8046720" cy="822960"/>
          </a:xfrm>
          <a:prstGeom prst="rect">
            <a:avLst/>
          </a:prstGeom>
          <a:noFill/>
          <a:ln/>
        </p:spPr>
        <p:txBody>
          <a:bodyPr wrap="square" lIns="0" tIns="0" rIns="0" bIns="0" rtlCol="0" anchor="ctr">
            <a:normAutofit/>
          </a:bodyPr>
          <a:lstStyle/>
          <a:p>
            <a:pPr indent="0" marL="0">
              <a:buNone/>
            </a:pPr>
            <a:r>
              <a:rPr lang="en-US" sz="3000" b="1" dirty="0">
                <a:solidFill>
                  <a:srgbClr val="EAF6FF"/>
                </a:solidFill>
              </a:rPr>
              <a:t>Transparent investment. Immediate ROI path.</a:t>
            </a:r>
            <a:endParaRPr lang="en-US" sz="3000" dirty="0"/>
          </a:p>
        </p:txBody>
      </p:sp>
      <p:sp>
        <p:nvSpPr>
          <p:cNvPr id="6" name="Text 4"/>
          <p:cNvSpPr/>
          <p:nvPr/>
        </p:nvSpPr>
        <p:spPr>
          <a:xfrm>
            <a:off x="502920" y="1490472"/>
            <a:ext cx="8046720" cy="411480"/>
          </a:xfrm>
          <a:prstGeom prst="rect">
            <a:avLst/>
          </a:prstGeom>
          <a:noFill/>
          <a:ln/>
        </p:spPr>
        <p:txBody>
          <a:bodyPr wrap="square" lIns="0" tIns="0" rIns="0" bIns="0" rtlCol="0" anchor="ctr">
            <a:normAutofit/>
          </a:bodyPr>
          <a:lstStyle/>
          <a:p>
            <a:pPr indent="0" marL="0">
              <a:buNone/>
            </a:pPr>
            <a:r>
              <a:rPr lang="en-US" sz="1200" dirty="0">
                <a:solidFill>
                  <a:srgbClr val="B6C7D9"/>
                </a:solidFill>
              </a:rPr>
              <a:t>Installation + subscription, scaled by source complexity, active users, computational volume, and capability packs.</a:t>
            </a:r>
            <a:endParaRPr lang="en-US" sz="1200" dirty="0"/>
          </a:p>
        </p:txBody>
      </p:sp>
      <p:sp>
        <p:nvSpPr>
          <p:cNvPr id="7" name="Shape 5"/>
          <p:cNvSpPr/>
          <p:nvPr/>
        </p:nvSpPr>
        <p:spPr>
          <a:xfrm>
            <a:off x="8869680" y="411480"/>
            <a:ext cx="2103120" cy="329184"/>
          </a:xfrm>
          <a:prstGeom prst="roundRect">
            <a:avLst>
              <a:gd name="adj" fmla="val 11111"/>
            </a:avLst>
          </a:prstGeom>
          <a:solidFill>
            <a:srgbClr val="FFB020">
              <a:alpha val="8000"/>
            </a:srgbClr>
          </a:solidFill>
          <a:ln w="8890">
            <a:solidFill>
              <a:srgbClr val="FFB020"/>
            </a:solidFill>
            <a:prstDash val="solid"/>
          </a:ln>
        </p:spPr>
      </p:sp>
      <p:sp>
        <p:nvSpPr>
          <p:cNvPr id="8" name="Text 6"/>
          <p:cNvSpPr/>
          <p:nvPr/>
        </p:nvSpPr>
        <p:spPr>
          <a:xfrm>
            <a:off x="8869680" y="493776"/>
            <a:ext cx="2103120" cy="109728"/>
          </a:xfrm>
          <a:prstGeom prst="rect">
            <a:avLst/>
          </a:prstGeom>
          <a:noFill/>
          <a:ln/>
        </p:spPr>
        <p:txBody>
          <a:bodyPr wrap="square" lIns="0" tIns="0" rIns="0" bIns="0" rtlCol="0" anchor="ctr"/>
          <a:lstStyle/>
          <a:p>
            <a:pPr algn="ctr" indent="0" marL="0">
              <a:buNone/>
            </a:pPr>
            <a:r>
              <a:rPr lang="en-US" sz="580" b="1" dirty="0">
                <a:solidFill>
                  <a:srgbClr val="FFB020"/>
                </a:solidFill>
              </a:rPr>
              <a:t>START WITH PROOF-OF-VALUE</a:t>
            </a:r>
            <a:endParaRPr lang="en-US" sz="580" dirty="0"/>
          </a:p>
        </p:txBody>
      </p:sp>
      <p:sp>
        <p:nvSpPr>
          <p:cNvPr id="9" name="Shape 7"/>
          <p:cNvSpPr/>
          <p:nvPr/>
        </p:nvSpPr>
        <p:spPr>
          <a:xfrm>
            <a:off x="685800" y="1600200"/>
            <a:ext cx="3337560" cy="4023360"/>
          </a:xfrm>
          <a:prstGeom prst="roundRect">
            <a:avLst>
              <a:gd name="adj" fmla="val 2192"/>
            </a:avLst>
          </a:prstGeom>
          <a:solidFill>
            <a:srgbClr val="0B1730">
              <a:alpha val="97000"/>
            </a:srgbClr>
          </a:solidFill>
          <a:ln w="15240">
            <a:solidFill>
              <a:srgbClr val="00D4FF">
                <a:alpha val="90000"/>
              </a:srgbClr>
            </a:solidFill>
            <a:prstDash val="solid"/>
          </a:ln>
          <a:effectLst>
            <a:outerShdw sx="100000" sy="100000" kx="0" ky="0" algn="bl" rotWithShape="0" blurRad="12700" dist="50800" dir="2700000">
              <a:srgbClr val="00D4FF">
                <a:alpha val="14000"/>
              </a:srgbClr>
            </a:outerShdw>
          </a:effectLst>
        </p:spPr>
      </p:sp>
      <p:sp>
        <p:nvSpPr>
          <p:cNvPr id="10" name="Text 8"/>
          <p:cNvSpPr/>
          <p:nvPr/>
        </p:nvSpPr>
        <p:spPr>
          <a:xfrm>
            <a:off x="777240" y="1883664"/>
            <a:ext cx="3154680" cy="201168"/>
          </a:xfrm>
          <a:prstGeom prst="rect">
            <a:avLst/>
          </a:prstGeom>
          <a:noFill/>
          <a:ln/>
        </p:spPr>
        <p:txBody>
          <a:bodyPr wrap="square" lIns="0" tIns="0" rIns="0" bIns="0" rtlCol="0" anchor="ctr"/>
          <a:lstStyle/>
          <a:p>
            <a:pPr algn="ctr" indent="0" marL="0">
              <a:buNone/>
            </a:pPr>
            <a:r>
              <a:rPr lang="en-US" sz="1400" b="1" dirty="0">
                <a:solidFill>
                  <a:srgbClr val="EAF6FF"/>
                </a:solidFill>
              </a:rPr>
              <a:t>Foundation</a:t>
            </a:r>
            <a:endParaRPr lang="en-US" sz="1400" dirty="0"/>
          </a:p>
        </p:txBody>
      </p:sp>
      <p:sp>
        <p:nvSpPr>
          <p:cNvPr id="11" name="Text 9"/>
          <p:cNvSpPr/>
          <p:nvPr/>
        </p:nvSpPr>
        <p:spPr>
          <a:xfrm>
            <a:off x="777240" y="2487168"/>
            <a:ext cx="3154680" cy="310896"/>
          </a:xfrm>
          <a:prstGeom prst="rect">
            <a:avLst/>
          </a:prstGeom>
          <a:noFill/>
          <a:ln/>
        </p:spPr>
        <p:txBody>
          <a:bodyPr wrap="square" lIns="0" tIns="0" rIns="0" bIns="0" rtlCol="0" anchor="ctr"/>
          <a:lstStyle/>
          <a:p>
            <a:pPr algn="ctr" indent="0" marL="0">
              <a:buNone/>
            </a:pPr>
            <a:r>
              <a:rPr lang="en-US" sz="2300" b="1" dirty="0">
                <a:solidFill>
                  <a:srgbClr val="00D4FF"/>
                </a:solidFill>
              </a:rPr>
              <a:t>$12k</a:t>
            </a:r>
            <a:endParaRPr lang="en-US" sz="2300" dirty="0"/>
          </a:p>
        </p:txBody>
      </p:sp>
      <p:sp>
        <p:nvSpPr>
          <p:cNvPr id="12" name="Text 10"/>
          <p:cNvSpPr/>
          <p:nvPr/>
        </p:nvSpPr>
        <p:spPr>
          <a:xfrm>
            <a:off x="777240" y="2862072"/>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one-time deployment &amp; integration</a:t>
            </a:r>
            <a:endParaRPr lang="en-US" sz="650" dirty="0"/>
          </a:p>
        </p:txBody>
      </p:sp>
      <p:sp>
        <p:nvSpPr>
          <p:cNvPr id="13" name="Shape 11"/>
          <p:cNvSpPr/>
          <p:nvPr/>
        </p:nvSpPr>
        <p:spPr>
          <a:xfrm>
            <a:off x="1188720" y="3246120"/>
            <a:ext cx="2331720" cy="0"/>
          </a:xfrm>
          <a:prstGeom prst="line">
            <a:avLst/>
          </a:prstGeom>
          <a:noFill/>
          <a:ln w="10160">
            <a:solidFill>
              <a:srgbClr val="00D4FF">
                <a:alpha val="70000"/>
              </a:srgbClr>
            </a:solidFill>
            <a:prstDash val="solid"/>
          </a:ln>
        </p:spPr>
      </p:sp>
      <p:sp>
        <p:nvSpPr>
          <p:cNvPr id="14" name="Text 12"/>
          <p:cNvSpPr/>
          <p:nvPr/>
        </p:nvSpPr>
        <p:spPr>
          <a:xfrm>
            <a:off x="777240" y="3502152"/>
            <a:ext cx="3154680" cy="274320"/>
          </a:xfrm>
          <a:prstGeom prst="rect">
            <a:avLst/>
          </a:prstGeom>
          <a:noFill/>
          <a:ln/>
        </p:spPr>
        <p:txBody>
          <a:bodyPr wrap="square" lIns="0" tIns="0" rIns="0" bIns="0" rtlCol="0" anchor="ctr"/>
          <a:lstStyle/>
          <a:p>
            <a:pPr algn="ctr" indent="0" marL="0">
              <a:buNone/>
            </a:pPr>
            <a:r>
              <a:rPr lang="en-US" sz="1800" b="1" dirty="0">
                <a:solidFill>
                  <a:srgbClr val="EAF6FF"/>
                </a:solidFill>
              </a:rPr>
              <a:t>$6k / mo</a:t>
            </a:r>
            <a:endParaRPr lang="en-US" sz="1800" dirty="0"/>
          </a:p>
        </p:txBody>
      </p:sp>
      <p:sp>
        <p:nvSpPr>
          <p:cNvPr id="15" name="Text 13"/>
          <p:cNvSpPr/>
          <p:nvPr/>
        </p:nvSpPr>
        <p:spPr>
          <a:xfrm>
            <a:off x="777240" y="3858768"/>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monthly subscription</a:t>
            </a:r>
            <a:endParaRPr lang="en-US" sz="650" dirty="0"/>
          </a:p>
        </p:txBody>
      </p:sp>
      <p:sp>
        <p:nvSpPr>
          <p:cNvPr id="16" name="Text 14"/>
          <p:cNvSpPr/>
          <p:nvPr/>
        </p:nvSpPr>
        <p:spPr>
          <a:xfrm>
            <a:off x="960120" y="4334256"/>
            <a:ext cx="2788920" cy="201168"/>
          </a:xfrm>
          <a:prstGeom prst="rect">
            <a:avLst/>
          </a:prstGeom>
          <a:noFill/>
          <a:ln/>
        </p:spPr>
        <p:txBody>
          <a:bodyPr wrap="square" lIns="0" tIns="0" rIns="0" bIns="0" rtlCol="0" anchor="ctr">
            <a:normAutofit/>
          </a:bodyPr>
          <a:lstStyle/>
          <a:p>
            <a:pPr algn="ctr" indent="0" marL="0">
              <a:buNone/>
            </a:pPr>
            <a:r>
              <a:rPr lang="en-US" sz="950" b="1" dirty="0">
                <a:solidFill>
                  <a:srgbClr val="00D4FF"/>
                </a:solidFill>
              </a:rPr>
              <a:t>Initial deployment &amp; mapping</a:t>
            </a:r>
            <a:endParaRPr lang="en-US" sz="950" dirty="0"/>
          </a:p>
        </p:txBody>
      </p:sp>
      <p:sp>
        <p:nvSpPr>
          <p:cNvPr id="17" name="Text 15"/>
          <p:cNvSpPr/>
          <p:nvPr/>
        </p:nvSpPr>
        <p:spPr>
          <a:xfrm>
            <a:off x="1069848" y="4709160"/>
            <a:ext cx="2560320" cy="502920"/>
          </a:xfrm>
          <a:prstGeom prst="rect">
            <a:avLst/>
          </a:prstGeom>
          <a:noFill/>
          <a:ln/>
        </p:spPr>
        <p:txBody>
          <a:bodyPr wrap="square" lIns="0" tIns="0" rIns="0" bIns="0" rtlCol="0" anchor="ctr">
            <a:normAutofit/>
          </a:bodyPr>
          <a:lstStyle/>
          <a:p>
            <a:pPr algn="ctr" indent="0" marL="0">
              <a:buNone/>
            </a:pPr>
            <a:r>
              <a:rPr lang="en-US" sz="740" dirty="0">
                <a:solidFill>
                  <a:srgbClr val="B6C7D9"/>
                </a:solidFill>
              </a:rPr>
              <a:t>1–3 data sources</a:t>
            </a:r>
            <a:endParaRPr lang="en-US" sz="740" dirty="0"/>
          </a:p>
          <a:p>
            <a:pPr algn="ctr" indent="0" marL="0">
              <a:buNone/>
            </a:pPr>
            <a:r>
              <a:rPr lang="en-US" sz="740" dirty="0">
                <a:solidFill>
                  <a:srgbClr val="B6C7D9"/>
                </a:solidFill>
              </a:rPr>
              <a:t>core pages + journey</a:t>
            </a:r>
            <a:endParaRPr lang="en-US" sz="740" dirty="0"/>
          </a:p>
        </p:txBody>
      </p:sp>
      <p:sp>
        <p:nvSpPr>
          <p:cNvPr id="18" name="Shape 16"/>
          <p:cNvSpPr/>
          <p:nvPr/>
        </p:nvSpPr>
        <p:spPr>
          <a:xfrm>
            <a:off x="4453128" y="1600200"/>
            <a:ext cx="3337560" cy="4023360"/>
          </a:xfrm>
          <a:prstGeom prst="roundRect">
            <a:avLst>
              <a:gd name="adj" fmla="val 2192"/>
            </a:avLst>
          </a:prstGeom>
          <a:solidFill>
            <a:srgbClr val="0B1730">
              <a:alpha val="97000"/>
            </a:srgbClr>
          </a:solidFill>
          <a:ln w="15240">
            <a:solidFill>
              <a:srgbClr val="2CE6A2">
                <a:alpha val="90000"/>
              </a:srgbClr>
            </a:solidFill>
            <a:prstDash val="solid"/>
          </a:ln>
          <a:effectLst>
            <a:outerShdw sx="100000" sy="100000" kx="0" ky="0" algn="bl" rotWithShape="0" blurRad="12700" dist="50800" dir="2700000">
              <a:srgbClr val="2CE6A2">
                <a:alpha val="14000"/>
              </a:srgbClr>
            </a:outerShdw>
          </a:effectLst>
        </p:spPr>
      </p:sp>
      <p:sp>
        <p:nvSpPr>
          <p:cNvPr id="19" name="Text 17"/>
          <p:cNvSpPr/>
          <p:nvPr/>
        </p:nvSpPr>
        <p:spPr>
          <a:xfrm>
            <a:off x="4544568" y="1883664"/>
            <a:ext cx="3154680" cy="201168"/>
          </a:xfrm>
          <a:prstGeom prst="rect">
            <a:avLst/>
          </a:prstGeom>
          <a:noFill/>
          <a:ln/>
        </p:spPr>
        <p:txBody>
          <a:bodyPr wrap="square" lIns="0" tIns="0" rIns="0" bIns="0" rtlCol="0" anchor="ctr"/>
          <a:lstStyle/>
          <a:p>
            <a:pPr algn="ctr" indent="0" marL="0">
              <a:buNone/>
            </a:pPr>
            <a:r>
              <a:rPr lang="en-US" sz="1400" b="1" dirty="0">
                <a:solidFill>
                  <a:srgbClr val="EAF6FF"/>
                </a:solidFill>
              </a:rPr>
              <a:t>Advanced</a:t>
            </a:r>
            <a:endParaRPr lang="en-US" sz="1400" dirty="0"/>
          </a:p>
        </p:txBody>
      </p:sp>
      <p:sp>
        <p:nvSpPr>
          <p:cNvPr id="20" name="Text 18"/>
          <p:cNvSpPr/>
          <p:nvPr/>
        </p:nvSpPr>
        <p:spPr>
          <a:xfrm>
            <a:off x="4544568" y="2487168"/>
            <a:ext cx="3154680" cy="310896"/>
          </a:xfrm>
          <a:prstGeom prst="rect">
            <a:avLst/>
          </a:prstGeom>
          <a:noFill/>
          <a:ln/>
        </p:spPr>
        <p:txBody>
          <a:bodyPr wrap="square" lIns="0" tIns="0" rIns="0" bIns="0" rtlCol="0" anchor="ctr"/>
          <a:lstStyle/>
          <a:p>
            <a:pPr algn="ctr" indent="0" marL="0">
              <a:buNone/>
            </a:pPr>
            <a:r>
              <a:rPr lang="en-US" sz="2300" b="1" dirty="0">
                <a:solidFill>
                  <a:srgbClr val="2CE6A2"/>
                </a:solidFill>
              </a:rPr>
              <a:t>$28k</a:t>
            </a:r>
            <a:endParaRPr lang="en-US" sz="2300" dirty="0"/>
          </a:p>
        </p:txBody>
      </p:sp>
      <p:sp>
        <p:nvSpPr>
          <p:cNvPr id="21" name="Text 19"/>
          <p:cNvSpPr/>
          <p:nvPr/>
        </p:nvSpPr>
        <p:spPr>
          <a:xfrm>
            <a:off x="4544568" y="2862072"/>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one-time deployment &amp; integration</a:t>
            </a:r>
            <a:endParaRPr lang="en-US" sz="650" dirty="0"/>
          </a:p>
        </p:txBody>
      </p:sp>
      <p:sp>
        <p:nvSpPr>
          <p:cNvPr id="22" name="Shape 20"/>
          <p:cNvSpPr/>
          <p:nvPr/>
        </p:nvSpPr>
        <p:spPr>
          <a:xfrm>
            <a:off x="4956048" y="3246120"/>
            <a:ext cx="2331720" cy="0"/>
          </a:xfrm>
          <a:prstGeom prst="line">
            <a:avLst/>
          </a:prstGeom>
          <a:noFill/>
          <a:ln w="10160">
            <a:solidFill>
              <a:srgbClr val="2CE6A2">
                <a:alpha val="70000"/>
              </a:srgbClr>
            </a:solidFill>
            <a:prstDash val="solid"/>
          </a:ln>
        </p:spPr>
      </p:sp>
      <p:sp>
        <p:nvSpPr>
          <p:cNvPr id="23" name="Text 21"/>
          <p:cNvSpPr/>
          <p:nvPr/>
        </p:nvSpPr>
        <p:spPr>
          <a:xfrm>
            <a:off x="4544568" y="3502152"/>
            <a:ext cx="3154680" cy="274320"/>
          </a:xfrm>
          <a:prstGeom prst="rect">
            <a:avLst/>
          </a:prstGeom>
          <a:noFill/>
          <a:ln/>
        </p:spPr>
        <p:txBody>
          <a:bodyPr wrap="square" lIns="0" tIns="0" rIns="0" bIns="0" rtlCol="0" anchor="ctr"/>
          <a:lstStyle/>
          <a:p>
            <a:pPr algn="ctr" indent="0" marL="0">
              <a:buNone/>
            </a:pPr>
            <a:r>
              <a:rPr lang="en-US" sz="1800" b="1" dirty="0">
                <a:solidFill>
                  <a:srgbClr val="EAF6FF"/>
                </a:solidFill>
              </a:rPr>
              <a:t>$14k / mo</a:t>
            </a:r>
            <a:endParaRPr lang="en-US" sz="1800" dirty="0"/>
          </a:p>
        </p:txBody>
      </p:sp>
      <p:sp>
        <p:nvSpPr>
          <p:cNvPr id="24" name="Text 22"/>
          <p:cNvSpPr/>
          <p:nvPr/>
        </p:nvSpPr>
        <p:spPr>
          <a:xfrm>
            <a:off x="4544568" y="3858768"/>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monthly subscription</a:t>
            </a:r>
            <a:endParaRPr lang="en-US" sz="650" dirty="0"/>
          </a:p>
        </p:txBody>
      </p:sp>
      <p:sp>
        <p:nvSpPr>
          <p:cNvPr id="25" name="Text 23"/>
          <p:cNvSpPr/>
          <p:nvPr/>
        </p:nvSpPr>
        <p:spPr>
          <a:xfrm>
            <a:off x="4727448" y="4334256"/>
            <a:ext cx="2788920" cy="201168"/>
          </a:xfrm>
          <a:prstGeom prst="rect">
            <a:avLst/>
          </a:prstGeom>
          <a:noFill/>
          <a:ln/>
        </p:spPr>
        <p:txBody>
          <a:bodyPr wrap="square" lIns="0" tIns="0" rIns="0" bIns="0" rtlCol="0" anchor="ctr">
            <a:normAutofit/>
          </a:bodyPr>
          <a:lstStyle/>
          <a:p>
            <a:pPr algn="ctr" indent="0" marL="0">
              <a:buNone/>
            </a:pPr>
            <a:r>
              <a:rPr lang="en-US" sz="950" b="1" dirty="0">
                <a:solidFill>
                  <a:srgbClr val="2CE6A2"/>
                </a:solidFill>
              </a:rPr>
              <a:t>Expanded source landscape</a:t>
            </a:r>
            <a:endParaRPr lang="en-US" sz="950" dirty="0"/>
          </a:p>
        </p:txBody>
      </p:sp>
      <p:sp>
        <p:nvSpPr>
          <p:cNvPr id="26" name="Text 24"/>
          <p:cNvSpPr/>
          <p:nvPr/>
        </p:nvSpPr>
        <p:spPr>
          <a:xfrm>
            <a:off x="4837176" y="4709160"/>
            <a:ext cx="2560320" cy="502920"/>
          </a:xfrm>
          <a:prstGeom prst="rect">
            <a:avLst/>
          </a:prstGeom>
          <a:noFill/>
          <a:ln/>
        </p:spPr>
        <p:txBody>
          <a:bodyPr wrap="square" lIns="0" tIns="0" rIns="0" bIns="0" rtlCol="0" anchor="ctr">
            <a:normAutofit/>
          </a:bodyPr>
          <a:lstStyle/>
          <a:p>
            <a:pPr algn="ctr" indent="0" marL="0">
              <a:buNone/>
            </a:pPr>
            <a:r>
              <a:rPr lang="en-US" sz="740" dirty="0">
                <a:solidFill>
                  <a:srgbClr val="B6C7D9"/>
                </a:solidFill>
              </a:rPr>
              <a:t>up to 8 data sources</a:t>
            </a:r>
            <a:endParaRPr lang="en-US" sz="740" dirty="0"/>
          </a:p>
          <a:p>
            <a:pPr algn="ctr" indent="0" marL="0">
              <a:buNone/>
            </a:pPr>
            <a:r>
              <a:rPr lang="en-US" sz="740" dirty="0">
                <a:solidFill>
                  <a:srgbClr val="B6C7D9"/>
                </a:solidFill>
              </a:rPr>
              <a:t>advanced analysis + assistant</a:t>
            </a:r>
            <a:endParaRPr lang="en-US" sz="740" dirty="0"/>
          </a:p>
        </p:txBody>
      </p:sp>
      <p:sp>
        <p:nvSpPr>
          <p:cNvPr id="27" name="Shape 25"/>
          <p:cNvSpPr/>
          <p:nvPr/>
        </p:nvSpPr>
        <p:spPr>
          <a:xfrm>
            <a:off x="8220456" y="1600200"/>
            <a:ext cx="3337560" cy="4023360"/>
          </a:xfrm>
          <a:prstGeom prst="roundRect">
            <a:avLst>
              <a:gd name="adj" fmla="val 2192"/>
            </a:avLst>
          </a:prstGeom>
          <a:solidFill>
            <a:srgbClr val="0B1730">
              <a:alpha val="97000"/>
            </a:srgbClr>
          </a:solidFill>
          <a:ln w="15240">
            <a:solidFill>
              <a:srgbClr val="FFB020">
                <a:alpha val="90000"/>
              </a:srgbClr>
            </a:solidFill>
            <a:prstDash val="solid"/>
          </a:ln>
          <a:effectLst>
            <a:outerShdw sx="100000" sy="100000" kx="0" ky="0" algn="bl" rotWithShape="0" blurRad="12700" dist="50800" dir="2700000">
              <a:srgbClr val="FFB020">
                <a:alpha val="14000"/>
              </a:srgbClr>
            </a:outerShdw>
          </a:effectLst>
        </p:spPr>
      </p:sp>
      <p:sp>
        <p:nvSpPr>
          <p:cNvPr id="28" name="Text 26"/>
          <p:cNvSpPr/>
          <p:nvPr/>
        </p:nvSpPr>
        <p:spPr>
          <a:xfrm>
            <a:off x="8311896" y="1883664"/>
            <a:ext cx="3154680" cy="201168"/>
          </a:xfrm>
          <a:prstGeom prst="rect">
            <a:avLst/>
          </a:prstGeom>
          <a:noFill/>
          <a:ln/>
        </p:spPr>
        <p:txBody>
          <a:bodyPr wrap="square" lIns="0" tIns="0" rIns="0" bIns="0" rtlCol="0" anchor="ctr"/>
          <a:lstStyle/>
          <a:p>
            <a:pPr algn="ctr" indent="0" marL="0">
              <a:buNone/>
            </a:pPr>
            <a:r>
              <a:rPr lang="en-US" sz="1400" b="1" dirty="0">
                <a:solidFill>
                  <a:srgbClr val="EAF6FF"/>
                </a:solidFill>
              </a:rPr>
              <a:t>Enterprise</a:t>
            </a:r>
            <a:endParaRPr lang="en-US" sz="1400" dirty="0"/>
          </a:p>
        </p:txBody>
      </p:sp>
      <p:sp>
        <p:nvSpPr>
          <p:cNvPr id="29" name="Text 27"/>
          <p:cNvSpPr/>
          <p:nvPr/>
        </p:nvSpPr>
        <p:spPr>
          <a:xfrm>
            <a:off x="8311896" y="2487168"/>
            <a:ext cx="3154680" cy="310896"/>
          </a:xfrm>
          <a:prstGeom prst="rect">
            <a:avLst/>
          </a:prstGeom>
          <a:noFill/>
          <a:ln/>
        </p:spPr>
        <p:txBody>
          <a:bodyPr wrap="square" lIns="0" tIns="0" rIns="0" bIns="0" rtlCol="0" anchor="ctr"/>
          <a:lstStyle/>
          <a:p>
            <a:pPr algn="ctr" indent="0" marL="0">
              <a:buNone/>
            </a:pPr>
            <a:r>
              <a:rPr lang="en-US" sz="2300" b="1" dirty="0">
                <a:solidFill>
                  <a:srgbClr val="FFB020"/>
                </a:solidFill>
              </a:rPr>
              <a:t>$50k</a:t>
            </a:r>
            <a:endParaRPr lang="en-US" sz="2300" dirty="0"/>
          </a:p>
        </p:txBody>
      </p:sp>
      <p:sp>
        <p:nvSpPr>
          <p:cNvPr id="30" name="Text 28"/>
          <p:cNvSpPr/>
          <p:nvPr/>
        </p:nvSpPr>
        <p:spPr>
          <a:xfrm>
            <a:off x="8311896" y="2862072"/>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one-time deployment &amp; integration</a:t>
            </a:r>
            <a:endParaRPr lang="en-US" sz="650" dirty="0"/>
          </a:p>
        </p:txBody>
      </p:sp>
      <p:sp>
        <p:nvSpPr>
          <p:cNvPr id="31" name="Shape 29"/>
          <p:cNvSpPr/>
          <p:nvPr/>
        </p:nvSpPr>
        <p:spPr>
          <a:xfrm>
            <a:off x="8723376" y="3246120"/>
            <a:ext cx="2331720" cy="0"/>
          </a:xfrm>
          <a:prstGeom prst="line">
            <a:avLst/>
          </a:prstGeom>
          <a:noFill/>
          <a:ln w="10160">
            <a:solidFill>
              <a:srgbClr val="FFB020">
                <a:alpha val="70000"/>
              </a:srgbClr>
            </a:solidFill>
            <a:prstDash val="solid"/>
          </a:ln>
        </p:spPr>
      </p:sp>
      <p:sp>
        <p:nvSpPr>
          <p:cNvPr id="32" name="Text 30"/>
          <p:cNvSpPr/>
          <p:nvPr/>
        </p:nvSpPr>
        <p:spPr>
          <a:xfrm>
            <a:off x="8311896" y="3502152"/>
            <a:ext cx="3154680" cy="274320"/>
          </a:xfrm>
          <a:prstGeom prst="rect">
            <a:avLst/>
          </a:prstGeom>
          <a:noFill/>
          <a:ln/>
        </p:spPr>
        <p:txBody>
          <a:bodyPr wrap="square" lIns="0" tIns="0" rIns="0" bIns="0" rtlCol="0" anchor="ctr"/>
          <a:lstStyle/>
          <a:p>
            <a:pPr algn="ctr" indent="0" marL="0">
              <a:buNone/>
            </a:pPr>
            <a:r>
              <a:rPr lang="en-US" sz="1800" b="1" dirty="0">
                <a:solidFill>
                  <a:srgbClr val="EAF6FF"/>
                </a:solidFill>
              </a:rPr>
              <a:t>$25k / mo</a:t>
            </a:r>
            <a:endParaRPr lang="en-US" sz="1800" dirty="0"/>
          </a:p>
        </p:txBody>
      </p:sp>
      <p:sp>
        <p:nvSpPr>
          <p:cNvPr id="33" name="Text 31"/>
          <p:cNvSpPr/>
          <p:nvPr/>
        </p:nvSpPr>
        <p:spPr>
          <a:xfrm>
            <a:off x="8311896" y="3858768"/>
            <a:ext cx="3154680" cy="109728"/>
          </a:xfrm>
          <a:prstGeom prst="rect">
            <a:avLst/>
          </a:prstGeom>
          <a:noFill/>
          <a:ln/>
        </p:spPr>
        <p:txBody>
          <a:bodyPr wrap="square" lIns="0" tIns="0" rIns="0" bIns="0" rtlCol="0" anchor="ctr"/>
          <a:lstStyle/>
          <a:p>
            <a:pPr algn="ctr" indent="0" marL="0">
              <a:buNone/>
            </a:pPr>
            <a:r>
              <a:rPr lang="en-US" sz="650" dirty="0">
                <a:solidFill>
                  <a:srgbClr val="8EA7C1"/>
                </a:solidFill>
              </a:rPr>
              <a:t>monthly subscription</a:t>
            </a:r>
            <a:endParaRPr lang="en-US" sz="650" dirty="0"/>
          </a:p>
        </p:txBody>
      </p:sp>
      <p:sp>
        <p:nvSpPr>
          <p:cNvPr id="34" name="Text 32"/>
          <p:cNvSpPr/>
          <p:nvPr/>
        </p:nvSpPr>
        <p:spPr>
          <a:xfrm>
            <a:off x="8494776" y="4334256"/>
            <a:ext cx="2788920" cy="201168"/>
          </a:xfrm>
          <a:prstGeom prst="rect">
            <a:avLst/>
          </a:prstGeom>
          <a:noFill/>
          <a:ln/>
        </p:spPr>
        <p:txBody>
          <a:bodyPr wrap="square" lIns="0" tIns="0" rIns="0" bIns="0" rtlCol="0" anchor="ctr">
            <a:normAutofit/>
          </a:bodyPr>
          <a:lstStyle/>
          <a:p>
            <a:pPr algn="ctr" indent="0" marL="0">
              <a:buNone/>
            </a:pPr>
            <a:r>
              <a:rPr lang="en-US" sz="950" b="1" dirty="0">
                <a:solidFill>
                  <a:srgbClr val="FFB020"/>
                </a:solidFill>
              </a:rPr>
              <a:t>Large plant / multi-pack deployment</a:t>
            </a:r>
            <a:endParaRPr lang="en-US" sz="950" dirty="0"/>
          </a:p>
        </p:txBody>
      </p:sp>
      <p:sp>
        <p:nvSpPr>
          <p:cNvPr id="35" name="Text 33"/>
          <p:cNvSpPr/>
          <p:nvPr/>
        </p:nvSpPr>
        <p:spPr>
          <a:xfrm>
            <a:off x="8604504" y="4709160"/>
            <a:ext cx="2560320" cy="502920"/>
          </a:xfrm>
          <a:prstGeom prst="rect">
            <a:avLst/>
          </a:prstGeom>
          <a:noFill/>
          <a:ln/>
        </p:spPr>
        <p:txBody>
          <a:bodyPr wrap="square" lIns="0" tIns="0" rIns="0" bIns="0" rtlCol="0" anchor="ctr">
            <a:normAutofit/>
          </a:bodyPr>
          <a:lstStyle/>
          <a:p>
            <a:pPr algn="ctr" indent="0" marL="0">
              <a:buNone/>
            </a:pPr>
            <a:r>
              <a:rPr lang="en-US" sz="740" dirty="0">
                <a:solidFill>
                  <a:srgbClr val="B6C7D9"/>
                </a:solidFill>
              </a:rPr>
              <a:t>unlimited scope options</a:t>
            </a:r>
            <a:endParaRPr lang="en-US" sz="740" dirty="0"/>
          </a:p>
          <a:p>
            <a:pPr algn="ctr" indent="0" marL="0">
              <a:buNone/>
            </a:pPr>
            <a:r>
              <a:rPr lang="en-US" sz="740" dirty="0">
                <a:solidFill>
                  <a:srgbClr val="B6C7D9"/>
                </a:solidFill>
              </a:rPr>
              <a:t>priority support + packs</a:t>
            </a:r>
            <a:endParaRPr lang="en-US" sz="740" dirty="0"/>
          </a:p>
        </p:txBody>
      </p:sp>
      <p:sp>
        <p:nvSpPr>
          <p:cNvPr id="36" name="Text 34"/>
          <p:cNvSpPr/>
          <p:nvPr/>
        </p:nvSpPr>
        <p:spPr>
          <a:xfrm>
            <a:off x="1325880" y="5806440"/>
            <a:ext cx="9601200" cy="164592"/>
          </a:xfrm>
          <a:prstGeom prst="rect">
            <a:avLst/>
          </a:prstGeom>
          <a:noFill/>
          <a:ln/>
        </p:spPr>
        <p:txBody>
          <a:bodyPr wrap="square" lIns="0" tIns="0" rIns="0" bIns="0" rtlCol="0" anchor="ctr"/>
          <a:lstStyle/>
          <a:p>
            <a:pPr algn="ctr" indent="0" marL="0">
              <a:buNone/>
            </a:pPr>
            <a:r>
              <a:rPr lang="en-US" sz="780" dirty="0">
                <a:solidFill>
                  <a:srgbClr val="8EA7C1"/>
                </a:solidFill>
              </a:rPr>
              <a:t>Pricing variables: number of data sources · required mappings · pages/modifications · active users · compute volume · capability packs</a:t>
            </a:r>
            <a:endParaRPr lang="en-US" sz="780" dirty="0"/>
          </a:p>
        </p:txBody>
      </p:sp>
      <p:sp>
        <p:nvSpPr>
          <p:cNvPr id="37" name="Text 35"/>
          <p:cNvSpPr/>
          <p:nvPr/>
        </p:nvSpPr>
        <p:spPr>
          <a:xfrm>
            <a:off x="1920240" y="6172200"/>
            <a:ext cx="8321040" cy="228600"/>
          </a:xfrm>
          <a:prstGeom prst="rect">
            <a:avLst/>
          </a:prstGeom>
          <a:noFill/>
          <a:ln/>
        </p:spPr>
        <p:txBody>
          <a:bodyPr wrap="square" lIns="0" tIns="0" rIns="0" bIns="0" rtlCol="0" anchor="ctr"/>
          <a:lstStyle/>
          <a:p>
            <a:pPr algn="ctr" indent="0" marL="0">
              <a:buNone/>
            </a:pPr>
            <a:r>
              <a:rPr lang="en-US" sz="1200" b="1" dirty="0">
                <a:solidFill>
                  <a:srgbClr val="2CE6A2"/>
                </a:solidFill>
              </a:rPr>
              <a:t>Commercial logic: start with Proof-of-Value, then scale by proven plant value.</a:t>
            </a:r>
            <a:endParaRPr lang="en-US" sz="1200" dirty="0"/>
          </a:p>
        </p:txBody>
      </p:sp>
      <p:sp>
        <p:nvSpPr>
          <p:cNvPr id="38" name="Text 36"/>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9" name="Text 37"/>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40" name="Text 38"/>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B18"/>
        </a:solidFill>
      </p:bgPr>
    </p:bg>
    <p:spTree>
      <p:nvGrpSpPr>
        <p:cNvPr id="1" name=""/>
        <p:cNvGrpSpPr/>
        <p:nvPr/>
      </p:nvGrpSpPr>
      <p:grpSpPr>
        <a:xfrm>
          <a:off x="0" y="0"/>
          <a:ext cx="0" cy="0"/>
          <a:chOff x="0" y="0"/>
          <a:chExt cx="0" cy="0"/>
        </a:xfrm>
      </p:grpSpPr>
      <p:pic>
        <p:nvPicPr>
          <p:cNvPr id="2" name="Image 0" descr="/mnt/data/a_wide_cinematic_high_tech_industrial_control_ro_batch_1.png">    </p:cNvPr>
          <p:cNvPicPr>
            <a:picLocks noChangeAspect="1"/>
          </p:cNvPicPr>
          <p:nvPr/>
        </p:nvPicPr>
        <p:blipFill>
          <a:blip r:embed="rId1"/>
          <a:srcRect l="5000" r="-505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B18">
              <a:alpha val="55000"/>
            </a:srgbClr>
          </a:solidFill>
          <a:ln w="12700">
            <a:solidFill>
              <a:srgbClr val="050B18">
                <a:alpha val="0"/>
              </a:srgbClr>
            </a:solidFill>
            <a:prstDash val="solid"/>
          </a:ln>
        </p:spPr>
      </p:sp>
      <p:sp>
        <p:nvSpPr>
          <p:cNvPr id="4" name="Shape 1"/>
          <p:cNvSpPr/>
          <p:nvPr/>
        </p:nvSpPr>
        <p:spPr>
          <a:xfrm>
            <a:off x="0" y="0"/>
            <a:ext cx="12191695" cy="109728"/>
          </a:xfrm>
          <a:prstGeom prst="rect">
            <a:avLst/>
          </a:prstGeom>
          <a:solidFill>
            <a:srgbClr val="00D4FF"/>
          </a:solidFill>
          <a:ln w="12700">
            <a:solidFill>
              <a:srgbClr val="00D4FF">
                <a:alpha val="0"/>
              </a:srgbClr>
            </a:solidFill>
            <a:prstDash val="solid"/>
          </a:ln>
        </p:spPr>
      </p:sp>
      <p:sp>
        <p:nvSpPr>
          <p:cNvPr id="5" name="Text 2"/>
          <p:cNvSpPr/>
          <p:nvPr/>
        </p:nvSpPr>
        <p:spPr>
          <a:xfrm>
            <a:off x="594360" y="502920"/>
            <a:ext cx="7315200" cy="228600"/>
          </a:xfrm>
          <a:prstGeom prst="rect">
            <a:avLst/>
          </a:prstGeom>
          <a:noFill/>
          <a:ln/>
        </p:spPr>
        <p:txBody>
          <a:bodyPr wrap="square" lIns="0" tIns="0" rIns="0" bIns="0" rtlCol="0" anchor="ctr"/>
          <a:lstStyle/>
          <a:p>
            <a:pPr indent="0" marL="0">
              <a:buNone/>
            </a:pPr>
            <a:r>
              <a:rPr lang="en-US" sz="850" b="1" dirty="0">
                <a:solidFill>
                  <a:srgbClr val="00D4FF"/>
                </a:solidFill>
              </a:rPr>
              <a:t>THE ASK</a:t>
            </a:r>
            <a:endParaRPr lang="en-US" sz="850" dirty="0"/>
          </a:p>
        </p:txBody>
      </p:sp>
      <p:sp>
        <p:nvSpPr>
          <p:cNvPr id="6" name="Text 3"/>
          <p:cNvSpPr/>
          <p:nvPr/>
        </p:nvSpPr>
        <p:spPr>
          <a:xfrm>
            <a:off x="594360" y="795528"/>
            <a:ext cx="7315200" cy="822960"/>
          </a:xfrm>
          <a:prstGeom prst="rect">
            <a:avLst/>
          </a:prstGeom>
          <a:noFill/>
          <a:ln/>
        </p:spPr>
        <p:txBody>
          <a:bodyPr wrap="square" lIns="0" tIns="0" rIns="0" bIns="0" rtlCol="0" anchor="ctr">
            <a:normAutofit/>
          </a:bodyPr>
          <a:lstStyle/>
          <a:p>
            <a:pPr indent="0" marL="0">
              <a:buNone/>
            </a:pPr>
            <a:r>
              <a:rPr lang="en-US" sz="3400" b="1" dirty="0">
                <a:solidFill>
                  <a:srgbClr val="EAF6FF"/>
                </a:solidFill>
              </a:rPr>
              <a:t>Let us prove it on your plant.</a:t>
            </a:r>
            <a:endParaRPr lang="en-US" sz="3400" dirty="0"/>
          </a:p>
        </p:txBody>
      </p:sp>
      <p:sp>
        <p:nvSpPr>
          <p:cNvPr id="7" name="Text 4"/>
          <p:cNvSpPr/>
          <p:nvPr/>
        </p:nvSpPr>
        <p:spPr>
          <a:xfrm>
            <a:off x="594360" y="1581912"/>
            <a:ext cx="7315200" cy="411480"/>
          </a:xfrm>
          <a:prstGeom prst="rect">
            <a:avLst/>
          </a:prstGeom>
          <a:noFill/>
          <a:ln/>
        </p:spPr>
        <p:txBody>
          <a:bodyPr wrap="square" lIns="0" tIns="0" rIns="0" bIns="0" rtlCol="0" anchor="ctr">
            <a:normAutofit/>
          </a:bodyPr>
          <a:lstStyle/>
          <a:p>
            <a:pPr indent="0" marL="0">
              <a:buNone/>
            </a:pPr>
            <a:r>
              <a:rPr lang="en-US" sz="1400" dirty="0">
                <a:solidFill>
                  <a:srgbClr val="B6C7D9"/>
                </a:solidFill>
              </a:rPr>
              <a:t>One plant. One costly defect. One read-only Proof-of-Value.</a:t>
            </a:r>
            <a:endParaRPr lang="en-US" sz="1400" dirty="0"/>
          </a:p>
        </p:txBody>
      </p:sp>
      <p:sp>
        <p:nvSpPr>
          <p:cNvPr id="8" name="Shape 5"/>
          <p:cNvSpPr/>
          <p:nvPr/>
        </p:nvSpPr>
        <p:spPr>
          <a:xfrm>
            <a:off x="9464040" y="502920"/>
            <a:ext cx="1417320" cy="329184"/>
          </a:xfrm>
          <a:prstGeom prst="roundRect">
            <a:avLst>
              <a:gd name="adj" fmla="val 11111"/>
            </a:avLst>
          </a:prstGeom>
          <a:solidFill>
            <a:srgbClr val="2CE6A2">
              <a:alpha val="8000"/>
            </a:srgbClr>
          </a:solidFill>
          <a:ln w="8890">
            <a:solidFill>
              <a:srgbClr val="2CE6A2"/>
            </a:solidFill>
            <a:prstDash val="solid"/>
          </a:ln>
        </p:spPr>
      </p:sp>
      <p:sp>
        <p:nvSpPr>
          <p:cNvPr id="9" name="Text 6"/>
          <p:cNvSpPr/>
          <p:nvPr/>
        </p:nvSpPr>
        <p:spPr>
          <a:xfrm>
            <a:off x="9464040" y="585216"/>
            <a:ext cx="1417320" cy="109728"/>
          </a:xfrm>
          <a:prstGeom prst="rect">
            <a:avLst/>
          </a:prstGeom>
          <a:noFill/>
          <a:ln/>
        </p:spPr>
        <p:txBody>
          <a:bodyPr wrap="square" lIns="0" tIns="0" rIns="0" bIns="0" rtlCol="0" anchor="ctr"/>
          <a:lstStyle/>
          <a:p>
            <a:pPr algn="ctr" indent="0" marL="0">
              <a:buNone/>
            </a:pPr>
            <a:r>
              <a:rPr lang="en-US" sz="580" b="1" dirty="0">
                <a:solidFill>
                  <a:srgbClr val="2CE6A2"/>
                </a:solidFill>
              </a:rPr>
              <a:t>NEXT STEP</a:t>
            </a:r>
            <a:endParaRPr lang="en-US" sz="580" dirty="0"/>
          </a:p>
        </p:txBody>
      </p:sp>
      <p:sp>
        <p:nvSpPr>
          <p:cNvPr id="10" name="Shape 7"/>
          <p:cNvSpPr/>
          <p:nvPr/>
        </p:nvSpPr>
        <p:spPr>
          <a:xfrm>
            <a:off x="822960" y="2377440"/>
            <a:ext cx="2331720" cy="1508760"/>
          </a:xfrm>
          <a:prstGeom prst="roundRect">
            <a:avLst>
              <a:gd name="adj" fmla="val 4848"/>
            </a:avLst>
          </a:prstGeom>
          <a:solidFill>
            <a:srgbClr val="0B1730">
              <a:alpha val="96000"/>
            </a:srgbClr>
          </a:solidFill>
          <a:ln w="12700">
            <a:solidFill>
              <a:srgbClr val="00D4FF">
                <a:alpha val="90000"/>
              </a:srgbClr>
            </a:solidFill>
            <a:prstDash val="solid"/>
          </a:ln>
        </p:spPr>
      </p:sp>
      <p:sp>
        <p:nvSpPr>
          <p:cNvPr id="11" name="Text 8"/>
          <p:cNvSpPr/>
          <p:nvPr/>
        </p:nvSpPr>
        <p:spPr>
          <a:xfrm>
            <a:off x="932688" y="2615184"/>
            <a:ext cx="2103120" cy="274320"/>
          </a:xfrm>
          <a:prstGeom prst="rect">
            <a:avLst/>
          </a:prstGeom>
          <a:noFill/>
          <a:ln/>
        </p:spPr>
        <p:txBody>
          <a:bodyPr wrap="square" lIns="0" tIns="0" rIns="0" bIns="0" rtlCol="0" anchor="ctr"/>
          <a:lstStyle/>
          <a:p>
            <a:pPr algn="ctr" indent="0" marL="0">
              <a:buNone/>
            </a:pPr>
            <a:r>
              <a:rPr lang="en-US" sz="1800" b="1" dirty="0">
                <a:solidFill>
                  <a:srgbClr val="00D4FF"/>
                </a:solidFill>
              </a:rPr>
              <a:t>1</a:t>
            </a:r>
            <a:endParaRPr lang="en-US" sz="1800" dirty="0"/>
          </a:p>
        </p:txBody>
      </p:sp>
      <p:sp>
        <p:nvSpPr>
          <p:cNvPr id="12" name="Text 9"/>
          <p:cNvSpPr/>
          <p:nvPr/>
        </p:nvSpPr>
        <p:spPr>
          <a:xfrm>
            <a:off x="932688" y="3035808"/>
            <a:ext cx="2103120" cy="164592"/>
          </a:xfrm>
          <a:prstGeom prst="rect">
            <a:avLst/>
          </a:prstGeom>
          <a:noFill/>
          <a:ln/>
        </p:spPr>
        <p:txBody>
          <a:bodyPr wrap="square" lIns="0" tIns="0" rIns="0" bIns="0" rtlCol="0" anchor="ctr"/>
          <a:lstStyle/>
          <a:p>
            <a:pPr algn="ctr" indent="0" marL="0">
              <a:buNone/>
            </a:pPr>
            <a:r>
              <a:rPr lang="en-US" sz="1100" b="1" dirty="0">
                <a:solidFill>
                  <a:srgbClr val="EAF6FF"/>
                </a:solidFill>
              </a:rPr>
              <a:t>Select outcome</a:t>
            </a:r>
            <a:endParaRPr lang="en-US" sz="1100" dirty="0"/>
          </a:p>
        </p:txBody>
      </p:sp>
      <p:sp>
        <p:nvSpPr>
          <p:cNvPr id="13" name="Text 10"/>
          <p:cNvSpPr/>
          <p:nvPr/>
        </p:nvSpPr>
        <p:spPr>
          <a:xfrm>
            <a:off x="1005840" y="3337560"/>
            <a:ext cx="1965960" cy="292608"/>
          </a:xfrm>
          <a:prstGeom prst="rect">
            <a:avLst/>
          </a:prstGeom>
          <a:noFill/>
          <a:ln/>
        </p:spPr>
        <p:txBody>
          <a:bodyPr wrap="square" lIns="0" tIns="0" rIns="0" bIns="0" rtlCol="0" anchor="ctr">
            <a:normAutofit/>
          </a:bodyPr>
          <a:lstStyle/>
          <a:p>
            <a:pPr algn="ctr" indent="0" marL="0">
              <a:buNone/>
            </a:pPr>
            <a:r>
              <a:rPr lang="en-US" sz="670" dirty="0">
                <a:solidFill>
                  <a:srgbClr val="B6C7D9"/>
                </a:solidFill>
              </a:rPr>
              <a:t>recurring defect, downtime, claim, or quality loss</a:t>
            </a:r>
            <a:endParaRPr lang="en-US" sz="670" dirty="0"/>
          </a:p>
        </p:txBody>
      </p:sp>
      <p:sp>
        <p:nvSpPr>
          <p:cNvPr id="14" name="Shape 11"/>
          <p:cNvSpPr/>
          <p:nvPr/>
        </p:nvSpPr>
        <p:spPr>
          <a:xfrm>
            <a:off x="3154680" y="3127248"/>
            <a:ext cx="411480" cy="0"/>
          </a:xfrm>
          <a:prstGeom prst="line">
            <a:avLst/>
          </a:prstGeom>
          <a:noFill/>
          <a:ln w="15240">
            <a:solidFill>
              <a:srgbClr val="00D4FF"/>
            </a:solidFill>
            <a:prstDash val="solid"/>
            <a:headEnd type="none"/>
            <a:tailEnd type="triangle"/>
          </a:ln>
        </p:spPr>
      </p:sp>
      <p:sp>
        <p:nvSpPr>
          <p:cNvPr id="15" name="Shape 12"/>
          <p:cNvSpPr/>
          <p:nvPr/>
        </p:nvSpPr>
        <p:spPr>
          <a:xfrm>
            <a:off x="3611880" y="2377440"/>
            <a:ext cx="2331720" cy="1508760"/>
          </a:xfrm>
          <a:prstGeom prst="roundRect">
            <a:avLst>
              <a:gd name="adj" fmla="val 4848"/>
            </a:avLst>
          </a:prstGeom>
          <a:solidFill>
            <a:srgbClr val="0B1730">
              <a:alpha val="96000"/>
            </a:srgbClr>
          </a:solidFill>
          <a:ln w="12700">
            <a:solidFill>
              <a:srgbClr val="00D4FF">
                <a:alpha val="90000"/>
              </a:srgbClr>
            </a:solidFill>
            <a:prstDash val="solid"/>
          </a:ln>
        </p:spPr>
      </p:sp>
      <p:sp>
        <p:nvSpPr>
          <p:cNvPr id="16" name="Text 13"/>
          <p:cNvSpPr/>
          <p:nvPr/>
        </p:nvSpPr>
        <p:spPr>
          <a:xfrm>
            <a:off x="3721608" y="2615184"/>
            <a:ext cx="2103120" cy="274320"/>
          </a:xfrm>
          <a:prstGeom prst="rect">
            <a:avLst/>
          </a:prstGeom>
          <a:noFill/>
          <a:ln/>
        </p:spPr>
        <p:txBody>
          <a:bodyPr wrap="square" lIns="0" tIns="0" rIns="0" bIns="0" rtlCol="0" anchor="ctr"/>
          <a:lstStyle/>
          <a:p>
            <a:pPr algn="ctr" indent="0" marL="0">
              <a:buNone/>
            </a:pPr>
            <a:r>
              <a:rPr lang="en-US" sz="1800" b="1" dirty="0">
                <a:solidFill>
                  <a:srgbClr val="00D4FF"/>
                </a:solidFill>
              </a:rPr>
              <a:t>2</a:t>
            </a:r>
            <a:endParaRPr lang="en-US" sz="1800" dirty="0"/>
          </a:p>
        </p:txBody>
      </p:sp>
      <p:sp>
        <p:nvSpPr>
          <p:cNvPr id="17" name="Text 14"/>
          <p:cNvSpPr/>
          <p:nvPr/>
        </p:nvSpPr>
        <p:spPr>
          <a:xfrm>
            <a:off x="3721608" y="3035808"/>
            <a:ext cx="2103120" cy="164592"/>
          </a:xfrm>
          <a:prstGeom prst="rect">
            <a:avLst/>
          </a:prstGeom>
          <a:noFill/>
          <a:ln/>
        </p:spPr>
        <p:txBody>
          <a:bodyPr wrap="square" lIns="0" tIns="0" rIns="0" bIns="0" rtlCol="0" anchor="ctr"/>
          <a:lstStyle/>
          <a:p>
            <a:pPr algn="ctr" indent="0" marL="0">
              <a:buNone/>
            </a:pPr>
            <a:r>
              <a:rPr lang="en-US" sz="1100" b="1" dirty="0">
                <a:solidFill>
                  <a:srgbClr val="EAF6FF"/>
                </a:solidFill>
              </a:rPr>
              <a:t>Read-only access</a:t>
            </a:r>
            <a:endParaRPr lang="en-US" sz="1100" dirty="0"/>
          </a:p>
        </p:txBody>
      </p:sp>
      <p:sp>
        <p:nvSpPr>
          <p:cNvPr id="18" name="Text 15"/>
          <p:cNvSpPr/>
          <p:nvPr/>
        </p:nvSpPr>
        <p:spPr>
          <a:xfrm>
            <a:off x="3794760" y="3337560"/>
            <a:ext cx="1965960" cy="292608"/>
          </a:xfrm>
          <a:prstGeom prst="rect">
            <a:avLst/>
          </a:prstGeom>
          <a:noFill/>
          <a:ln/>
        </p:spPr>
        <p:txBody>
          <a:bodyPr wrap="square" lIns="0" tIns="0" rIns="0" bIns="0" rtlCol="0" anchor="ctr">
            <a:normAutofit/>
          </a:bodyPr>
          <a:lstStyle/>
          <a:p>
            <a:pPr algn="ctr" indent="0" marL="0">
              <a:buNone/>
            </a:pPr>
            <a:r>
              <a:rPr lang="en-US" sz="670" dirty="0">
                <a:solidFill>
                  <a:srgbClr val="B6C7D9"/>
                </a:solidFill>
              </a:rPr>
              <a:t>approved sources only; no control-system write-back</a:t>
            </a:r>
            <a:endParaRPr lang="en-US" sz="670" dirty="0"/>
          </a:p>
        </p:txBody>
      </p:sp>
      <p:sp>
        <p:nvSpPr>
          <p:cNvPr id="19" name="Shape 16"/>
          <p:cNvSpPr/>
          <p:nvPr/>
        </p:nvSpPr>
        <p:spPr>
          <a:xfrm>
            <a:off x="5943600" y="3127248"/>
            <a:ext cx="411480" cy="0"/>
          </a:xfrm>
          <a:prstGeom prst="line">
            <a:avLst/>
          </a:prstGeom>
          <a:noFill/>
          <a:ln w="15240">
            <a:solidFill>
              <a:srgbClr val="00D4FF"/>
            </a:solidFill>
            <a:prstDash val="solid"/>
            <a:headEnd type="none"/>
            <a:tailEnd type="triangle"/>
          </a:ln>
        </p:spPr>
      </p:sp>
      <p:sp>
        <p:nvSpPr>
          <p:cNvPr id="20" name="Shape 17"/>
          <p:cNvSpPr/>
          <p:nvPr/>
        </p:nvSpPr>
        <p:spPr>
          <a:xfrm>
            <a:off x="6400800" y="2377440"/>
            <a:ext cx="2331720" cy="1508760"/>
          </a:xfrm>
          <a:prstGeom prst="roundRect">
            <a:avLst>
              <a:gd name="adj" fmla="val 4848"/>
            </a:avLst>
          </a:prstGeom>
          <a:solidFill>
            <a:srgbClr val="0B1730">
              <a:alpha val="96000"/>
            </a:srgbClr>
          </a:solidFill>
          <a:ln w="12700">
            <a:solidFill>
              <a:srgbClr val="00D4FF">
                <a:alpha val="90000"/>
              </a:srgbClr>
            </a:solidFill>
            <a:prstDash val="solid"/>
          </a:ln>
        </p:spPr>
      </p:sp>
      <p:sp>
        <p:nvSpPr>
          <p:cNvPr id="21" name="Text 18"/>
          <p:cNvSpPr/>
          <p:nvPr/>
        </p:nvSpPr>
        <p:spPr>
          <a:xfrm>
            <a:off x="6510528" y="2615184"/>
            <a:ext cx="2103120" cy="274320"/>
          </a:xfrm>
          <a:prstGeom prst="rect">
            <a:avLst/>
          </a:prstGeom>
          <a:noFill/>
          <a:ln/>
        </p:spPr>
        <p:txBody>
          <a:bodyPr wrap="square" lIns="0" tIns="0" rIns="0" bIns="0" rtlCol="0" anchor="ctr"/>
          <a:lstStyle/>
          <a:p>
            <a:pPr algn="ctr" indent="0" marL="0">
              <a:buNone/>
            </a:pPr>
            <a:r>
              <a:rPr lang="en-US" sz="1800" b="1" dirty="0">
                <a:solidFill>
                  <a:srgbClr val="00D4FF"/>
                </a:solidFill>
              </a:rPr>
              <a:t>3</a:t>
            </a:r>
            <a:endParaRPr lang="en-US" sz="1800" dirty="0"/>
          </a:p>
        </p:txBody>
      </p:sp>
      <p:sp>
        <p:nvSpPr>
          <p:cNvPr id="22" name="Text 19"/>
          <p:cNvSpPr/>
          <p:nvPr/>
        </p:nvSpPr>
        <p:spPr>
          <a:xfrm>
            <a:off x="6510528" y="3035808"/>
            <a:ext cx="2103120" cy="164592"/>
          </a:xfrm>
          <a:prstGeom prst="rect">
            <a:avLst/>
          </a:prstGeom>
          <a:noFill/>
          <a:ln/>
        </p:spPr>
        <p:txBody>
          <a:bodyPr wrap="square" lIns="0" tIns="0" rIns="0" bIns="0" rtlCol="0" anchor="ctr"/>
          <a:lstStyle/>
          <a:p>
            <a:pPr algn="ctr" indent="0" marL="0">
              <a:buNone/>
            </a:pPr>
            <a:r>
              <a:rPr lang="en-US" sz="1100" b="1" dirty="0">
                <a:solidFill>
                  <a:srgbClr val="EAF6FF"/>
                </a:solidFill>
              </a:rPr>
              <a:t>Run the thread</a:t>
            </a:r>
            <a:endParaRPr lang="en-US" sz="1100" dirty="0"/>
          </a:p>
        </p:txBody>
      </p:sp>
      <p:sp>
        <p:nvSpPr>
          <p:cNvPr id="23" name="Text 20"/>
          <p:cNvSpPr/>
          <p:nvPr/>
        </p:nvSpPr>
        <p:spPr>
          <a:xfrm>
            <a:off x="6583680" y="3337560"/>
            <a:ext cx="1965960" cy="292608"/>
          </a:xfrm>
          <a:prstGeom prst="rect">
            <a:avLst/>
          </a:prstGeom>
          <a:noFill/>
          <a:ln/>
        </p:spPr>
        <p:txBody>
          <a:bodyPr wrap="square" lIns="0" tIns="0" rIns="0" bIns="0" rtlCol="0" anchor="ctr">
            <a:normAutofit/>
          </a:bodyPr>
          <a:lstStyle/>
          <a:p>
            <a:pPr algn="ctr" indent="0" marL="0">
              <a:buNone/>
            </a:pPr>
            <a:r>
              <a:rPr lang="en-US" sz="670" dirty="0">
                <a:solidFill>
                  <a:srgbClr val="B6C7D9"/>
                </a:solidFill>
              </a:rPr>
              <a:t>import, map, reconstruct lineage, analyze, generate findings</a:t>
            </a:r>
            <a:endParaRPr lang="en-US" sz="670" dirty="0"/>
          </a:p>
        </p:txBody>
      </p:sp>
      <p:sp>
        <p:nvSpPr>
          <p:cNvPr id="24" name="Shape 21"/>
          <p:cNvSpPr/>
          <p:nvPr/>
        </p:nvSpPr>
        <p:spPr>
          <a:xfrm>
            <a:off x="8732520" y="3127248"/>
            <a:ext cx="411480" cy="0"/>
          </a:xfrm>
          <a:prstGeom prst="line">
            <a:avLst/>
          </a:prstGeom>
          <a:noFill/>
          <a:ln w="15240">
            <a:solidFill>
              <a:srgbClr val="2CE6A2"/>
            </a:solidFill>
            <a:prstDash val="solid"/>
            <a:headEnd type="none"/>
            <a:tailEnd type="triangle"/>
          </a:ln>
        </p:spPr>
      </p:sp>
      <p:sp>
        <p:nvSpPr>
          <p:cNvPr id="25" name="Shape 22"/>
          <p:cNvSpPr/>
          <p:nvPr/>
        </p:nvSpPr>
        <p:spPr>
          <a:xfrm>
            <a:off x="9189720" y="2377440"/>
            <a:ext cx="2331720" cy="1508760"/>
          </a:xfrm>
          <a:prstGeom prst="roundRect">
            <a:avLst>
              <a:gd name="adj" fmla="val 4848"/>
            </a:avLst>
          </a:prstGeom>
          <a:solidFill>
            <a:srgbClr val="0B1730">
              <a:alpha val="96000"/>
            </a:srgbClr>
          </a:solidFill>
          <a:ln w="12700">
            <a:solidFill>
              <a:srgbClr val="2CE6A2">
                <a:alpha val="90000"/>
              </a:srgbClr>
            </a:solidFill>
            <a:prstDash val="solid"/>
          </a:ln>
        </p:spPr>
      </p:sp>
      <p:sp>
        <p:nvSpPr>
          <p:cNvPr id="26" name="Text 23"/>
          <p:cNvSpPr/>
          <p:nvPr/>
        </p:nvSpPr>
        <p:spPr>
          <a:xfrm>
            <a:off x="9299448" y="2615184"/>
            <a:ext cx="2103120" cy="274320"/>
          </a:xfrm>
          <a:prstGeom prst="rect">
            <a:avLst/>
          </a:prstGeom>
          <a:noFill/>
          <a:ln/>
        </p:spPr>
        <p:txBody>
          <a:bodyPr wrap="square" lIns="0" tIns="0" rIns="0" bIns="0" rtlCol="0" anchor="ctr"/>
          <a:lstStyle/>
          <a:p>
            <a:pPr algn="ctr" indent="0" marL="0">
              <a:buNone/>
            </a:pPr>
            <a:r>
              <a:rPr lang="en-US" sz="1800" b="1" dirty="0">
                <a:solidFill>
                  <a:srgbClr val="2CE6A2"/>
                </a:solidFill>
              </a:rPr>
              <a:t>4</a:t>
            </a:r>
            <a:endParaRPr lang="en-US" sz="1800" dirty="0"/>
          </a:p>
        </p:txBody>
      </p:sp>
      <p:sp>
        <p:nvSpPr>
          <p:cNvPr id="27" name="Text 24"/>
          <p:cNvSpPr/>
          <p:nvPr/>
        </p:nvSpPr>
        <p:spPr>
          <a:xfrm>
            <a:off x="9299448" y="3035808"/>
            <a:ext cx="2103120" cy="164592"/>
          </a:xfrm>
          <a:prstGeom prst="rect">
            <a:avLst/>
          </a:prstGeom>
          <a:noFill/>
          <a:ln/>
        </p:spPr>
        <p:txBody>
          <a:bodyPr wrap="square" lIns="0" tIns="0" rIns="0" bIns="0" rtlCol="0" anchor="ctr"/>
          <a:lstStyle/>
          <a:p>
            <a:pPr algn="ctr" indent="0" marL="0">
              <a:buNone/>
            </a:pPr>
            <a:r>
              <a:rPr lang="en-US" sz="1100" b="1" dirty="0">
                <a:solidFill>
                  <a:srgbClr val="EAF6FF"/>
                </a:solidFill>
              </a:rPr>
              <a:t>Decision meeting</a:t>
            </a:r>
            <a:endParaRPr lang="en-US" sz="1100" dirty="0"/>
          </a:p>
        </p:txBody>
      </p:sp>
      <p:sp>
        <p:nvSpPr>
          <p:cNvPr id="28" name="Text 25"/>
          <p:cNvSpPr/>
          <p:nvPr/>
        </p:nvSpPr>
        <p:spPr>
          <a:xfrm>
            <a:off x="9372600" y="3337560"/>
            <a:ext cx="1965960" cy="292608"/>
          </a:xfrm>
          <a:prstGeom prst="rect">
            <a:avLst/>
          </a:prstGeom>
          <a:noFill/>
          <a:ln/>
        </p:spPr>
        <p:txBody>
          <a:bodyPr wrap="square" lIns="0" tIns="0" rIns="0" bIns="0" rtlCol="0" anchor="ctr">
            <a:normAutofit/>
          </a:bodyPr>
          <a:lstStyle/>
          <a:p>
            <a:pPr algn="ctr" indent="0" marL="0">
              <a:buNone/>
            </a:pPr>
            <a:r>
              <a:rPr lang="en-US" sz="670" dirty="0">
                <a:solidFill>
                  <a:srgbClr val="B6C7D9"/>
                </a:solidFill>
              </a:rPr>
              <a:t>show signal, null controls, evidence, and business case</a:t>
            </a:r>
            <a:endParaRPr lang="en-US" sz="670" dirty="0"/>
          </a:p>
        </p:txBody>
      </p:sp>
      <p:sp>
        <p:nvSpPr>
          <p:cNvPr id="29" name="Shape 26"/>
          <p:cNvSpPr/>
          <p:nvPr/>
        </p:nvSpPr>
        <p:spPr>
          <a:xfrm>
            <a:off x="2331720" y="5074920"/>
            <a:ext cx="7543800" cy="640080"/>
          </a:xfrm>
          <a:prstGeom prst="roundRect">
            <a:avLst>
              <a:gd name="adj" fmla="val 8571"/>
            </a:avLst>
          </a:prstGeom>
          <a:solidFill>
            <a:srgbClr val="0B1730">
              <a:alpha val="97000"/>
            </a:srgbClr>
          </a:solidFill>
          <a:ln w="12700">
            <a:solidFill>
              <a:srgbClr val="2CE6A2">
                <a:alpha val="90000"/>
              </a:srgbClr>
            </a:solidFill>
            <a:prstDash val="solid"/>
          </a:ln>
        </p:spPr>
      </p:sp>
      <p:sp>
        <p:nvSpPr>
          <p:cNvPr id="30" name="Shape 27"/>
          <p:cNvSpPr/>
          <p:nvPr/>
        </p:nvSpPr>
        <p:spPr>
          <a:xfrm>
            <a:off x="2331720" y="5074920"/>
            <a:ext cx="54864" cy="640080"/>
          </a:xfrm>
          <a:prstGeom prst="rect">
            <a:avLst/>
          </a:prstGeom>
          <a:solidFill>
            <a:srgbClr val="2CE6A2"/>
          </a:solidFill>
          <a:ln w="12700">
            <a:solidFill>
              <a:srgbClr val="2CE6A2">
                <a:alpha val="0"/>
              </a:srgbClr>
            </a:solidFill>
            <a:prstDash val="solid"/>
          </a:ln>
        </p:spPr>
      </p:sp>
      <p:sp>
        <p:nvSpPr>
          <p:cNvPr id="31" name="Text 28"/>
          <p:cNvSpPr/>
          <p:nvPr/>
        </p:nvSpPr>
        <p:spPr>
          <a:xfrm>
            <a:off x="2496312" y="5239512"/>
            <a:ext cx="7251192" cy="329184"/>
          </a:xfrm>
          <a:prstGeom prst="rect">
            <a:avLst/>
          </a:prstGeom>
          <a:noFill/>
          <a:ln/>
        </p:spPr>
        <p:txBody>
          <a:bodyPr wrap="square" lIns="0" tIns="0" rIns="0" bIns="0" rtlCol="0" anchor="ctr">
            <a:normAutofit/>
          </a:bodyPr>
          <a:lstStyle/>
          <a:p>
            <a:pPr indent="0" marL="0">
              <a:buNone/>
            </a:pPr>
            <a:r>
              <a:rPr lang="en-US" sz="1200" b="1" dirty="0">
                <a:solidFill>
                  <a:srgbClr val="EAF6FF"/>
                </a:solidFill>
              </a:rPr>
              <a:t>If the signal exists, we surface it with evidence. If it does not, we say so.</a:t>
            </a:r>
            <a:endParaRPr lang="en-US" sz="1200" dirty="0"/>
          </a:p>
        </p:txBody>
      </p:sp>
      <p:sp>
        <p:nvSpPr>
          <p:cNvPr id="32" name="Shape 29"/>
          <p:cNvSpPr/>
          <p:nvPr/>
        </p:nvSpPr>
        <p:spPr>
          <a:xfrm>
            <a:off x="4224528" y="5870448"/>
            <a:ext cx="3749040" cy="493776"/>
          </a:xfrm>
          <a:prstGeom prst="roundRect">
            <a:avLst>
              <a:gd name="adj" fmla="val 14815"/>
            </a:avLst>
          </a:prstGeom>
          <a:solidFill>
            <a:srgbClr val="2CE6A2"/>
          </a:solidFill>
          <a:ln w="12700">
            <a:solidFill>
              <a:srgbClr val="2CE6A2">
                <a:alpha val="0"/>
              </a:srgbClr>
            </a:solidFill>
            <a:prstDash val="solid"/>
          </a:ln>
          <a:effectLst>
            <a:outerShdw sx="100000" sy="100000" kx="0" ky="0" algn="bl" rotWithShape="0" blurRad="25400" dist="50800" dir="2700000">
              <a:srgbClr val="2CE6A2">
                <a:alpha val="26000"/>
              </a:srgbClr>
            </a:outerShdw>
          </a:effectLst>
        </p:spPr>
      </p:sp>
      <p:sp>
        <p:nvSpPr>
          <p:cNvPr id="33" name="Text 30"/>
          <p:cNvSpPr/>
          <p:nvPr/>
        </p:nvSpPr>
        <p:spPr>
          <a:xfrm>
            <a:off x="4224528" y="6016752"/>
            <a:ext cx="3749040" cy="109728"/>
          </a:xfrm>
          <a:prstGeom prst="rect">
            <a:avLst/>
          </a:prstGeom>
          <a:noFill/>
          <a:ln/>
        </p:spPr>
        <p:txBody>
          <a:bodyPr wrap="square" lIns="0" tIns="0" rIns="0" bIns="0" rtlCol="0" anchor="ctr"/>
          <a:lstStyle/>
          <a:p>
            <a:pPr algn="ctr" indent="0" marL="0">
              <a:buNone/>
            </a:pPr>
            <a:r>
              <a:rPr lang="en-US" sz="1000" b="1" dirty="0">
                <a:solidFill>
                  <a:srgbClr val="050B18"/>
                </a:solidFill>
              </a:rPr>
              <a:t>INITIATE PROOF OF VALUE</a:t>
            </a:r>
            <a:endParaRPr lang="en-US" sz="1000" dirty="0"/>
          </a:p>
        </p:txBody>
      </p:sp>
      <p:sp>
        <p:nvSpPr>
          <p:cNvPr id="34" name="Text 31"/>
          <p:cNvSpPr/>
          <p:nvPr/>
        </p:nvSpPr>
        <p:spPr>
          <a:xfrm>
            <a:off x="320040" y="6565392"/>
            <a:ext cx="1463040" cy="128016"/>
          </a:xfrm>
          <a:prstGeom prst="rect">
            <a:avLst/>
          </a:prstGeom>
          <a:noFill/>
          <a:ln/>
        </p:spPr>
        <p:txBody>
          <a:bodyPr wrap="square" lIns="0" tIns="0" rIns="0" bIns="0" rtlCol="0" anchor="ctr"/>
          <a:lstStyle/>
          <a:p>
            <a:pPr indent="0" marL="0">
              <a:buNone/>
            </a:pPr>
            <a:r>
              <a:rPr lang="en-US" sz="550" dirty="0">
                <a:solidFill>
                  <a:srgbClr val="8EA7C1"/>
                </a:solidFill>
              </a:rPr>
              <a:t>PlantProcess IQ</a:t>
            </a:r>
            <a:endParaRPr lang="en-US" sz="550" dirty="0"/>
          </a:p>
        </p:txBody>
      </p:sp>
      <p:sp>
        <p:nvSpPr>
          <p:cNvPr id="35" name="Text 32"/>
          <p:cNvSpPr/>
          <p:nvPr/>
        </p:nvSpPr>
        <p:spPr>
          <a:xfrm>
            <a:off x="10652760" y="6565392"/>
            <a:ext cx="1188720" cy="128016"/>
          </a:xfrm>
          <a:prstGeom prst="rect">
            <a:avLst/>
          </a:prstGeom>
          <a:noFill/>
          <a:ln/>
        </p:spPr>
        <p:txBody>
          <a:bodyPr wrap="square" lIns="0" tIns="0" rIns="0" bIns="0" rtlCol="0" anchor="ctr"/>
          <a:lstStyle/>
          <a:p>
            <a:pPr algn="r" indent="0" marL="0">
              <a:buNone/>
            </a:pPr>
            <a:r>
              <a:rPr lang="en-US" sz="550" dirty="0">
                <a:solidFill>
                  <a:srgbClr val="8EA7C1"/>
                </a:solidFill>
              </a:rPr>
              <a:t>SOU Industrial Software</a:t>
            </a:r>
            <a:endParaRPr lang="en-US" sz="550" dirty="0"/>
          </a:p>
        </p:txBody>
      </p:sp>
      <p:sp>
        <p:nvSpPr>
          <p:cNvPr id="36" name="Text 33"/>
          <p:cNvSpPr/>
          <p:nvPr/>
        </p:nvSpPr>
        <p:spPr>
          <a:xfrm>
            <a:off x="5897880" y="6519672"/>
            <a:ext cx="365760" cy="182880"/>
          </a:xfrm>
          <a:prstGeom prst="rect">
            <a:avLst/>
          </a:prstGeom>
          <a:noFill/>
          <a:ln/>
        </p:spPr>
        <p:txBody>
          <a:bodyPr wrap="square" lIns="0" tIns="0" rIns="0" bIns="0" rtlCol="0" anchor="ctr"/>
          <a:lstStyle/>
          <a:p>
            <a:pPr algn="ctr" indent="0" marL="0">
              <a:buNone/>
            </a:pPr>
            <a:r>
              <a:rPr lang="en-US" sz="700" b="1" dirty="0">
                <a:solidFill>
                  <a:srgbClr val="8EA7C1"/>
                </a:solidFill>
              </a:rPr>
              <a:t>12</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SOU Industrial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PlantProcess IQ — Demo Day Executive Pitch</dc:title>
  <dc:subject>PlantProcess IQ Demo Day Executive Pitch</dc:subject>
  <dc:creator>SOU Industrial Software</dc:creator>
  <cp:lastModifiedBy>SOU Industrial Software</cp:lastModifiedBy>
  <cp:revision>1</cp:revision>
  <dcterms:created xsi:type="dcterms:W3CDTF">2026-07-16T12:51:05Z</dcterms:created>
  <dcterms:modified xsi:type="dcterms:W3CDTF">2026-07-16T12:51:05Z</dcterms:modified>
</cp:coreProperties>
</file>