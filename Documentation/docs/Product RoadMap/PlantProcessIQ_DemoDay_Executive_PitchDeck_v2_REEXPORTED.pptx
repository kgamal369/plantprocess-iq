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png" ContentType="image/png"/>
  <Override PartName="/ppt/media/image2.png" ContentType="image/png"/>
  <Override PartName="/ppt/media/image3.png" ContentType="image/png"/>
  <Override PartName="/ppt/media/image4.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ptos"/>
              </a:rPr>
              <a:t>Click to move the slide</a:t>
            </a:r>
            <a:endParaRPr b="0" lang="en-US" sz="1800" strike="noStrike" u="none">
              <a:solidFill>
                <a:schemeClr val="dk1"/>
              </a:solidFill>
              <a:effectLst/>
              <a:uFillTx/>
              <a:latin typeface="Aptos"/>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7287BADC-A365-4F80-A0F7-3169B5D37145}"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Img"/>
          </p:nvPr>
        </p:nvSpPr>
        <p:spPr>
          <a:xfrm>
            <a:off x="685800" y="1143000"/>
            <a:ext cx="5486040" cy="3085920"/>
          </a:xfrm>
          <a:prstGeom prst="rect">
            <a:avLst/>
          </a:prstGeom>
          <a:ln w="0">
            <a:noFill/>
          </a:ln>
        </p:spPr>
      </p:sp>
      <p:sp>
        <p:nvSpPr>
          <p:cNvPr id="4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Every recurring defect, every downgraded coil, and every unexplained stoppage is a direct hit to EBITDA. Tonight is not about another dashboard. Tonight is about reducing the time from “we have a quality issue” to “we know where it started and where to act.”</a:t>
            </a:r>
            <a:endParaRPr b="0" lang="en-US" sz="2000" strike="noStrike" u="none">
              <a:solidFill>
                <a:srgbClr val="000000"/>
              </a:solidFill>
              <a:effectLst/>
              <a:uFillTx/>
              <a:latin typeface="Arial"/>
            </a:endParaRPr>
          </a:p>
        </p:txBody>
      </p:sp>
      <p:sp>
        <p:nvSpPr>
          <p:cNvPr id="405"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9341A4D-C781-4F6A-A081-E05A0FBA030C}"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Img"/>
          </p:nvPr>
        </p:nvSpPr>
        <p:spPr>
          <a:xfrm>
            <a:off x="685800" y="1143000"/>
            <a:ext cx="5486040" cy="3085920"/>
          </a:xfrm>
          <a:prstGeom prst="rect">
            <a:avLst/>
          </a:prstGeom>
          <a:ln w="0">
            <a:noFill/>
          </a:ln>
        </p:spPr>
      </p:sp>
      <p:sp>
        <p:nvSpPr>
          <p:cNvPr id="4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 did not build PlantProcess IQ by reading manuals. For more than a decade, I have written Level 2 models, read L1 signals such as speed, force, temperature, thickness, length, weight, and flow, and delivered MES and automation systems for major steel producers worldwide. I know where the data lives, how it breaks, and why connecting it is hard.</a:t>
            </a:r>
            <a:endParaRPr b="0" lang="en-US" sz="2000" strike="noStrike" u="none">
              <a:solidFill>
                <a:srgbClr val="000000"/>
              </a:solidFill>
              <a:effectLst/>
              <a:uFillTx/>
              <a:latin typeface="Arial"/>
            </a:endParaRPr>
          </a:p>
        </p:txBody>
      </p:sp>
      <p:sp>
        <p:nvSpPr>
          <p:cNvPr id="408"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388B920-99E2-436C-8634-43EE594823D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6040" cy="3085920"/>
          </a:xfrm>
          <a:prstGeom prst="rect">
            <a:avLst/>
          </a:prstGeom>
          <a:ln w="0">
            <a:noFill/>
          </a:ln>
        </p:spPr>
      </p:sp>
      <p:sp>
        <p:nvSpPr>
          <p:cNvPr id="4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platform is not a prototype waiting for the customer to teach it how to work. We validated the journey with industrial-scale source data: heats, coils, genealogy and tens of thousands of defects. The point is scale and credibility: the same engine path that runs on the validation fleet is the one we want to prove on your plant.</a:t>
            </a:r>
            <a:endParaRPr b="0" lang="en-US" sz="2000" strike="noStrike" u="none">
              <a:solidFill>
                <a:srgbClr val="000000"/>
              </a:solidFill>
              <a:effectLst/>
              <a:uFillTx/>
              <a:latin typeface="Arial"/>
            </a:endParaRPr>
          </a:p>
        </p:txBody>
      </p:sp>
      <p:sp>
        <p:nvSpPr>
          <p:cNvPr id="411"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8E684F9-1864-4DFF-AA59-BEEDD94D724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6040" cy="3085920"/>
          </a:xfrm>
          <a:prstGeom prst="rect">
            <a:avLst/>
          </a:prstGeom>
          <a:ln w="0">
            <a:noFill/>
          </a:ln>
        </p:spPr>
      </p:sp>
      <p:sp>
        <p:nvSpPr>
          <p:cNvPr id="4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When a coil fails inspection, the evidence is already somewhere in your servers. The issue is that it is split across systems. Quality may have the defect, the caster has the slab history, the meltshop has the heat, and engineering has spreadsheets. The origin is hidden because the footprint is fragmented.</a:t>
            </a:r>
            <a:endParaRPr b="0" lang="en-US" sz="2000" strike="noStrike" u="none">
              <a:solidFill>
                <a:srgbClr val="000000"/>
              </a:solidFill>
              <a:effectLst/>
              <a:uFillTx/>
              <a:latin typeface="Arial"/>
            </a:endParaRPr>
          </a:p>
        </p:txBody>
      </p:sp>
      <p:sp>
        <p:nvSpPr>
          <p:cNvPr id="414"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0CAAEB8-BFAD-4179-B005-BA65421C159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6040" cy="3085920"/>
          </a:xfrm>
          <a:prstGeom prst="rect">
            <a:avLst/>
          </a:prstGeom>
          <a:ln w="0">
            <a:noFill/>
          </a:ln>
        </p:spPr>
      </p:sp>
      <p:sp>
        <p:nvSpPr>
          <p:cNvPr id="4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the detective story. We start at the outcome: the defective product. Then we trace the footprints backward: coil to slab to heat. This is the golden thread. What used to require senior engineers to manually reconcile multiple systems becomes a live investigation path.</a:t>
            </a:r>
            <a:endParaRPr b="0" lang="en-US" sz="2000" strike="noStrike" u="none">
              <a:solidFill>
                <a:srgbClr val="000000"/>
              </a:solidFill>
              <a:effectLst/>
              <a:uFillTx/>
              <a:latin typeface="Arial"/>
            </a:endParaRPr>
          </a:p>
        </p:txBody>
      </p:sp>
      <p:sp>
        <p:nvSpPr>
          <p:cNvPr id="417"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20B4FE4-4072-4EEA-91AA-DCFED6B8675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685800" y="1143000"/>
            <a:ext cx="5486040" cy="3085920"/>
          </a:xfrm>
          <a:prstGeom prst="rect">
            <a:avLst/>
          </a:prstGeom>
          <a:ln w="0">
            <a:noFill/>
          </a:ln>
        </p:spPr>
      </p:sp>
      <p:sp>
        <p:nvSpPr>
          <p:cNvPr id="4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Use this slide if you are presenting with a screenshot. If you go live, this is where you navigate to Material Investigation and search the coil. Say: look at this screen. We start with the defective product and walk backward instantly. From failed coil, to exact slab, to original heat.</a:t>
            </a:r>
            <a:endParaRPr b="0" lang="en-US" sz="2000" strike="noStrike" u="none">
              <a:solidFill>
                <a:srgbClr val="000000"/>
              </a:solidFill>
              <a:effectLst/>
              <a:uFillTx/>
              <a:latin typeface="Arial"/>
            </a:endParaRPr>
          </a:p>
        </p:txBody>
      </p:sp>
      <p:sp>
        <p:nvSpPr>
          <p:cNvPr id="420"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63BE1FF-2E15-4805-ABFD-D71758FA3BC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6040" cy="3085920"/>
          </a:xfrm>
          <a:prstGeom prst="rect">
            <a:avLst/>
          </a:prstGeom>
          <a:ln w="0">
            <a:noFill/>
          </a:ln>
        </p:spPr>
      </p:sp>
      <p:sp>
        <p:nvSpPr>
          <p:cNvPr id="4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Now we put the process on trial. This is not an AI guessing game. The deterministic engine tests the population, selects methods, calculates effect size and statistical confidence, and writes findings with evidence handles. The assistant is the narrator. It explains what the engine found and cites the evidence.</a:t>
            </a:r>
            <a:endParaRPr b="0" lang="en-US" sz="2000" strike="noStrike" u="none">
              <a:solidFill>
                <a:srgbClr val="000000"/>
              </a:solidFill>
              <a:effectLst/>
              <a:uFillTx/>
              <a:latin typeface="Arial"/>
            </a:endParaRPr>
          </a:p>
        </p:txBody>
      </p:sp>
      <p:sp>
        <p:nvSpPr>
          <p:cNvPr id="423"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80EC457-2204-4244-B5C7-BCC25648196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6040" cy="3085920"/>
          </a:xfrm>
          <a:prstGeom prst="rect">
            <a:avLst/>
          </a:prstGeom>
          <a:ln w="0">
            <a:noFill/>
          </a:ln>
        </p:spPr>
      </p:sp>
      <p:sp>
        <p:nvSpPr>
          <p:cNvPr id="4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Pause here. This is the most important screen tonight. The system caught the CRACK_LONG signal at 9.3x. But the trust moment is below it: SCRATCH stayed at 1.0x. A weak analytics system finds impressive-looking correlations everywhere. A trustworthy system separates the costly signal from everyday noise. This is not AI theater. This is actionable engineering truth.</a:t>
            </a:r>
            <a:endParaRPr b="0" lang="en-US" sz="2000" strike="noStrike" u="none">
              <a:solidFill>
                <a:srgbClr val="000000"/>
              </a:solidFill>
              <a:effectLst/>
              <a:uFillTx/>
              <a:latin typeface="Arial"/>
            </a:endParaRPr>
          </a:p>
        </p:txBody>
      </p:sp>
      <p:sp>
        <p:nvSpPr>
          <p:cNvPr id="426"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D6FFAB1-7AC0-4B49-A93D-4FC0FC632FF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6040" cy="3085920"/>
          </a:xfrm>
          <a:prstGeom prst="rect">
            <a:avLst/>
          </a:prstGeom>
          <a:ln w="0">
            <a:noFill/>
          </a:ln>
        </p:spPr>
      </p:sp>
      <p:sp>
        <p:nvSpPr>
          <p:cNvPr id="4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This is where we move from technology to money. The value is speed and focus. Detect earlier. Investigate faster. Prioritize the right process window. Protect margin. The buyer becomes the hero because the plant team can act before the same loss repeats.</a:t>
            </a:r>
            <a:endParaRPr b="0" lang="en-US" sz="2000" strike="noStrike" u="none">
              <a:solidFill>
                <a:srgbClr val="000000"/>
              </a:solidFill>
              <a:effectLst/>
              <a:uFillTx/>
              <a:latin typeface="Arial"/>
            </a:endParaRPr>
          </a:p>
        </p:txBody>
      </p:sp>
      <p:sp>
        <p:nvSpPr>
          <p:cNvPr id="429"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FDFEA5C-AFB4-4030-A448-67B65F04C568}"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6040" cy="3085920"/>
          </a:xfrm>
          <a:prstGeom prst="rect">
            <a:avLst/>
          </a:prstGeom>
          <a:ln w="0">
            <a:noFill/>
          </a:ln>
        </p:spPr>
      </p:sp>
      <p:sp>
        <p:nvSpPr>
          <p:cNvPr id="4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For the IT and OT directors in the room: PlantProcess IQ is strictly read-only. We do not send setpoints. We do not alter recipes. We do not touch PLCs. We extract approved data, analyze it externally, and provide decision support. Zero operational risk to live production.</a:t>
            </a:r>
            <a:endParaRPr b="0" lang="en-US" sz="2000" strike="noStrike" u="none">
              <a:solidFill>
                <a:srgbClr val="000000"/>
              </a:solidFill>
              <a:effectLst/>
              <a:uFillTx/>
              <a:latin typeface="Arial"/>
            </a:endParaRPr>
          </a:p>
        </p:txBody>
      </p:sp>
      <p:sp>
        <p:nvSpPr>
          <p:cNvPr id="432"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C3085C7-9D15-4603-9051-093A021D319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6040" cy="3085920"/>
          </a:xfrm>
          <a:prstGeom prst="rect">
            <a:avLst/>
          </a:prstGeom>
          <a:ln w="0">
            <a:noFill/>
          </a:ln>
        </p:spPr>
      </p:sp>
      <p:sp>
        <p:nvSpPr>
          <p:cNvPr id="4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We structure this as an enterprise partnership. The one-time integration ranges from twelve thousand to fifty thousand dollars based on source fragmentation, mappings, pages and modifications. The monthly license ranges from six thousand to twenty-five thousand dollars based on users, computation and capability packs. If this prevents one severe downgrade batch or one hour of mill downtime, the economics can justify the annual license.</a:t>
            </a:r>
            <a:endParaRPr b="0" lang="en-US" sz="2000" strike="noStrike" u="none">
              <a:solidFill>
                <a:srgbClr val="000000"/>
              </a:solidFill>
              <a:effectLst/>
              <a:uFillTx/>
              <a:latin typeface="Arial"/>
            </a:endParaRPr>
          </a:p>
        </p:txBody>
      </p:sp>
      <p:sp>
        <p:nvSpPr>
          <p:cNvPr id="435"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A41E581-8543-428B-B6E5-A00F7151C25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sldImg"/>
          </p:nvPr>
        </p:nvSpPr>
        <p:spPr>
          <a:xfrm>
            <a:off x="685800" y="1143000"/>
            <a:ext cx="5486040" cy="3085920"/>
          </a:xfrm>
          <a:prstGeom prst="rect">
            <a:avLst/>
          </a:prstGeom>
          <a:ln w="0">
            <a:noFill/>
          </a:ln>
        </p:spPr>
      </p:sp>
      <p:sp>
        <p:nvSpPr>
          <p:cNvPr id="4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 do not want you to buy a concept. I want you to buy proven value. Give us one plant, one recurring defect, and read-only access to the relevant databases. If the signal is there, PlantProcess IQ will find it and prove it. If it is not there, it will say so. That is the Proof-of-Value I am proposing.</a:t>
            </a:r>
            <a:endParaRPr b="0" lang="en-US" sz="2000" strike="noStrike" u="none">
              <a:solidFill>
                <a:srgbClr val="000000"/>
              </a:solidFill>
              <a:effectLst/>
              <a:uFillTx/>
              <a:latin typeface="Arial"/>
            </a:endParaRPr>
          </a:p>
        </p:txBody>
      </p:sp>
      <p:sp>
        <p:nvSpPr>
          <p:cNvPr id="438"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75BDAABC-CEDF-4236-BC77-AB433FFF3D9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ptos"/>
              </a:rPr>
              <a:t>Click to edit the title text format</a:t>
            </a:r>
            <a:endParaRPr b="0" lang="en-US" sz="1800" strike="noStrike" u="none">
              <a:solidFill>
                <a:schemeClr val="dk1"/>
              </a:solidFill>
              <a:effectLst/>
              <a:uFillTx/>
              <a:latin typeface="Aptos"/>
            </a:endParaRPr>
          </a:p>
        </p:txBody>
      </p:sp>
      <p:sp>
        <p:nvSpPr>
          <p:cNvPr id="1" name="PlaceHolder 2"/>
          <p:cNvSpPr>
            <a:spLocks noGrp="1"/>
          </p:cNvSpPr>
          <p:nvPr>
            <p:ph type="body"/>
          </p:nvPr>
        </p:nvSpPr>
        <p:spPr>
          <a:xfrm>
            <a:off x="609480" y="1604520"/>
            <a:ext cx="1097208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ptos"/>
              </a:rPr>
              <a:t>Second Outline Level</a:t>
            </a:r>
            <a:endParaRPr b="0" lang="en-US" sz="2400" strike="noStrike" u="none">
              <a:solidFill>
                <a:schemeClr val="dk1"/>
              </a:solidFill>
              <a:effectLst/>
              <a:uFillTx/>
              <a:latin typeface="Aptos"/>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ptos"/>
              </a:rPr>
              <a:t>Third Outline Level</a:t>
            </a:r>
            <a:endParaRPr b="0" lang="en-US" sz="2000" strike="noStrike" u="none">
              <a:solidFill>
                <a:schemeClr val="dk1"/>
              </a:solidFill>
              <a:effectLst/>
              <a:uFillTx/>
              <a:latin typeface="Aptos"/>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ptos"/>
              </a:rPr>
              <a:t>Fourth Outline Level</a:t>
            </a:r>
            <a:endParaRPr b="0" lang="en-US" sz="2000" strike="noStrike" u="none">
              <a:solidFill>
                <a:schemeClr val="dk1"/>
              </a:solidFill>
              <a:effectLst/>
              <a:uFillTx/>
              <a:latin typeface="Aptos"/>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8" name="Image 0" descr="/mnt/data/a_wide_cinematic_high_tech_industrial_control_ro_batch_1.png"/>
          <p:cNvPicPr/>
          <p:nvPr/>
        </p:nvPicPr>
        <p:blipFill>
          <a:blip r:embed="rId1"/>
          <a:srcRect l="5000" t="0" r="-5050" b="0"/>
          <a:stretch/>
        </p:blipFill>
        <p:spPr>
          <a:xfrm>
            <a:off x="0" y="0"/>
            <a:ext cx="12191400" cy="6857640"/>
          </a:xfrm>
          <a:prstGeom prst="rect">
            <a:avLst/>
          </a:prstGeom>
          <a:noFill/>
          <a:ln w="0">
            <a:noFill/>
          </a:ln>
        </p:spPr>
      </p:pic>
      <p:sp>
        <p:nvSpPr>
          <p:cNvPr id="9" name="Shape 0"/>
          <p:cNvSpPr/>
          <p:nvPr/>
        </p:nvSpPr>
        <p:spPr>
          <a:xfrm>
            <a:off x="0" y="0"/>
            <a:ext cx="12191400" cy="6857640"/>
          </a:xfrm>
          <a:prstGeom prst="rect">
            <a:avLst/>
          </a:prstGeom>
          <a:solidFill>
            <a:srgbClr val="050b18">
              <a:alpha val="82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 name="Shape 2"/>
          <p:cNvSpPr/>
          <p:nvPr/>
        </p:nvSpPr>
        <p:spPr>
          <a:xfrm>
            <a:off x="0" y="0"/>
            <a:ext cx="7131960" cy="6857640"/>
          </a:xfrm>
          <a:prstGeom prst="rect">
            <a:avLst/>
          </a:prstGeom>
          <a:solidFill>
            <a:srgbClr val="050b18">
              <a:alpha val="98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 name="Text 3"/>
          <p:cNvSpPr/>
          <p:nvPr/>
        </p:nvSpPr>
        <p:spPr>
          <a:xfrm>
            <a:off x="502920" y="475560"/>
            <a:ext cx="630900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DEMO DAY · EXECUTIVE PITCH</a:t>
            </a:r>
            <a:endParaRPr b="0" lang="en-US" sz="850" strike="noStrike" u="none">
              <a:solidFill>
                <a:srgbClr val="ffffff"/>
              </a:solidFill>
              <a:effectLst/>
              <a:uFillTx/>
              <a:latin typeface="Arial"/>
            </a:endParaRPr>
          </a:p>
        </p:txBody>
      </p:sp>
      <p:sp>
        <p:nvSpPr>
          <p:cNvPr id="13" name="Text 4"/>
          <p:cNvSpPr/>
          <p:nvPr/>
        </p:nvSpPr>
        <p:spPr>
          <a:xfrm>
            <a:off x="502920" y="768240"/>
            <a:ext cx="6309000" cy="10054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500" strike="noStrike" u="none">
                <a:solidFill>
                  <a:srgbClr val="eaf6ff"/>
                </a:solidFill>
                <a:effectLst/>
                <a:uFillTx/>
                <a:latin typeface="Aptos"/>
              </a:rPr>
              <a:t>Stop the bleeding.</a:t>
            </a:r>
            <a:endParaRPr b="0" lang="en-US" sz="4500" strike="noStrike" u="none">
              <a:solidFill>
                <a:srgbClr val="ffffff"/>
              </a:solidFill>
              <a:effectLst/>
              <a:uFillTx/>
              <a:latin typeface="Arial"/>
            </a:endParaRPr>
          </a:p>
        </p:txBody>
      </p:sp>
      <p:sp>
        <p:nvSpPr>
          <p:cNvPr id="14" name="Text 5"/>
          <p:cNvSpPr/>
          <p:nvPr/>
        </p:nvSpPr>
        <p:spPr>
          <a:xfrm>
            <a:off x="502920" y="1554480"/>
            <a:ext cx="6309000" cy="502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500" strike="noStrike" u="none">
                <a:solidFill>
                  <a:srgbClr val="b6c7d9"/>
                </a:solidFill>
                <a:effectLst/>
                <a:uFillTx/>
                <a:latin typeface="Aptos"/>
              </a:rPr>
              <a:t>Connect your plant. Understand your process. Stop recurring losses before they become EBITDA damage.</a:t>
            </a:r>
            <a:endParaRPr b="0" lang="en-US" sz="1500" strike="noStrike" u="none">
              <a:solidFill>
                <a:srgbClr val="ffffff"/>
              </a:solidFill>
              <a:effectLst/>
              <a:uFillTx/>
              <a:latin typeface="Arial"/>
            </a:endParaRPr>
          </a:p>
        </p:txBody>
      </p:sp>
      <p:sp>
        <p:nvSpPr>
          <p:cNvPr id="15" name="Text 6"/>
          <p:cNvSpPr/>
          <p:nvPr/>
        </p:nvSpPr>
        <p:spPr>
          <a:xfrm>
            <a:off x="548640" y="2240280"/>
            <a:ext cx="557748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800" strike="noStrike" u="none">
                <a:solidFill>
                  <a:srgbClr val="00d4ff"/>
                </a:solidFill>
                <a:effectLst/>
                <a:uFillTx/>
                <a:latin typeface="Aptos"/>
              </a:rPr>
              <a:t>Tonight: move from “we have a defect” to “we know where to act.”</a:t>
            </a:r>
            <a:endParaRPr b="0" lang="en-US" sz="1800" strike="noStrike" u="none">
              <a:solidFill>
                <a:srgbClr val="ffffff"/>
              </a:solidFill>
              <a:effectLst/>
              <a:uFillTx/>
              <a:latin typeface="Arial"/>
            </a:endParaRPr>
          </a:p>
        </p:txBody>
      </p:sp>
      <p:sp>
        <p:nvSpPr>
          <p:cNvPr id="16" name="Shape 7"/>
          <p:cNvSpPr/>
          <p:nvPr/>
        </p:nvSpPr>
        <p:spPr>
          <a:xfrm>
            <a:off x="548640" y="5074920"/>
            <a:ext cx="6309000" cy="868320"/>
          </a:xfrm>
          <a:prstGeom prst="roundRect">
            <a:avLst>
              <a:gd name="adj" fmla="val 6316"/>
            </a:avLst>
          </a:prstGeom>
          <a:solidFill>
            <a:srgbClr val="0b1730">
              <a:alpha val="97000"/>
            </a:srgbClr>
          </a:solidFill>
          <a:ln w="1270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 name="Shape 8"/>
          <p:cNvSpPr/>
          <p:nvPr/>
        </p:nvSpPr>
        <p:spPr>
          <a:xfrm>
            <a:off x="548640" y="5074920"/>
            <a:ext cx="54360" cy="86832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 name="Text 9"/>
          <p:cNvSpPr/>
          <p:nvPr/>
        </p:nvSpPr>
        <p:spPr>
          <a:xfrm>
            <a:off x="713160" y="5239440"/>
            <a:ext cx="6016320" cy="5572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eaf6ff"/>
                </a:solidFill>
                <a:effectLst/>
                <a:uFillTx/>
                <a:latin typeface="Aptos"/>
              </a:rPr>
              <a:t>Not another dashboard.</a:t>
            </a:r>
            <a:endParaRPr b="0" lang="en-US" sz="1200" strike="noStrike" u="none">
              <a:solidFill>
                <a:srgbClr val="ffffff"/>
              </a:solidFill>
              <a:effectLst/>
              <a:uFillTx/>
              <a:latin typeface="Arial"/>
            </a:endParaRPr>
          </a:p>
          <a:p>
            <a:pPr defTabSz="914400">
              <a:lnSpc>
                <a:spcPct val="100000"/>
              </a:lnSpc>
              <a:tabLst>
                <a:tab algn="l" pos="0"/>
              </a:tabLst>
            </a:pPr>
            <a:r>
              <a:rPr b="1" lang="en-US" sz="1200" strike="noStrike" u="none">
                <a:solidFill>
                  <a:srgbClr val="eaf6ff"/>
                </a:solidFill>
                <a:effectLst/>
                <a:uFillTx/>
                <a:latin typeface="Aptos"/>
              </a:rPr>
              <a:t>A decision engine that shortens root-cause investigation from weeks to minutes — without operational risk.</a:t>
            </a:r>
            <a:endParaRPr b="0" lang="en-US" sz="1200" strike="noStrike" u="none">
              <a:solidFill>
                <a:srgbClr val="ffffff"/>
              </a:solidFill>
              <a:effectLst/>
              <a:uFillTx/>
              <a:latin typeface="Arial"/>
            </a:endParaRPr>
          </a:p>
        </p:txBody>
      </p:sp>
      <p:sp>
        <p:nvSpPr>
          <p:cNvPr id="19" name="Shape 10"/>
          <p:cNvSpPr/>
          <p:nvPr/>
        </p:nvSpPr>
        <p:spPr>
          <a:xfrm>
            <a:off x="7662600" y="685800"/>
            <a:ext cx="3611520" cy="1188360"/>
          </a:xfrm>
          <a:prstGeom prst="roundRect">
            <a:avLst>
              <a:gd name="adj" fmla="val 5385"/>
            </a:avLst>
          </a:prstGeom>
          <a:solidFill>
            <a:srgbClr val="050b18">
              <a:alpha val="88000"/>
            </a:srgbClr>
          </a:solidFill>
          <a:ln w="15240">
            <a:solidFill>
              <a:srgbClr val="ff4d6d">
                <a:alpha val="88000"/>
              </a:srgbClr>
            </a:solidFill>
            <a:round/>
          </a:ln>
          <a:effectLst>
            <a:outerShdw algn="bl" blurRad="25560" dir="2700000" dist="50402" kx="0" ky="0" rotWithShape="0" sx="100000" sy="100000">
              <a:srgbClr val="ff4d6d">
                <a:alpha val="25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 name="Text 11"/>
          <p:cNvSpPr/>
          <p:nvPr/>
        </p:nvSpPr>
        <p:spPr>
          <a:xfrm>
            <a:off x="7818120" y="969120"/>
            <a:ext cx="3291480" cy="347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trike="noStrike" u="none">
                <a:solidFill>
                  <a:srgbClr val="ff4d6d"/>
                </a:solidFill>
                <a:effectLst/>
                <a:uFillTx/>
                <a:latin typeface="Aptos"/>
              </a:rPr>
              <a:t>$ 1,248,900</a:t>
            </a:r>
            <a:endParaRPr b="0" lang="en-US" sz="2400" strike="noStrike" u="none">
              <a:solidFill>
                <a:srgbClr val="ffffff"/>
              </a:solidFill>
              <a:effectLst/>
              <a:uFillTx/>
              <a:latin typeface="Arial"/>
            </a:endParaRPr>
          </a:p>
        </p:txBody>
      </p:sp>
      <p:sp>
        <p:nvSpPr>
          <p:cNvPr id="21" name="Text 12"/>
          <p:cNvSpPr/>
          <p:nvPr/>
        </p:nvSpPr>
        <p:spPr>
          <a:xfrm>
            <a:off x="7909560" y="1353240"/>
            <a:ext cx="310860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50" strike="noStrike" u="none">
                <a:solidFill>
                  <a:srgbClr val="8ea7c1"/>
                </a:solidFill>
                <a:effectLst/>
                <a:uFillTx/>
                <a:latin typeface="Aptos"/>
              </a:rPr>
              <a:t>recurring loss exposure</a:t>
            </a:r>
            <a:endParaRPr b="0" lang="en-US" sz="750" strike="noStrike" u="none">
              <a:solidFill>
                <a:srgbClr val="ffffff"/>
              </a:solidFill>
              <a:effectLst/>
              <a:uFillTx/>
              <a:latin typeface="Arial"/>
            </a:endParaRPr>
          </a:p>
        </p:txBody>
      </p:sp>
      <p:sp>
        <p:nvSpPr>
          <p:cNvPr id="22" name="Shape 13"/>
          <p:cNvSpPr/>
          <p:nvPr/>
        </p:nvSpPr>
        <p:spPr>
          <a:xfrm>
            <a:off x="8183880" y="1618200"/>
            <a:ext cx="2560320" cy="360"/>
          </a:xfrm>
          <a:prstGeom prst="line">
            <a:avLst/>
          </a:prstGeom>
          <a:ln w="22860">
            <a:solidFill>
              <a:srgbClr val="00d4ff"/>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23" name="Shape 14"/>
          <p:cNvSpPr/>
          <p:nvPr/>
        </p:nvSpPr>
        <p:spPr>
          <a:xfrm>
            <a:off x="777240" y="5632560"/>
            <a:ext cx="987120" cy="310680"/>
          </a:xfrm>
          <a:prstGeom prst="roundRect">
            <a:avLst>
              <a:gd name="adj" fmla="val 11765"/>
            </a:avLst>
          </a:prstGeom>
          <a:solidFill>
            <a:srgbClr val="ff4d6d">
              <a:alpha val="18000"/>
            </a:srgbClr>
          </a:solidFill>
          <a:ln w="7620">
            <a:solidFill>
              <a:srgbClr val="ff4d6d">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 name="Text 15"/>
          <p:cNvSpPr/>
          <p:nvPr/>
        </p:nvSpPr>
        <p:spPr>
          <a:xfrm>
            <a:off x="831960" y="5715000"/>
            <a:ext cx="87732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ff4d6d"/>
                </a:solidFill>
                <a:effectLst/>
                <a:uFillTx/>
                <a:latin typeface="Aptos"/>
              </a:rPr>
              <a:t>SCRAP</a:t>
            </a:r>
            <a:endParaRPr b="0" lang="en-US" sz="650" strike="noStrike" u="none">
              <a:solidFill>
                <a:srgbClr val="ffffff"/>
              </a:solidFill>
              <a:effectLst/>
              <a:uFillTx/>
              <a:latin typeface="Arial"/>
            </a:endParaRPr>
          </a:p>
        </p:txBody>
      </p:sp>
      <p:sp>
        <p:nvSpPr>
          <p:cNvPr id="25" name="Shape 16"/>
          <p:cNvSpPr/>
          <p:nvPr/>
        </p:nvSpPr>
        <p:spPr>
          <a:xfrm>
            <a:off x="2011680" y="5632560"/>
            <a:ext cx="987120" cy="310680"/>
          </a:xfrm>
          <a:prstGeom prst="roundRect">
            <a:avLst>
              <a:gd name="adj" fmla="val 11765"/>
            </a:avLst>
          </a:prstGeom>
          <a:solidFill>
            <a:srgbClr val="ffb020">
              <a:alpha val="18000"/>
            </a:srgbClr>
          </a:solidFill>
          <a:ln w="7620">
            <a:solidFill>
              <a:srgbClr val="ffb020">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 name="Text 17"/>
          <p:cNvSpPr/>
          <p:nvPr/>
        </p:nvSpPr>
        <p:spPr>
          <a:xfrm>
            <a:off x="2066400" y="5715000"/>
            <a:ext cx="87732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ffb020"/>
                </a:solidFill>
                <a:effectLst/>
                <a:uFillTx/>
                <a:latin typeface="Aptos"/>
              </a:rPr>
              <a:t>DOWNGRADE</a:t>
            </a:r>
            <a:endParaRPr b="0" lang="en-US" sz="650" strike="noStrike" u="none">
              <a:solidFill>
                <a:srgbClr val="ffffff"/>
              </a:solidFill>
              <a:effectLst/>
              <a:uFillTx/>
              <a:latin typeface="Arial"/>
            </a:endParaRPr>
          </a:p>
        </p:txBody>
      </p:sp>
      <p:sp>
        <p:nvSpPr>
          <p:cNvPr id="27" name="Shape 18"/>
          <p:cNvSpPr/>
          <p:nvPr/>
        </p:nvSpPr>
        <p:spPr>
          <a:xfrm>
            <a:off x="3246120" y="5632560"/>
            <a:ext cx="987120" cy="310680"/>
          </a:xfrm>
          <a:prstGeom prst="roundRect">
            <a:avLst>
              <a:gd name="adj" fmla="val 11765"/>
            </a:avLst>
          </a:prstGeom>
          <a:solidFill>
            <a:srgbClr val="00d4ff">
              <a:alpha val="18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 name="Text 19"/>
          <p:cNvSpPr/>
          <p:nvPr/>
        </p:nvSpPr>
        <p:spPr>
          <a:xfrm>
            <a:off x="3300840" y="5715000"/>
            <a:ext cx="87732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CLAIMS</a:t>
            </a:r>
            <a:endParaRPr b="0" lang="en-US" sz="650" strike="noStrike" u="none">
              <a:solidFill>
                <a:srgbClr val="ffffff"/>
              </a:solidFill>
              <a:effectLst/>
              <a:uFillTx/>
              <a:latin typeface="Arial"/>
            </a:endParaRPr>
          </a:p>
        </p:txBody>
      </p:sp>
      <p:sp>
        <p:nvSpPr>
          <p:cNvPr id="29" name="Shape 20"/>
          <p:cNvSpPr/>
          <p:nvPr/>
        </p:nvSpPr>
        <p:spPr>
          <a:xfrm>
            <a:off x="8366760" y="5989320"/>
            <a:ext cx="2788560" cy="328680"/>
          </a:xfrm>
          <a:prstGeom prst="roundRect">
            <a:avLst>
              <a:gd name="adj" fmla="val 11111"/>
            </a:avLst>
          </a:prstGeom>
          <a:solidFill>
            <a:srgbClr val="2ce6a2">
              <a:alpha val="8000"/>
            </a:srgbClr>
          </a:solidFill>
          <a:ln w="889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 name="Text 21"/>
          <p:cNvSpPr/>
          <p:nvPr/>
        </p:nvSpPr>
        <p:spPr>
          <a:xfrm>
            <a:off x="8366760" y="6071760"/>
            <a:ext cx="278856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2ce6a2"/>
                </a:solidFill>
                <a:effectLst/>
                <a:uFillTx/>
                <a:latin typeface="Aptos"/>
              </a:rPr>
              <a:t>HIGH-TRUST / READ-ONLY / EVIDENCE-GRADE</a:t>
            </a:r>
            <a:endParaRPr b="0" lang="en-US" sz="580" strike="noStrike" u="none">
              <a:solidFill>
                <a:srgbClr val="ffffff"/>
              </a:solidFill>
              <a:effectLst/>
              <a:uFillTx/>
              <a:latin typeface="Arial"/>
            </a:endParaRPr>
          </a:p>
        </p:txBody>
      </p:sp>
      <p:sp>
        <p:nvSpPr>
          <p:cNvPr id="31" name="Text 22"/>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32" name="Text 23"/>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33" name="Text 24"/>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01</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sp>
        <p:nvSpPr>
          <p:cNvPr id="34" name="Shape 0"/>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5" name="Shape 1"/>
          <p:cNvSpPr/>
          <p:nvPr/>
        </p:nvSpPr>
        <p:spPr>
          <a:xfrm>
            <a:off x="0" y="0"/>
            <a:ext cx="12191400" cy="6857640"/>
          </a:xfrm>
          <a:prstGeom prst="rect">
            <a:avLst/>
          </a:prstGeom>
          <a:solidFill>
            <a:srgbClr val="050b18"/>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6" name="Text 2"/>
          <p:cNvSpPr/>
          <p:nvPr/>
        </p:nvSpPr>
        <p:spPr>
          <a:xfrm>
            <a:off x="502920" y="384120"/>
            <a:ext cx="64918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WHY TRUST US</a:t>
            </a:r>
            <a:endParaRPr b="0" lang="en-US" sz="850" strike="noStrike" u="none">
              <a:solidFill>
                <a:srgbClr val="ffffff"/>
              </a:solidFill>
              <a:effectLst/>
              <a:uFillTx/>
              <a:latin typeface="Arial"/>
            </a:endParaRPr>
          </a:p>
        </p:txBody>
      </p:sp>
      <p:sp>
        <p:nvSpPr>
          <p:cNvPr id="37" name="Text 3"/>
          <p:cNvSpPr/>
          <p:nvPr/>
        </p:nvSpPr>
        <p:spPr>
          <a:xfrm>
            <a:off x="502920" y="676800"/>
            <a:ext cx="649188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900" strike="noStrike" u="none">
                <a:solidFill>
                  <a:srgbClr val="eaf6ff"/>
                </a:solidFill>
                <a:effectLst/>
                <a:uFillTx/>
                <a:latin typeface="Aptos"/>
              </a:rPr>
              <a:t>Built by industrial insiders, not slideware.</a:t>
            </a:r>
            <a:endParaRPr b="0" lang="en-US" sz="2900" strike="noStrike" u="none">
              <a:solidFill>
                <a:srgbClr val="ffffff"/>
              </a:solidFill>
              <a:effectLst/>
              <a:uFillTx/>
              <a:latin typeface="Arial"/>
            </a:endParaRPr>
          </a:p>
        </p:txBody>
      </p:sp>
      <p:sp>
        <p:nvSpPr>
          <p:cNvPr id="38" name="Text 4"/>
          <p:cNvSpPr/>
          <p:nvPr/>
        </p:nvSpPr>
        <p:spPr>
          <a:xfrm>
            <a:off x="502920" y="1463040"/>
            <a:ext cx="649188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13+ years inside Level 2 automation, MES, commissioning, and industrial model systems.</a:t>
            </a:r>
            <a:endParaRPr b="0" lang="en-US" sz="1250" strike="noStrike" u="none">
              <a:solidFill>
                <a:srgbClr val="ffffff"/>
              </a:solidFill>
              <a:effectLst/>
              <a:uFillTx/>
              <a:latin typeface="Arial"/>
            </a:endParaRPr>
          </a:p>
        </p:txBody>
      </p:sp>
      <p:sp>
        <p:nvSpPr>
          <p:cNvPr id="39" name="Shape 5"/>
          <p:cNvSpPr/>
          <p:nvPr/>
        </p:nvSpPr>
        <p:spPr>
          <a:xfrm>
            <a:off x="8549640" y="393120"/>
            <a:ext cx="2011320" cy="328680"/>
          </a:xfrm>
          <a:prstGeom prst="roundRect">
            <a:avLst>
              <a:gd name="adj" fmla="val 11111"/>
            </a:avLst>
          </a:prstGeom>
          <a:solidFill>
            <a:srgbClr val="00d4ff">
              <a:alpha val="8000"/>
            </a:srgbClr>
          </a:solidFill>
          <a:ln w="889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 name="Text 6"/>
          <p:cNvSpPr/>
          <p:nvPr/>
        </p:nvSpPr>
        <p:spPr>
          <a:xfrm>
            <a:off x="8549640" y="475560"/>
            <a:ext cx="2011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00d4ff"/>
                </a:solidFill>
                <a:effectLst/>
                <a:uFillTx/>
                <a:latin typeface="Aptos"/>
              </a:rPr>
              <a:t>PROOF FROM PLANT REALITY</a:t>
            </a:r>
            <a:endParaRPr b="0" lang="en-US" sz="580" strike="noStrike" u="none">
              <a:solidFill>
                <a:srgbClr val="ffffff"/>
              </a:solidFill>
              <a:effectLst/>
              <a:uFillTx/>
              <a:latin typeface="Arial"/>
            </a:endParaRPr>
          </a:p>
        </p:txBody>
      </p:sp>
      <p:sp>
        <p:nvSpPr>
          <p:cNvPr id="41" name="Shape 7"/>
          <p:cNvSpPr/>
          <p:nvPr/>
        </p:nvSpPr>
        <p:spPr>
          <a:xfrm>
            <a:off x="594360" y="1508760"/>
            <a:ext cx="2742840" cy="4480200"/>
          </a:xfrm>
          <a:prstGeom prst="roundRect">
            <a:avLst>
              <a:gd name="adj" fmla="val 2667"/>
            </a:avLst>
          </a:prstGeom>
          <a:solidFill>
            <a:srgbClr val="0b1730">
              <a:alpha val="98000"/>
            </a:srgbClr>
          </a:solidFill>
          <a:ln w="12700">
            <a:solidFill>
              <a:srgbClr val="00d4ff">
                <a:alpha val="9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2" name="Text 8"/>
          <p:cNvSpPr/>
          <p:nvPr/>
        </p:nvSpPr>
        <p:spPr>
          <a:xfrm>
            <a:off x="841320" y="1874520"/>
            <a:ext cx="22399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600" strike="noStrike" u="none">
                <a:solidFill>
                  <a:srgbClr val="eaf6ff"/>
                </a:solidFill>
                <a:effectLst/>
                <a:uFillTx/>
                <a:latin typeface="Aptos"/>
              </a:rPr>
              <a:t>KARIM GAMAL</a:t>
            </a:r>
            <a:endParaRPr b="0" lang="en-US" sz="1600" strike="noStrike" u="none">
              <a:solidFill>
                <a:srgbClr val="ffffff"/>
              </a:solidFill>
              <a:effectLst/>
              <a:uFillTx/>
              <a:latin typeface="Arial"/>
            </a:endParaRPr>
          </a:p>
        </p:txBody>
      </p:sp>
      <p:sp>
        <p:nvSpPr>
          <p:cNvPr id="43" name="Text 9"/>
          <p:cNvSpPr/>
          <p:nvPr/>
        </p:nvSpPr>
        <p:spPr>
          <a:xfrm>
            <a:off x="841320" y="2176200"/>
            <a:ext cx="22399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80" strike="noStrike" u="none">
                <a:solidFill>
                  <a:srgbClr val="8ea7c1"/>
                </a:solidFill>
                <a:effectLst/>
                <a:uFillTx/>
                <a:latin typeface="Aptos"/>
              </a:rPr>
              <a:t>Founder · SOU Industrial Software</a:t>
            </a:r>
            <a:endParaRPr b="0" lang="en-US" sz="680" strike="noStrike" u="none">
              <a:solidFill>
                <a:srgbClr val="ffffff"/>
              </a:solidFill>
              <a:effectLst/>
              <a:uFillTx/>
              <a:latin typeface="Arial"/>
            </a:endParaRPr>
          </a:p>
        </p:txBody>
      </p:sp>
      <p:sp>
        <p:nvSpPr>
          <p:cNvPr id="44" name="Shape 10"/>
          <p:cNvSpPr/>
          <p:nvPr/>
        </p:nvSpPr>
        <p:spPr>
          <a:xfrm>
            <a:off x="868680" y="2697480"/>
            <a:ext cx="1078560" cy="987120"/>
          </a:xfrm>
          <a:prstGeom prst="roundRect">
            <a:avLst>
              <a:gd name="adj" fmla="val 7407"/>
            </a:avLst>
          </a:prstGeom>
          <a:solidFill>
            <a:srgbClr val="0b1730">
              <a:alpha val="92000"/>
            </a:srgbClr>
          </a:solidFill>
          <a:ln w="15240">
            <a:solidFill>
              <a:srgbClr val="00d4ff">
                <a:alpha val="90000"/>
              </a:srgbClr>
            </a:solidFill>
            <a:round/>
          </a:ln>
          <a:effectLst>
            <a:outerShdw algn="bl" blurRad="12600" dir="2700000" dist="50402" kx="0" ky="0" rotWithShape="0" sx="100000" sy="100000">
              <a:srgbClr val="00d4ff">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5" name="Text 11"/>
          <p:cNvSpPr/>
          <p:nvPr/>
        </p:nvSpPr>
        <p:spPr>
          <a:xfrm>
            <a:off x="941760" y="2880360"/>
            <a:ext cx="9324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13+</a:t>
            </a:r>
            <a:endParaRPr b="0" lang="en-US" sz="1800" strike="noStrike" u="none">
              <a:solidFill>
                <a:srgbClr val="ffffff"/>
              </a:solidFill>
              <a:effectLst/>
              <a:uFillTx/>
              <a:latin typeface="Arial"/>
            </a:endParaRPr>
          </a:p>
        </p:txBody>
      </p:sp>
      <p:sp>
        <p:nvSpPr>
          <p:cNvPr id="46" name="Text 12"/>
          <p:cNvSpPr/>
          <p:nvPr/>
        </p:nvSpPr>
        <p:spPr>
          <a:xfrm>
            <a:off x="960120" y="3282840"/>
            <a:ext cx="895680" cy="2282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750" strike="noStrike" u="none">
                <a:solidFill>
                  <a:srgbClr val="b6c7d9"/>
                </a:solidFill>
                <a:effectLst/>
                <a:uFillTx/>
                <a:latin typeface="Aptos"/>
              </a:rPr>
              <a:t>years in industrial software</a:t>
            </a:r>
            <a:endParaRPr b="0" lang="en-US" sz="750" strike="noStrike" u="none">
              <a:solidFill>
                <a:srgbClr val="ffffff"/>
              </a:solidFill>
              <a:effectLst/>
              <a:uFillTx/>
              <a:latin typeface="Arial"/>
            </a:endParaRPr>
          </a:p>
        </p:txBody>
      </p:sp>
      <p:sp>
        <p:nvSpPr>
          <p:cNvPr id="47" name="Shape 13"/>
          <p:cNvSpPr/>
          <p:nvPr/>
        </p:nvSpPr>
        <p:spPr>
          <a:xfrm>
            <a:off x="1993320" y="2697480"/>
            <a:ext cx="1078560" cy="987120"/>
          </a:xfrm>
          <a:prstGeom prst="roundRect">
            <a:avLst>
              <a:gd name="adj" fmla="val 7407"/>
            </a:avLst>
          </a:prstGeom>
          <a:solidFill>
            <a:srgbClr val="0b1730">
              <a:alpha val="92000"/>
            </a:srgbClr>
          </a:solidFill>
          <a:ln w="15240">
            <a:solidFill>
              <a:srgbClr val="2ce6a2">
                <a:alpha val="90000"/>
              </a:srgbClr>
            </a:solidFill>
            <a:round/>
          </a:ln>
          <a:effectLst>
            <a:outerShdw algn="bl" blurRad="12600" dir="2700000" dist="50402" kx="0" ky="0" rotWithShape="0" sx="100000" sy="100000">
              <a:srgbClr val="2ce6a2">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8" name="Text 14"/>
          <p:cNvSpPr/>
          <p:nvPr/>
        </p:nvSpPr>
        <p:spPr>
          <a:xfrm>
            <a:off x="2066400" y="2880360"/>
            <a:ext cx="9324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2ce6a2"/>
                </a:solidFill>
                <a:effectLst/>
                <a:uFillTx/>
                <a:latin typeface="Aptos"/>
              </a:rPr>
              <a:t>2</a:t>
            </a:r>
            <a:endParaRPr b="0" lang="en-US" sz="1800" strike="noStrike" u="none">
              <a:solidFill>
                <a:srgbClr val="ffffff"/>
              </a:solidFill>
              <a:effectLst/>
              <a:uFillTx/>
              <a:latin typeface="Arial"/>
            </a:endParaRPr>
          </a:p>
        </p:txBody>
      </p:sp>
      <p:sp>
        <p:nvSpPr>
          <p:cNvPr id="49" name="Text 15"/>
          <p:cNvSpPr/>
          <p:nvPr/>
        </p:nvSpPr>
        <p:spPr>
          <a:xfrm>
            <a:off x="2084760" y="3282840"/>
            <a:ext cx="895680" cy="22824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0" lang="en-US" sz="750" strike="noStrike" u="none">
                <a:solidFill>
                  <a:srgbClr val="b6c7d9"/>
                </a:solidFill>
                <a:effectLst/>
                <a:uFillTx/>
                <a:latin typeface="Aptos"/>
              </a:rPr>
              <a:t>published ML papers</a:t>
            </a:r>
            <a:endParaRPr b="0" lang="en-US" sz="750" strike="noStrike" u="none">
              <a:solidFill>
                <a:srgbClr val="ffffff"/>
              </a:solidFill>
              <a:effectLst/>
              <a:uFillTx/>
              <a:latin typeface="Arial"/>
            </a:endParaRPr>
          </a:p>
        </p:txBody>
      </p:sp>
      <p:sp>
        <p:nvSpPr>
          <p:cNvPr id="50" name="Text 16"/>
          <p:cNvSpPr/>
          <p:nvPr/>
        </p:nvSpPr>
        <p:spPr>
          <a:xfrm>
            <a:off x="859680" y="4224600"/>
            <a:ext cx="223992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80" strike="noStrike" u="none">
                <a:solidFill>
                  <a:srgbClr val="b6c7d9"/>
                </a:solidFill>
                <a:effectLst/>
                <a:uFillTx/>
                <a:latin typeface="Aptos"/>
              </a:rPr>
              <a:t>MSc Electrical &amp; Computer Engineering</a:t>
            </a:r>
            <a:endParaRPr b="0" lang="en-US" sz="780" strike="noStrike" u="none">
              <a:solidFill>
                <a:srgbClr val="ffffff"/>
              </a:solidFill>
              <a:effectLst/>
              <a:uFillTx/>
              <a:latin typeface="Arial"/>
            </a:endParaRPr>
          </a:p>
          <a:p>
            <a:pPr algn="ctr" defTabSz="914400">
              <a:lnSpc>
                <a:spcPct val="100000"/>
              </a:lnSpc>
              <a:tabLst>
                <a:tab algn="l" pos="0"/>
              </a:tabLst>
            </a:pPr>
            <a:r>
              <a:rPr b="0" lang="en-US" sz="780" strike="noStrike" u="none">
                <a:solidFill>
                  <a:srgbClr val="b6c7d9"/>
                </a:solidFill>
                <a:effectLst/>
                <a:uFillTx/>
                <a:latin typeface="Aptos"/>
              </a:rPr>
              <a:t>Level 2 · MES · Model-based automation</a:t>
            </a:r>
            <a:endParaRPr b="0" lang="en-US" sz="780" strike="noStrike" u="none">
              <a:solidFill>
                <a:srgbClr val="ffffff"/>
              </a:solidFill>
              <a:effectLst/>
              <a:uFillTx/>
              <a:latin typeface="Arial"/>
            </a:endParaRPr>
          </a:p>
          <a:p>
            <a:pPr algn="ctr" defTabSz="914400">
              <a:lnSpc>
                <a:spcPct val="100000"/>
              </a:lnSpc>
              <a:tabLst>
                <a:tab algn="l" pos="0"/>
              </a:tabLst>
            </a:pPr>
            <a:r>
              <a:rPr b="0" lang="en-US" sz="780" strike="noStrike" u="none">
                <a:solidFill>
                  <a:srgbClr val="b6c7d9"/>
                </a:solidFill>
                <a:effectLst/>
                <a:uFillTx/>
                <a:latin typeface="Aptos"/>
              </a:rPr>
              <a:t>Commissioning</a:t>
            </a:r>
            <a:endParaRPr b="0" lang="en-US" sz="780" strike="noStrike" u="none">
              <a:solidFill>
                <a:srgbClr val="ffffff"/>
              </a:solidFill>
              <a:effectLst/>
              <a:uFillTx/>
              <a:latin typeface="Arial"/>
            </a:endParaRPr>
          </a:p>
        </p:txBody>
      </p:sp>
      <p:sp>
        <p:nvSpPr>
          <p:cNvPr id="51" name="Shape 17"/>
          <p:cNvSpPr/>
          <p:nvPr/>
        </p:nvSpPr>
        <p:spPr>
          <a:xfrm>
            <a:off x="3886200" y="2743200"/>
            <a:ext cx="6629400" cy="360"/>
          </a:xfrm>
          <a:prstGeom prst="line">
            <a:avLst/>
          </a:prstGeom>
          <a:ln w="10160">
            <a:solidFill>
              <a:srgbClr val="8ea7c1">
                <a:alpha val="65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52" name="Shape 18"/>
          <p:cNvSpPr/>
          <p:nvPr/>
        </p:nvSpPr>
        <p:spPr>
          <a:xfrm>
            <a:off x="3803760" y="2660760"/>
            <a:ext cx="164160" cy="164160"/>
          </a:xfrm>
          <a:prstGeom prst="ellipse">
            <a:avLst/>
          </a:prstGeom>
          <a:solidFill>
            <a:srgbClr val="00d4ff"/>
          </a:solidFill>
          <a:ln w="1016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3" name="Text 19"/>
          <p:cNvSpPr/>
          <p:nvPr/>
        </p:nvSpPr>
        <p:spPr>
          <a:xfrm>
            <a:off x="368496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00d4ff"/>
                </a:solidFill>
                <a:effectLst/>
                <a:uFillTx/>
                <a:latin typeface="Aptos"/>
              </a:rPr>
              <a:t>2013</a:t>
            </a:r>
            <a:endParaRPr b="0" lang="en-US" sz="650" strike="noStrike" u="none">
              <a:solidFill>
                <a:srgbClr val="ffffff"/>
              </a:solidFill>
              <a:effectLst/>
              <a:uFillTx/>
              <a:latin typeface="Arial"/>
            </a:endParaRPr>
          </a:p>
        </p:txBody>
      </p:sp>
      <p:sp>
        <p:nvSpPr>
          <p:cNvPr id="54" name="Text 20"/>
          <p:cNvSpPr/>
          <p:nvPr/>
        </p:nvSpPr>
        <p:spPr>
          <a:xfrm>
            <a:off x="347472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Flat steel L2</a:t>
            </a:r>
            <a:endParaRPr b="0" lang="en-US" sz="620" strike="noStrike" u="none">
              <a:solidFill>
                <a:srgbClr val="ffffff"/>
              </a:solidFill>
              <a:effectLst/>
              <a:uFillTx/>
              <a:latin typeface="Arial"/>
            </a:endParaRPr>
          </a:p>
        </p:txBody>
      </p:sp>
      <p:sp>
        <p:nvSpPr>
          <p:cNvPr id="55" name="Shape 21"/>
          <p:cNvSpPr/>
          <p:nvPr/>
        </p:nvSpPr>
        <p:spPr>
          <a:xfrm>
            <a:off x="5083920" y="2660760"/>
            <a:ext cx="164160" cy="164160"/>
          </a:xfrm>
          <a:prstGeom prst="ellipse">
            <a:avLst/>
          </a:prstGeom>
          <a:solidFill>
            <a:srgbClr val="00d4ff"/>
          </a:solidFill>
          <a:ln w="1016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6" name="Text 22"/>
          <p:cNvSpPr/>
          <p:nvPr/>
        </p:nvSpPr>
        <p:spPr>
          <a:xfrm>
            <a:off x="496512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00d4ff"/>
                </a:solidFill>
                <a:effectLst/>
                <a:uFillTx/>
                <a:latin typeface="Aptos"/>
              </a:rPr>
              <a:t>2018</a:t>
            </a:r>
            <a:endParaRPr b="0" lang="en-US" sz="650" strike="noStrike" u="none">
              <a:solidFill>
                <a:srgbClr val="ffffff"/>
              </a:solidFill>
              <a:effectLst/>
              <a:uFillTx/>
              <a:latin typeface="Arial"/>
            </a:endParaRPr>
          </a:p>
        </p:txBody>
      </p:sp>
      <p:sp>
        <p:nvSpPr>
          <p:cNvPr id="57" name="Text 23"/>
          <p:cNvSpPr/>
          <p:nvPr/>
        </p:nvSpPr>
        <p:spPr>
          <a:xfrm>
            <a:off x="475488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PSI Metals</a:t>
            </a:r>
            <a:endParaRPr b="0" lang="en-US" sz="620" strike="noStrike" u="none">
              <a:solidFill>
                <a:srgbClr val="ffffff"/>
              </a:solidFill>
              <a:effectLst/>
              <a:uFillTx/>
              <a:latin typeface="Arial"/>
            </a:endParaRPr>
          </a:p>
        </p:txBody>
      </p:sp>
      <p:sp>
        <p:nvSpPr>
          <p:cNvPr id="58" name="Shape 24"/>
          <p:cNvSpPr/>
          <p:nvPr/>
        </p:nvSpPr>
        <p:spPr>
          <a:xfrm>
            <a:off x="6364080" y="2660760"/>
            <a:ext cx="164160" cy="164160"/>
          </a:xfrm>
          <a:prstGeom prst="ellipse">
            <a:avLst/>
          </a:prstGeom>
          <a:solidFill>
            <a:srgbClr val="00d4ff"/>
          </a:solidFill>
          <a:ln w="1016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9" name="Text 25"/>
          <p:cNvSpPr/>
          <p:nvPr/>
        </p:nvSpPr>
        <p:spPr>
          <a:xfrm>
            <a:off x="624528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00d4ff"/>
                </a:solidFill>
                <a:effectLst/>
                <a:uFillTx/>
                <a:latin typeface="Aptos"/>
              </a:rPr>
              <a:t>2019</a:t>
            </a:r>
            <a:endParaRPr b="0" lang="en-US" sz="650" strike="noStrike" u="none">
              <a:solidFill>
                <a:srgbClr val="ffffff"/>
              </a:solidFill>
              <a:effectLst/>
              <a:uFillTx/>
              <a:latin typeface="Arial"/>
            </a:endParaRPr>
          </a:p>
        </p:txBody>
      </p:sp>
      <p:sp>
        <p:nvSpPr>
          <p:cNvPr id="60" name="Text 26"/>
          <p:cNvSpPr/>
          <p:nvPr/>
        </p:nvSpPr>
        <p:spPr>
          <a:xfrm>
            <a:off x="603504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SMS Digital MES</a:t>
            </a:r>
            <a:endParaRPr b="0" lang="en-US" sz="620" strike="noStrike" u="none">
              <a:solidFill>
                <a:srgbClr val="ffffff"/>
              </a:solidFill>
              <a:effectLst/>
              <a:uFillTx/>
              <a:latin typeface="Arial"/>
            </a:endParaRPr>
          </a:p>
        </p:txBody>
      </p:sp>
      <p:sp>
        <p:nvSpPr>
          <p:cNvPr id="61" name="Shape 27"/>
          <p:cNvSpPr/>
          <p:nvPr/>
        </p:nvSpPr>
        <p:spPr>
          <a:xfrm>
            <a:off x="7644240" y="2660760"/>
            <a:ext cx="164160" cy="164160"/>
          </a:xfrm>
          <a:prstGeom prst="ellipse">
            <a:avLst/>
          </a:prstGeom>
          <a:solidFill>
            <a:srgbClr val="00d4ff"/>
          </a:solidFill>
          <a:ln w="1016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2" name="Text 28"/>
          <p:cNvSpPr/>
          <p:nvPr/>
        </p:nvSpPr>
        <p:spPr>
          <a:xfrm>
            <a:off x="752544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00d4ff"/>
                </a:solidFill>
                <a:effectLst/>
                <a:uFillTx/>
                <a:latin typeface="Aptos"/>
              </a:rPr>
              <a:t>2024</a:t>
            </a:r>
            <a:endParaRPr b="0" lang="en-US" sz="650" strike="noStrike" u="none">
              <a:solidFill>
                <a:srgbClr val="ffffff"/>
              </a:solidFill>
              <a:effectLst/>
              <a:uFillTx/>
              <a:latin typeface="Arial"/>
            </a:endParaRPr>
          </a:p>
        </p:txBody>
      </p:sp>
      <p:sp>
        <p:nvSpPr>
          <p:cNvPr id="63" name="Text 29"/>
          <p:cNvSpPr/>
          <p:nvPr/>
        </p:nvSpPr>
        <p:spPr>
          <a:xfrm>
            <a:off x="731520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SMS L2</a:t>
            </a:r>
            <a:endParaRPr b="0" lang="en-US" sz="620" strike="noStrike" u="none">
              <a:solidFill>
                <a:srgbClr val="ffffff"/>
              </a:solidFill>
              <a:effectLst/>
              <a:uFillTx/>
              <a:latin typeface="Arial"/>
            </a:endParaRPr>
          </a:p>
          <a:p>
            <a:pPr algn="ctr" defTabSz="914400">
              <a:lnSpc>
                <a:spcPct val="100000"/>
              </a:lnSpc>
              <a:tabLst>
                <a:tab algn="l" pos="0"/>
              </a:tabLst>
            </a:pPr>
            <a:r>
              <a:rPr b="0" lang="en-US" sz="620" strike="noStrike" u="none">
                <a:solidFill>
                  <a:srgbClr val="b6c7d9"/>
                </a:solidFill>
                <a:effectLst/>
                <a:uFillTx/>
                <a:latin typeface="Aptos"/>
              </a:rPr>
              <a:t>commissioning</a:t>
            </a:r>
            <a:endParaRPr b="0" lang="en-US" sz="620" strike="noStrike" u="none">
              <a:solidFill>
                <a:srgbClr val="ffffff"/>
              </a:solidFill>
              <a:effectLst/>
              <a:uFillTx/>
              <a:latin typeface="Arial"/>
            </a:endParaRPr>
          </a:p>
        </p:txBody>
      </p:sp>
      <p:sp>
        <p:nvSpPr>
          <p:cNvPr id="64" name="Shape 30"/>
          <p:cNvSpPr/>
          <p:nvPr/>
        </p:nvSpPr>
        <p:spPr>
          <a:xfrm>
            <a:off x="8924400" y="2660760"/>
            <a:ext cx="164160" cy="164160"/>
          </a:xfrm>
          <a:prstGeom prst="ellipse">
            <a:avLst/>
          </a:prstGeom>
          <a:solidFill>
            <a:srgbClr val="00d4ff"/>
          </a:solidFill>
          <a:ln w="1016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5" name="Text 31"/>
          <p:cNvSpPr/>
          <p:nvPr/>
        </p:nvSpPr>
        <p:spPr>
          <a:xfrm>
            <a:off x="880560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00d4ff"/>
                </a:solidFill>
                <a:effectLst/>
                <a:uFillTx/>
                <a:latin typeface="Aptos"/>
              </a:rPr>
              <a:t>2025</a:t>
            </a:r>
            <a:endParaRPr b="0" lang="en-US" sz="650" strike="noStrike" u="none">
              <a:solidFill>
                <a:srgbClr val="ffffff"/>
              </a:solidFill>
              <a:effectLst/>
              <a:uFillTx/>
              <a:latin typeface="Arial"/>
            </a:endParaRPr>
          </a:p>
        </p:txBody>
      </p:sp>
      <p:sp>
        <p:nvSpPr>
          <p:cNvPr id="66" name="Text 32"/>
          <p:cNvSpPr/>
          <p:nvPr/>
        </p:nvSpPr>
        <p:spPr>
          <a:xfrm>
            <a:off x="859536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Global steel</a:t>
            </a:r>
            <a:endParaRPr b="0" lang="en-US" sz="620" strike="noStrike" u="none">
              <a:solidFill>
                <a:srgbClr val="ffffff"/>
              </a:solidFill>
              <a:effectLst/>
              <a:uFillTx/>
              <a:latin typeface="Arial"/>
            </a:endParaRPr>
          </a:p>
          <a:p>
            <a:pPr algn="ctr" defTabSz="914400">
              <a:lnSpc>
                <a:spcPct val="100000"/>
              </a:lnSpc>
              <a:tabLst>
                <a:tab algn="l" pos="0"/>
              </a:tabLst>
            </a:pPr>
            <a:r>
              <a:rPr b="0" lang="en-US" sz="620" strike="noStrike" u="none">
                <a:solidFill>
                  <a:srgbClr val="b6c7d9"/>
                </a:solidFill>
                <a:effectLst/>
                <a:uFillTx/>
                <a:latin typeface="Aptos"/>
              </a:rPr>
              <a:t>projects</a:t>
            </a:r>
            <a:endParaRPr b="0" lang="en-US" sz="620" strike="noStrike" u="none">
              <a:solidFill>
                <a:srgbClr val="ffffff"/>
              </a:solidFill>
              <a:effectLst/>
              <a:uFillTx/>
              <a:latin typeface="Arial"/>
            </a:endParaRPr>
          </a:p>
        </p:txBody>
      </p:sp>
      <p:sp>
        <p:nvSpPr>
          <p:cNvPr id="67" name="Shape 33"/>
          <p:cNvSpPr/>
          <p:nvPr/>
        </p:nvSpPr>
        <p:spPr>
          <a:xfrm>
            <a:off x="10204560" y="2660760"/>
            <a:ext cx="164160" cy="164160"/>
          </a:xfrm>
          <a:prstGeom prst="ellipse">
            <a:avLst/>
          </a:prstGeom>
          <a:solidFill>
            <a:srgbClr val="2ce6a2"/>
          </a:solidFill>
          <a:ln w="1016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 name="Text 34"/>
          <p:cNvSpPr/>
          <p:nvPr/>
        </p:nvSpPr>
        <p:spPr>
          <a:xfrm>
            <a:off x="10085760" y="2331720"/>
            <a:ext cx="4111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2ce6a2"/>
                </a:solidFill>
                <a:effectLst/>
                <a:uFillTx/>
                <a:latin typeface="Aptos"/>
              </a:rPr>
              <a:t>2026</a:t>
            </a:r>
            <a:endParaRPr b="0" lang="en-US" sz="650" strike="noStrike" u="none">
              <a:solidFill>
                <a:srgbClr val="ffffff"/>
              </a:solidFill>
              <a:effectLst/>
              <a:uFillTx/>
              <a:latin typeface="Arial"/>
            </a:endParaRPr>
          </a:p>
        </p:txBody>
      </p:sp>
      <p:sp>
        <p:nvSpPr>
          <p:cNvPr id="69" name="Text 35"/>
          <p:cNvSpPr/>
          <p:nvPr/>
        </p:nvSpPr>
        <p:spPr>
          <a:xfrm>
            <a:off x="9875520" y="2971800"/>
            <a:ext cx="8226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20" strike="noStrike" u="none">
                <a:solidFill>
                  <a:srgbClr val="b6c7d9"/>
                </a:solidFill>
                <a:effectLst/>
                <a:uFillTx/>
                <a:latin typeface="Aptos"/>
              </a:rPr>
              <a:t>PlantProcess IQ</a:t>
            </a:r>
            <a:endParaRPr b="0" lang="en-US" sz="620" strike="noStrike" u="none">
              <a:solidFill>
                <a:srgbClr val="ffffff"/>
              </a:solidFill>
              <a:effectLst/>
              <a:uFillTx/>
              <a:latin typeface="Arial"/>
            </a:endParaRPr>
          </a:p>
        </p:txBody>
      </p:sp>
      <p:sp>
        <p:nvSpPr>
          <p:cNvPr id="70" name="Text 36"/>
          <p:cNvSpPr/>
          <p:nvPr/>
        </p:nvSpPr>
        <p:spPr>
          <a:xfrm>
            <a:off x="3840480" y="3977640"/>
            <a:ext cx="2925720" cy="200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000" strike="noStrike" u="none">
                <a:solidFill>
                  <a:srgbClr val="eaf6ff"/>
                </a:solidFill>
                <a:effectLst/>
                <a:uFillTx/>
                <a:latin typeface="Aptos"/>
              </a:rPr>
              <a:t>Global implementations and domain exposure</a:t>
            </a:r>
            <a:endParaRPr b="0" lang="en-US" sz="1000" strike="noStrike" u="none">
              <a:solidFill>
                <a:srgbClr val="ffffff"/>
              </a:solidFill>
              <a:effectLst/>
              <a:uFillTx/>
              <a:latin typeface="Arial"/>
            </a:endParaRPr>
          </a:p>
        </p:txBody>
      </p:sp>
      <p:sp>
        <p:nvSpPr>
          <p:cNvPr id="71" name="Shape 37"/>
          <p:cNvSpPr/>
          <p:nvPr/>
        </p:nvSpPr>
        <p:spPr>
          <a:xfrm>
            <a:off x="3840480" y="4407480"/>
            <a:ext cx="1225080" cy="310680"/>
          </a:xfrm>
          <a:prstGeom prst="roundRect">
            <a:avLst>
              <a:gd name="adj" fmla="val 11765"/>
            </a:avLst>
          </a:prstGeom>
          <a:solidFill>
            <a:srgbClr val="00d4ff">
              <a:alpha val="12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2" name="Text 38"/>
          <p:cNvSpPr/>
          <p:nvPr/>
        </p:nvSpPr>
        <p:spPr>
          <a:xfrm>
            <a:off x="3895200" y="44895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ArcelorMittal</a:t>
            </a:r>
            <a:endParaRPr b="0" lang="en-US" sz="650" strike="noStrike" u="none">
              <a:solidFill>
                <a:srgbClr val="ffffff"/>
              </a:solidFill>
              <a:effectLst/>
              <a:uFillTx/>
              <a:latin typeface="Arial"/>
            </a:endParaRPr>
          </a:p>
        </p:txBody>
      </p:sp>
      <p:sp>
        <p:nvSpPr>
          <p:cNvPr id="73" name="Shape 39"/>
          <p:cNvSpPr/>
          <p:nvPr/>
        </p:nvSpPr>
        <p:spPr>
          <a:xfrm>
            <a:off x="5257800" y="4407480"/>
            <a:ext cx="1225080" cy="310680"/>
          </a:xfrm>
          <a:prstGeom prst="roundRect">
            <a:avLst>
              <a:gd name="adj" fmla="val 11765"/>
            </a:avLst>
          </a:prstGeom>
          <a:solidFill>
            <a:srgbClr val="00d4ff">
              <a:alpha val="12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4" name="Text 40"/>
          <p:cNvSpPr/>
          <p:nvPr/>
        </p:nvSpPr>
        <p:spPr>
          <a:xfrm>
            <a:off x="5312520" y="44895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Tata Steel</a:t>
            </a:r>
            <a:endParaRPr b="0" lang="en-US" sz="650" strike="noStrike" u="none">
              <a:solidFill>
                <a:srgbClr val="ffffff"/>
              </a:solidFill>
              <a:effectLst/>
              <a:uFillTx/>
              <a:latin typeface="Arial"/>
            </a:endParaRPr>
          </a:p>
        </p:txBody>
      </p:sp>
      <p:sp>
        <p:nvSpPr>
          <p:cNvPr id="75" name="Shape 41"/>
          <p:cNvSpPr/>
          <p:nvPr/>
        </p:nvSpPr>
        <p:spPr>
          <a:xfrm>
            <a:off x="6675120" y="4407480"/>
            <a:ext cx="1225080" cy="310680"/>
          </a:xfrm>
          <a:prstGeom prst="roundRect">
            <a:avLst>
              <a:gd name="adj" fmla="val 11765"/>
            </a:avLst>
          </a:prstGeom>
          <a:solidFill>
            <a:srgbClr val="00d4ff">
              <a:alpha val="12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6" name="Text 42"/>
          <p:cNvSpPr/>
          <p:nvPr/>
        </p:nvSpPr>
        <p:spPr>
          <a:xfrm>
            <a:off x="6729840" y="44895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Yamato Steel</a:t>
            </a:r>
            <a:endParaRPr b="0" lang="en-US" sz="650" strike="noStrike" u="none">
              <a:solidFill>
                <a:srgbClr val="ffffff"/>
              </a:solidFill>
              <a:effectLst/>
              <a:uFillTx/>
              <a:latin typeface="Arial"/>
            </a:endParaRPr>
          </a:p>
        </p:txBody>
      </p:sp>
      <p:sp>
        <p:nvSpPr>
          <p:cNvPr id="77" name="Shape 43"/>
          <p:cNvSpPr/>
          <p:nvPr/>
        </p:nvSpPr>
        <p:spPr>
          <a:xfrm>
            <a:off x="8092440" y="4407480"/>
            <a:ext cx="1225080" cy="310680"/>
          </a:xfrm>
          <a:prstGeom prst="roundRect">
            <a:avLst>
              <a:gd name="adj" fmla="val 11765"/>
            </a:avLst>
          </a:prstGeom>
          <a:solidFill>
            <a:srgbClr val="00d4ff">
              <a:alpha val="12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78" name="Text 44"/>
          <p:cNvSpPr/>
          <p:nvPr/>
        </p:nvSpPr>
        <p:spPr>
          <a:xfrm>
            <a:off x="8147160" y="44895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Nucor</a:t>
            </a:r>
            <a:endParaRPr b="0" lang="en-US" sz="650" strike="noStrike" u="none">
              <a:solidFill>
                <a:srgbClr val="ffffff"/>
              </a:solidFill>
              <a:effectLst/>
              <a:uFillTx/>
              <a:latin typeface="Arial"/>
            </a:endParaRPr>
          </a:p>
        </p:txBody>
      </p:sp>
      <p:sp>
        <p:nvSpPr>
          <p:cNvPr id="79" name="Shape 45"/>
          <p:cNvSpPr/>
          <p:nvPr/>
        </p:nvSpPr>
        <p:spPr>
          <a:xfrm>
            <a:off x="3840480" y="4846320"/>
            <a:ext cx="1225080" cy="310680"/>
          </a:xfrm>
          <a:prstGeom prst="roundRect">
            <a:avLst>
              <a:gd name="adj" fmla="val 11765"/>
            </a:avLst>
          </a:prstGeom>
          <a:solidFill>
            <a:srgbClr val="2ce6a2">
              <a:alpha val="12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0" name="Text 46"/>
          <p:cNvSpPr/>
          <p:nvPr/>
        </p:nvSpPr>
        <p:spPr>
          <a:xfrm>
            <a:off x="3895200" y="49287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SSAB</a:t>
            </a:r>
            <a:endParaRPr b="0" lang="en-US" sz="650" strike="noStrike" u="none">
              <a:solidFill>
                <a:srgbClr val="ffffff"/>
              </a:solidFill>
              <a:effectLst/>
              <a:uFillTx/>
              <a:latin typeface="Arial"/>
            </a:endParaRPr>
          </a:p>
        </p:txBody>
      </p:sp>
      <p:sp>
        <p:nvSpPr>
          <p:cNvPr id="81" name="Shape 47"/>
          <p:cNvSpPr/>
          <p:nvPr/>
        </p:nvSpPr>
        <p:spPr>
          <a:xfrm>
            <a:off x="5257800" y="4846320"/>
            <a:ext cx="1225080" cy="310680"/>
          </a:xfrm>
          <a:prstGeom prst="roundRect">
            <a:avLst>
              <a:gd name="adj" fmla="val 11765"/>
            </a:avLst>
          </a:prstGeom>
          <a:solidFill>
            <a:srgbClr val="2ce6a2">
              <a:alpha val="12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Text 48"/>
          <p:cNvSpPr/>
          <p:nvPr/>
        </p:nvSpPr>
        <p:spPr>
          <a:xfrm>
            <a:off x="5312520" y="49287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Big River Steel</a:t>
            </a:r>
            <a:endParaRPr b="0" lang="en-US" sz="650" strike="noStrike" u="none">
              <a:solidFill>
                <a:srgbClr val="ffffff"/>
              </a:solidFill>
              <a:effectLst/>
              <a:uFillTx/>
              <a:latin typeface="Arial"/>
            </a:endParaRPr>
          </a:p>
        </p:txBody>
      </p:sp>
      <p:sp>
        <p:nvSpPr>
          <p:cNvPr id="83" name="Shape 49"/>
          <p:cNvSpPr/>
          <p:nvPr/>
        </p:nvSpPr>
        <p:spPr>
          <a:xfrm>
            <a:off x="6675120" y="4846320"/>
            <a:ext cx="1225080" cy="310680"/>
          </a:xfrm>
          <a:prstGeom prst="roundRect">
            <a:avLst>
              <a:gd name="adj" fmla="val 11765"/>
            </a:avLst>
          </a:prstGeom>
          <a:solidFill>
            <a:srgbClr val="2ce6a2">
              <a:alpha val="12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4" name="Text 50"/>
          <p:cNvSpPr/>
          <p:nvPr/>
        </p:nvSpPr>
        <p:spPr>
          <a:xfrm>
            <a:off x="6729840" y="49287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North Star</a:t>
            </a:r>
            <a:endParaRPr b="0" lang="en-US" sz="650" strike="noStrike" u="none">
              <a:solidFill>
                <a:srgbClr val="ffffff"/>
              </a:solidFill>
              <a:effectLst/>
              <a:uFillTx/>
              <a:latin typeface="Arial"/>
            </a:endParaRPr>
          </a:p>
        </p:txBody>
      </p:sp>
      <p:sp>
        <p:nvSpPr>
          <p:cNvPr id="85" name="Shape 51"/>
          <p:cNvSpPr/>
          <p:nvPr/>
        </p:nvSpPr>
        <p:spPr>
          <a:xfrm>
            <a:off x="8092440" y="4846320"/>
            <a:ext cx="1225080" cy="310680"/>
          </a:xfrm>
          <a:prstGeom prst="roundRect">
            <a:avLst>
              <a:gd name="adj" fmla="val 11765"/>
            </a:avLst>
          </a:prstGeom>
          <a:solidFill>
            <a:srgbClr val="2ce6a2">
              <a:alpha val="12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6" name="Text 52"/>
          <p:cNvSpPr/>
          <p:nvPr/>
        </p:nvSpPr>
        <p:spPr>
          <a:xfrm>
            <a:off x="8147160" y="4928760"/>
            <a:ext cx="111528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JSW Steel</a:t>
            </a:r>
            <a:endParaRPr b="0" lang="en-US" sz="650" strike="noStrike" u="none">
              <a:solidFill>
                <a:srgbClr val="ffffff"/>
              </a:solidFill>
              <a:effectLst/>
              <a:uFillTx/>
              <a:latin typeface="Arial"/>
            </a:endParaRPr>
          </a:p>
        </p:txBody>
      </p:sp>
      <p:sp>
        <p:nvSpPr>
          <p:cNvPr id="87" name="Shape 53"/>
          <p:cNvSpPr/>
          <p:nvPr/>
        </p:nvSpPr>
        <p:spPr>
          <a:xfrm>
            <a:off x="7589520" y="4700160"/>
            <a:ext cx="3794400" cy="932400"/>
          </a:xfrm>
          <a:prstGeom prst="roundRect">
            <a:avLst>
              <a:gd name="adj" fmla="val 5882"/>
            </a:avLst>
          </a:prstGeom>
          <a:solidFill>
            <a:srgbClr val="0b1730">
              <a:alpha val="97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8" name="Shape 54"/>
          <p:cNvSpPr/>
          <p:nvPr/>
        </p:nvSpPr>
        <p:spPr>
          <a:xfrm>
            <a:off x="7589520" y="4700160"/>
            <a:ext cx="54360" cy="932400"/>
          </a:xfrm>
          <a:prstGeom prst="rect">
            <a:avLst/>
          </a:prstGeom>
          <a:solidFill>
            <a:srgbClr val="2ce6a2"/>
          </a:solidFill>
          <a:ln w="12700">
            <a:solidFill>
              <a:srgbClr val="2ce6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9" name="Text 55"/>
          <p:cNvSpPr/>
          <p:nvPr/>
        </p:nvSpPr>
        <p:spPr>
          <a:xfrm>
            <a:off x="7754040" y="4864680"/>
            <a:ext cx="3501720" cy="6213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200" strike="noStrike" u="none">
                <a:solidFill>
                  <a:srgbClr val="eaf6ff"/>
                </a:solidFill>
                <a:effectLst/>
                <a:uFillTx/>
                <a:latin typeface="Aptos"/>
              </a:rPr>
              <a:t>“I know how the plant data is generated, why it fragments, and why engineers struggle to connect it. PPIQ is the tool I always wished I had.”</a:t>
            </a:r>
            <a:endParaRPr b="0" lang="en-US" sz="1200" strike="noStrike" u="none">
              <a:solidFill>
                <a:srgbClr val="ffffff"/>
              </a:solidFill>
              <a:effectLst/>
              <a:uFillTx/>
              <a:latin typeface="Arial"/>
            </a:endParaRPr>
          </a:p>
        </p:txBody>
      </p:sp>
      <p:sp>
        <p:nvSpPr>
          <p:cNvPr id="90" name="Text 56"/>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91" name="Text 57"/>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92" name="Text 58"/>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02</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93" name="Image 0" descr="/mnt/data/a_wide_cinematic_industrial_infographic_concept_batch_3.png"/>
          <p:cNvPicPr/>
          <p:nvPr/>
        </p:nvPicPr>
        <p:blipFill>
          <a:blip r:embed="rId1"/>
          <a:srcRect l="0" t="5001" r="9953" b="5001"/>
          <a:stretch/>
        </p:blipFill>
        <p:spPr>
          <a:xfrm>
            <a:off x="0" y="0"/>
            <a:ext cx="12191400" cy="6857640"/>
          </a:xfrm>
          <a:prstGeom prst="rect">
            <a:avLst/>
          </a:prstGeom>
          <a:noFill/>
          <a:ln w="0">
            <a:noFill/>
          </a:ln>
        </p:spPr>
      </p:pic>
      <p:sp>
        <p:nvSpPr>
          <p:cNvPr id="94" name="Shape 0"/>
          <p:cNvSpPr/>
          <p:nvPr/>
        </p:nvSpPr>
        <p:spPr>
          <a:xfrm>
            <a:off x="0" y="0"/>
            <a:ext cx="12191400" cy="6857640"/>
          </a:xfrm>
          <a:prstGeom prst="rect">
            <a:avLst/>
          </a:prstGeom>
          <a:solidFill>
            <a:srgbClr val="050b18">
              <a:alpha val="52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5"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6" name="Text 2"/>
          <p:cNvSpPr/>
          <p:nvPr/>
        </p:nvSpPr>
        <p:spPr>
          <a:xfrm>
            <a:off x="502920" y="411480"/>
            <a:ext cx="60346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SCALE OF PROOF</a:t>
            </a:r>
            <a:endParaRPr b="0" lang="en-US" sz="850" strike="noStrike" u="none">
              <a:solidFill>
                <a:srgbClr val="ffffff"/>
              </a:solidFill>
              <a:effectLst/>
              <a:uFillTx/>
              <a:latin typeface="Arial"/>
            </a:endParaRPr>
          </a:p>
        </p:txBody>
      </p:sp>
      <p:sp>
        <p:nvSpPr>
          <p:cNvPr id="97" name="Text 3"/>
          <p:cNvSpPr/>
          <p:nvPr/>
        </p:nvSpPr>
        <p:spPr>
          <a:xfrm>
            <a:off x="502920" y="704160"/>
            <a:ext cx="603468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3000" strike="noStrike" u="none">
                <a:solidFill>
                  <a:srgbClr val="eaf6ff"/>
                </a:solidFill>
                <a:effectLst/>
                <a:uFillTx/>
                <a:latin typeface="Aptos"/>
              </a:rPr>
              <a:t>Tested on reality. Built for scale.</a:t>
            </a:r>
            <a:endParaRPr b="0" lang="en-US" sz="3000" strike="noStrike" u="none">
              <a:solidFill>
                <a:srgbClr val="ffffff"/>
              </a:solidFill>
              <a:effectLst/>
              <a:uFillTx/>
              <a:latin typeface="Arial"/>
            </a:endParaRPr>
          </a:p>
        </p:txBody>
      </p:sp>
      <p:sp>
        <p:nvSpPr>
          <p:cNvPr id="98" name="Text 4"/>
          <p:cNvSpPr/>
          <p:nvPr/>
        </p:nvSpPr>
        <p:spPr>
          <a:xfrm>
            <a:off x="502920" y="1490400"/>
            <a:ext cx="603468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Validation data is not a pretty sample. It is a production-like fleet built to stress the full journey.</a:t>
            </a:r>
            <a:endParaRPr b="0" lang="en-US" sz="1250" strike="noStrike" u="none">
              <a:solidFill>
                <a:srgbClr val="ffffff"/>
              </a:solidFill>
              <a:effectLst/>
              <a:uFillTx/>
              <a:latin typeface="Arial"/>
            </a:endParaRPr>
          </a:p>
        </p:txBody>
      </p:sp>
      <p:sp>
        <p:nvSpPr>
          <p:cNvPr id="99" name="Shape 5"/>
          <p:cNvSpPr/>
          <p:nvPr/>
        </p:nvSpPr>
        <p:spPr>
          <a:xfrm>
            <a:off x="9006840" y="411480"/>
            <a:ext cx="1965600" cy="328680"/>
          </a:xfrm>
          <a:prstGeom prst="roundRect">
            <a:avLst>
              <a:gd name="adj" fmla="val 11111"/>
            </a:avLst>
          </a:prstGeom>
          <a:solidFill>
            <a:srgbClr val="00d4ff">
              <a:alpha val="8000"/>
            </a:srgbClr>
          </a:solidFill>
          <a:ln w="889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00" name="Text 6"/>
          <p:cNvSpPr/>
          <p:nvPr/>
        </p:nvSpPr>
        <p:spPr>
          <a:xfrm>
            <a:off x="9006840" y="493920"/>
            <a:ext cx="19656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00d4ff"/>
                </a:solidFill>
                <a:effectLst/>
                <a:uFillTx/>
                <a:latin typeface="Aptos"/>
              </a:rPr>
              <a:t>PROOF SCALE MATTERS</a:t>
            </a:r>
            <a:endParaRPr b="0" lang="en-US" sz="580" strike="noStrike" u="none">
              <a:solidFill>
                <a:srgbClr val="ffffff"/>
              </a:solidFill>
              <a:effectLst/>
              <a:uFillTx/>
              <a:latin typeface="Arial"/>
            </a:endParaRPr>
          </a:p>
        </p:txBody>
      </p:sp>
      <p:sp>
        <p:nvSpPr>
          <p:cNvPr id="101" name="Shape 7"/>
          <p:cNvSpPr/>
          <p:nvPr/>
        </p:nvSpPr>
        <p:spPr>
          <a:xfrm>
            <a:off x="749880" y="1938600"/>
            <a:ext cx="2148480" cy="987120"/>
          </a:xfrm>
          <a:prstGeom prst="roundRect">
            <a:avLst>
              <a:gd name="adj" fmla="val 7407"/>
            </a:avLst>
          </a:prstGeom>
          <a:solidFill>
            <a:srgbClr val="0b1730">
              <a:alpha val="92000"/>
            </a:srgbClr>
          </a:solidFill>
          <a:ln w="15240">
            <a:solidFill>
              <a:srgbClr val="00d4ff">
                <a:alpha val="90000"/>
              </a:srgbClr>
            </a:solidFill>
            <a:round/>
          </a:ln>
          <a:effectLst>
            <a:outerShdw algn="bl" blurRad="12600" dir="2700000" dist="50402" kx="0" ky="0" rotWithShape="0" sx="100000" sy="100000">
              <a:srgbClr val="00d4ff">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2" name="Text 8"/>
          <p:cNvSpPr/>
          <p:nvPr/>
        </p:nvSpPr>
        <p:spPr>
          <a:xfrm>
            <a:off x="822960" y="2121480"/>
            <a:ext cx="20023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1,802</a:t>
            </a:r>
            <a:endParaRPr b="0" lang="en-US" sz="1800" strike="noStrike" u="none">
              <a:solidFill>
                <a:srgbClr val="ffffff"/>
              </a:solidFill>
              <a:effectLst/>
              <a:uFillTx/>
              <a:latin typeface="Arial"/>
            </a:endParaRPr>
          </a:p>
        </p:txBody>
      </p:sp>
      <p:sp>
        <p:nvSpPr>
          <p:cNvPr id="103" name="Text 9"/>
          <p:cNvSpPr/>
          <p:nvPr/>
        </p:nvSpPr>
        <p:spPr>
          <a:xfrm>
            <a:off x="841320" y="2523600"/>
            <a:ext cx="19656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trike="noStrike" u="none">
                <a:solidFill>
                  <a:srgbClr val="b6c7d9"/>
                </a:solidFill>
                <a:effectLst/>
                <a:uFillTx/>
                <a:latin typeface="Aptos"/>
              </a:rPr>
              <a:t>continuous casting heats analyzed</a:t>
            </a:r>
            <a:endParaRPr b="0" lang="en-US" sz="750" strike="noStrike" u="none">
              <a:solidFill>
                <a:srgbClr val="ffffff"/>
              </a:solidFill>
              <a:effectLst/>
              <a:uFillTx/>
              <a:latin typeface="Arial"/>
            </a:endParaRPr>
          </a:p>
        </p:txBody>
      </p:sp>
      <p:sp>
        <p:nvSpPr>
          <p:cNvPr id="104" name="Shape 10"/>
          <p:cNvSpPr/>
          <p:nvPr/>
        </p:nvSpPr>
        <p:spPr>
          <a:xfrm>
            <a:off x="2971800" y="1938600"/>
            <a:ext cx="2605680" cy="987120"/>
          </a:xfrm>
          <a:prstGeom prst="roundRect">
            <a:avLst>
              <a:gd name="adj" fmla="val 7407"/>
            </a:avLst>
          </a:prstGeom>
          <a:solidFill>
            <a:srgbClr val="0b1730">
              <a:alpha val="92000"/>
            </a:srgbClr>
          </a:solidFill>
          <a:ln w="15240">
            <a:solidFill>
              <a:srgbClr val="2ce6a2">
                <a:alpha val="90000"/>
              </a:srgbClr>
            </a:solidFill>
            <a:round/>
          </a:ln>
          <a:effectLst>
            <a:outerShdw algn="bl" blurRad="12600" dir="2700000" dist="50402" kx="0" ky="0" rotWithShape="0" sx="100000" sy="100000">
              <a:srgbClr val="2ce6a2">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5" name="Text 11"/>
          <p:cNvSpPr/>
          <p:nvPr/>
        </p:nvSpPr>
        <p:spPr>
          <a:xfrm>
            <a:off x="3044880" y="2121480"/>
            <a:ext cx="24595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2ce6a2"/>
                </a:solidFill>
                <a:effectLst/>
                <a:uFillTx/>
                <a:latin typeface="Aptos"/>
              </a:rPr>
              <a:t>18,000+</a:t>
            </a:r>
            <a:endParaRPr b="0" lang="en-US" sz="1800" strike="noStrike" u="none">
              <a:solidFill>
                <a:srgbClr val="ffffff"/>
              </a:solidFill>
              <a:effectLst/>
              <a:uFillTx/>
              <a:latin typeface="Arial"/>
            </a:endParaRPr>
          </a:p>
        </p:txBody>
      </p:sp>
      <p:sp>
        <p:nvSpPr>
          <p:cNvPr id="106" name="Text 12"/>
          <p:cNvSpPr/>
          <p:nvPr/>
        </p:nvSpPr>
        <p:spPr>
          <a:xfrm>
            <a:off x="3063240" y="2523600"/>
            <a:ext cx="24228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trike="noStrike" u="none">
                <a:solidFill>
                  <a:srgbClr val="b6c7d9"/>
                </a:solidFill>
                <a:effectLst/>
                <a:uFillTx/>
                <a:latin typeface="Aptos"/>
              </a:rPr>
              <a:t>coils mapped across heat → slab → coil</a:t>
            </a:r>
            <a:endParaRPr b="0" lang="en-US" sz="750" strike="noStrike" u="none">
              <a:solidFill>
                <a:srgbClr val="ffffff"/>
              </a:solidFill>
              <a:effectLst/>
              <a:uFillTx/>
              <a:latin typeface="Arial"/>
            </a:endParaRPr>
          </a:p>
        </p:txBody>
      </p:sp>
      <p:sp>
        <p:nvSpPr>
          <p:cNvPr id="107" name="Shape 13"/>
          <p:cNvSpPr/>
          <p:nvPr/>
        </p:nvSpPr>
        <p:spPr>
          <a:xfrm>
            <a:off x="5715000" y="1938600"/>
            <a:ext cx="2605680" cy="987120"/>
          </a:xfrm>
          <a:prstGeom prst="roundRect">
            <a:avLst>
              <a:gd name="adj" fmla="val 7407"/>
            </a:avLst>
          </a:prstGeom>
          <a:solidFill>
            <a:srgbClr val="0b1730">
              <a:alpha val="92000"/>
            </a:srgbClr>
          </a:solidFill>
          <a:ln w="15240">
            <a:solidFill>
              <a:srgbClr val="ffb020">
                <a:alpha val="90000"/>
              </a:srgbClr>
            </a:solidFill>
            <a:round/>
          </a:ln>
          <a:effectLst>
            <a:outerShdw algn="bl" blurRad="12600" dir="2700000" dist="50402" kx="0" ky="0" rotWithShape="0" sx="100000" sy="100000">
              <a:srgbClr val="ffb020">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08" name="Text 14"/>
          <p:cNvSpPr/>
          <p:nvPr/>
        </p:nvSpPr>
        <p:spPr>
          <a:xfrm>
            <a:off x="5788080" y="2121480"/>
            <a:ext cx="24595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ffb020"/>
                </a:solidFill>
                <a:effectLst/>
                <a:uFillTx/>
                <a:latin typeface="Aptos"/>
              </a:rPr>
              <a:t>34,000+</a:t>
            </a:r>
            <a:endParaRPr b="0" lang="en-US" sz="1800" strike="noStrike" u="none">
              <a:solidFill>
                <a:srgbClr val="ffffff"/>
              </a:solidFill>
              <a:effectLst/>
              <a:uFillTx/>
              <a:latin typeface="Arial"/>
            </a:endParaRPr>
          </a:p>
        </p:txBody>
      </p:sp>
      <p:sp>
        <p:nvSpPr>
          <p:cNvPr id="109" name="Text 15"/>
          <p:cNvSpPr/>
          <p:nvPr/>
        </p:nvSpPr>
        <p:spPr>
          <a:xfrm>
            <a:off x="5806440" y="2523600"/>
            <a:ext cx="24228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trike="noStrike" u="none">
                <a:solidFill>
                  <a:srgbClr val="b6c7d9"/>
                </a:solidFill>
                <a:effectLst/>
                <a:uFillTx/>
                <a:latin typeface="Aptos"/>
              </a:rPr>
              <a:t>surface defects tracked and joined to lineage</a:t>
            </a:r>
            <a:endParaRPr b="0" lang="en-US" sz="750" strike="noStrike" u="none">
              <a:solidFill>
                <a:srgbClr val="ffffff"/>
              </a:solidFill>
              <a:effectLst/>
              <a:uFillTx/>
              <a:latin typeface="Arial"/>
            </a:endParaRPr>
          </a:p>
        </p:txBody>
      </p:sp>
      <p:sp>
        <p:nvSpPr>
          <p:cNvPr id="110" name="Shape 16"/>
          <p:cNvSpPr/>
          <p:nvPr/>
        </p:nvSpPr>
        <p:spPr>
          <a:xfrm>
            <a:off x="8458200" y="1938600"/>
            <a:ext cx="2605680" cy="987120"/>
          </a:xfrm>
          <a:prstGeom prst="roundRect">
            <a:avLst>
              <a:gd name="adj" fmla="val 7407"/>
            </a:avLst>
          </a:prstGeom>
          <a:solidFill>
            <a:srgbClr val="0b1730">
              <a:alpha val="92000"/>
            </a:srgbClr>
          </a:solidFill>
          <a:ln w="15240">
            <a:solidFill>
              <a:srgbClr val="00d4ff">
                <a:alpha val="90000"/>
              </a:srgbClr>
            </a:solidFill>
            <a:round/>
          </a:ln>
          <a:effectLst>
            <a:outerShdw algn="bl" blurRad="12600" dir="2700000" dist="50402" kx="0" ky="0" rotWithShape="0" sx="100000" sy="100000">
              <a:srgbClr val="00d4ff">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1" name="Text 17"/>
          <p:cNvSpPr/>
          <p:nvPr/>
        </p:nvSpPr>
        <p:spPr>
          <a:xfrm>
            <a:off x="8531280" y="2121480"/>
            <a:ext cx="24595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37,000+</a:t>
            </a:r>
            <a:endParaRPr b="0" lang="en-US" sz="1800" strike="noStrike" u="none">
              <a:solidFill>
                <a:srgbClr val="ffffff"/>
              </a:solidFill>
              <a:effectLst/>
              <a:uFillTx/>
              <a:latin typeface="Arial"/>
            </a:endParaRPr>
          </a:p>
        </p:txBody>
      </p:sp>
      <p:sp>
        <p:nvSpPr>
          <p:cNvPr id="112" name="Text 18"/>
          <p:cNvSpPr/>
          <p:nvPr/>
        </p:nvSpPr>
        <p:spPr>
          <a:xfrm>
            <a:off x="8549640" y="2523600"/>
            <a:ext cx="242280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50" strike="noStrike" u="none">
                <a:solidFill>
                  <a:srgbClr val="b6c7d9"/>
                </a:solidFill>
                <a:effectLst/>
                <a:uFillTx/>
                <a:latin typeface="Aptos"/>
              </a:rPr>
              <a:t>genealogy edges expected across the thread</a:t>
            </a:r>
            <a:endParaRPr b="0" lang="en-US" sz="750" strike="noStrike" u="none">
              <a:solidFill>
                <a:srgbClr val="ffffff"/>
              </a:solidFill>
              <a:effectLst/>
              <a:uFillTx/>
              <a:latin typeface="Arial"/>
            </a:endParaRPr>
          </a:p>
        </p:txBody>
      </p:sp>
      <p:sp>
        <p:nvSpPr>
          <p:cNvPr id="113" name="Shape 19"/>
          <p:cNvSpPr/>
          <p:nvPr/>
        </p:nvSpPr>
        <p:spPr>
          <a:xfrm>
            <a:off x="777240" y="4160520"/>
            <a:ext cx="132552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4" name="Text 20"/>
          <p:cNvSpPr/>
          <p:nvPr/>
        </p:nvSpPr>
        <p:spPr>
          <a:xfrm>
            <a:off x="850320" y="4334400"/>
            <a:ext cx="117936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Meltshop</a:t>
            </a:r>
            <a:endParaRPr b="0" lang="en-US" sz="740" strike="noStrike" u="none">
              <a:solidFill>
                <a:srgbClr val="ffffff"/>
              </a:solidFill>
              <a:effectLst/>
              <a:uFillTx/>
              <a:latin typeface="Arial"/>
            </a:endParaRPr>
          </a:p>
        </p:txBody>
      </p:sp>
      <p:sp>
        <p:nvSpPr>
          <p:cNvPr id="115" name="Shape 21"/>
          <p:cNvSpPr/>
          <p:nvPr/>
        </p:nvSpPr>
        <p:spPr>
          <a:xfrm>
            <a:off x="2926080" y="4160520"/>
            <a:ext cx="132552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6" name="Text 22"/>
          <p:cNvSpPr/>
          <p:nvPr/>
        </p:nvSpPr>
        <p:spPr>
          <a:xfrm>
            <a:off x="2999160" y="4334400"/>
            <a:ext cx="117936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Caster</a:t>
            </a:r>
            <a:endParaRPr b="0" lang="en-US" sz="740" strike="noStrike" u="none">
              <a:solidFill>
                <a:srgbClr val="ffffff"/>
              </a:solidFill>
              <a:effectLst/>
              <a:uFillTx/>
              <a:latin typeface="Arial"/>
            </a:endParaRPr>
          </a:p>
        </p:txBody>
      </p:sp>
      <p:sp>
        <p:nvSpPr>
          <p:cNvPr id="117" name="Shape 23"/>
          <p:cNvSpPr/>
          <p:nvPr/>
        </p:nvSpPr>
        <p:spPr>
          <a:xfrm>
            <a:off x="5074920" y="4160520"/>
            <a:ext cx="132552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8" name="Text 24"/>
          <p:cNvSpPr/>
          <p:nvPr/>
        </p:nvSpPr>
        <p:spPr>
          <a:xfrm>
            <a:off x="5148000" y="4334400"/>
            <a:ext cx="117936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HSM</a:t>
            </a:r>
            <a:endParaRPr b="0" lang="en-US" sz="740" strike="noStrike" u="none">
              <a:solidFill>
                <a:srgbClr val="ffffff"/>
              </a:solidFill>
              <a:effectLst/>
              <a:uFillTx/>
              <a:latin typeface="Arial"/>
            </a:endParaRPr>
          </a:p>
        </p:txBody>
      </p:sp>
      <p:sp>
        <p:nvSpPr>
          <p:cNvPr id="119" name="Shape 25"/>
          <p:cNvSpPr/>
          <p:nvPr/>
        </p:nvSpPr>
        <p:spPr>
          <a:xfrm>
            <a:off x="7223760" y="4160520"/>
            <a:ext cx="132552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0" name="Text 26"/>
          <p:cNvSpPr/>
          <p:nvPr/>
        </p:nvSpPr>
        <p:spPr>
          <a:xfrm>
            <a:off x="7296840" y="4334400"/>
            <a:ext cx="117936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Inspection</a:t>
            </a:r>
            <a:endParaRPr b="0" lang="en-US" sz="740" strike="noStrike" u="none">
              <a:solidFill>
                <a:srgbClr val="ffffff"/>
              </a:solidFill>
              <a:effectLst/>
              <a:uFillTx/>
              <a:latin typeface="Arial"/>
            </a:endParaRPr>
          </a:p>
        </p:txBody>
      </p:sp>
      <p:sp>
        <p:nvSpPr>
          <p:cNvPr id="121" name="Shape 27"/>
          <p:cNvSpPr/>
          <p:nvPr/>
        </p:nvSpPr>
        <p:spPr>
          <a:xfrm>
            <a:off x="9372600" y="4160520"/>
            <a:ext cx="1325520" cy="529920"/>
          </a:xfrm>
          <a:prstGeom prst="roundRect">
            <a:avLst>
              <a:gd name="adj" fmla="val 13793"/>
            </a:avLst>
          </a:prstGeom>
          <a:solidFill>
            <a:srgbClr val="0b1730">
              <a:alpha val="95000"/>
            </a:srgbClr>
          </a:solidFill>
          <a:ln w="11430">
            <a:solidFill>
              <a:srgbClr val="2ce6a2">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2" name="Text 28"/>
          <p:cNvSpPr/>
          <p:nvPr/>
        </p:nvSpPr>
        <p:spPr>
          <a:xfrm>
            <a:off x="9445680" y="4334400"/>
            <a:ext cx="117936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Engine</a:t>
            </a:r>
            <a:endParaRPr b="0" lang="en-US" sz="740" strike="noStrike" u="none">
              <a:solidFill>
                <a:srgbClr val="ffffff"/>
              </a:solidFill>
              <a:effectLst/>
              <a:uFillTx/>
              <a:latin typeface="Arial"/>
            </a:endParaRPr>
          </a:p>
        </p:txBody>
      </p:sp>
      <p:sp>
        <p:nvSpPr>
          <p:cNvPr id="123" name="Shape 29"/>
          <p:cNvSpPr/>
          <p:nvPr/>
        </p:nvSpPr>
        <p:spPr>
          <a:xfrm>
            <a:off x="2103120" y="4425480"/>
            <a:ext cx="566640" cy="360"/>
          </a:xfrm>
          <a:prstGeom prst="line">
            <a:avLst/>
          </a:prstGeom>
          <a:ln w="1524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24" name="Shape 30"/>
          <p:cNvSpPr/>
          <p:nvPr/>
        </p:nvSpPr>
        <p:spPr>
          <a:xfrm>
            <a:off x="4251960" y="4425480"/>
            <a:ext cx="566640" cy="360"/>
          </a:xfrm>
          <a:prstGeom prst="line">
            <a:avLst/>
          </a:prstGeom>
          <a:ln w="1524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25" name="Shape 31"/>
          <p:cNvSpPr/>
          <p:nvPr/>
        </p:nvSpPr>
        <p:spPr>
          <a:xfrm>
            <a:off x="6400800" y="4425480"/>
            <a:ext cx="566640" cy="360"/>
          </a:xfrm>
          <a:prstGeom prst="line">
            <a:avLst/>
          </a:prstGeom>
          <a:ln w="1524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26" name="Shape 32"/>
          <p:cNvSpPr/>
          <p:nvPr/>
        </p:nvSpPr>
        <p:spPr>
          <a:xfrm>
            <a:off x="8549640" y="4425480"/>
            <a:ext cx="566640" cy="360"/>
          </a:xfrm>
          <a:prstGeom prst="line">
            <a:avLst/>
          </a:prstGeom>
          <a:ln w="15240">
            <a:solidFill>
              <a:srgbClr val="2ce6a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27" name="Text 33"/>
          <p:cNvSpPr/>
          <p:nvPr/>
        </p:nvSpPr>
        <p:spPr>
          <a:xfrm>
            <a:off x="1051560" y="5596200"/>
            <a:ext cx="1001232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eaf6ff"/>
                </a:solidFill>
                <a:effectLst/>
                <a:uFillTx/>
                <a:latin typeface="Aptos"/>
              </a:rPr>
              <a:t>Commercial point: the demo is not a static story. It is the same engine path: import → lineage → analysis → evidence.</a:t>
            </a:r>
            <a:endParaRPr b="0" lang="en-US" sz="1300" strike="noStrike" u="none">
              <a:solidFill>
                <a:srgbClr val="ffffff"/>
              </a:solidFill>
              <a:effectLst/>
              <a:uFillTx/>
              <a:latin typeface="Arial"/>
            </a:endParaRPr>
          </a:p>
        </p:txBody>
      </p:sp>
      <p:sp>
        <p:nvSpPr>
          <p:cNvPr id="128" name="Text 34"/>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129" name="Text 35"/>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130" name="Text 36"/>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03</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131" name="Image 0" descr="/mnt/data/a_high_tech_futuristic_data_industrial_infographic_batch_2.png"/>
          <p:cNvPicPr/>
          <p:nvPr/>
        </p:nvPicPr>
        <p:blipFill>
          <a:blip r:embed="rId1"/>
          <a:srcRect l="0" t="0" r="-52" b="0"/>
          <a:stretch/>
        </p:blipFill>
        <p:spPr>
          <a:xfrm>
            <a:off x="0" y="0"/>
            <a:ext cx="12191400" cy="6857640"/>
          </a:xfrm>
          <a:prstGeom prst="rect">
            <a:avLst/>
          </a:prstGeom>
          <a:noFill/>
          <a:ln w="0">
            <a:noFill/>
          </a:ln>
        </p:spPr>
      </p:pic>
      <p:sp>
        <p:nvSpPr>
          <p:cNvPr id="132" name="Shape 0"/>
          <p:cNvSpPr/>
          <p:nvPr/>
        </p:nvSpPr>
        <p:spPr>
          <a:xfrm>
            <a:off x="0" y="0"/>
            <a:ext cx="12191400" cy="6857640"/>
          </a:xfrm>
          <a:prstGeom prst="rect">
            <a:avLst/>
          </a:prstGeom>
          <a:solidFill>
            <a:srgbClr val="050b18">
              <a:alpha val="62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3"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4" name="Shape 2"/>
          <p:cNvSpPr/>
          <p:nvPr/>
        </p:nvSpPr>
        <p:spPr>
          <a:xfrm>
            <a:off x="0" y="0"/>
            <a:ext cx="7040520" cy="6857640"/>
          </a:xfrm>
          <a:prstGeom prst="rect">
            <a:avLst/>
          </a:prstGeom>
          <a:solidFill>
            <a:srgbClr val="050b18">
              <a:alpha val="99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5" name="Text 3"/>
          <p:cNvSpPr/>
          <p:nvPr/>
        </p:nvSpPr>
        <p:spPr>
          <a:xfrm>
            <a:off x="502920" y="420480"/>
            <a:ext cx="62175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ACT 1 · THE CRIME SCENE</a:t>
            </a:r>
            <a:endParaRPr b="0" lang="en-US" sz="850" strike="noStrike" u="none">
              <a:solidFill>
                <a:srgbClr val="ffffff"/>
              </a:solidFill>
              <a:effectLst/>
              <a:uFillTx/>
              <a:latin typeface="Arial"/>
            </a:endParaRPr>
          </a:p>
        </p:txBody>
      </p:sp>
      <p:sp>
        <p:nvSpPr>
          <p:cNvPr id="136" name="Text 4"/>
          <p:cNvSpPr/>
          <p:nvPr/>
        </p:nvSpPr>
        <p:spPr>
          <a:xfrm>
            <a:off x="502920" y="713160"/>
            <a:ext cx="621756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3000" strike="noStrike" u="none">
                <a:solidFill>
                  <a:srgbClr val="eaf6ff"/>
                </a:solidFill>
                <a:effectLst/>
                <a:uFillTx/>
                <a:latin typeface="Aptos"/>
              </a:rPr>
              <a:t>The defect is visible. The origin is hidden.</a:t>
            </a:r>
            <a:endParaRPr b="0" lang="en-US" sz="3000" strike="noStrike" u="none">
              <a:solidFill>
                <a:srgbClr val="ffffff"/>
              </a:solidFill>
              <a:effectLst/>
              <a:uFillTx/>
              <a:latin typeface="Arial"/>
            </a:endParaRPr>
          </a:p>
        </p:txBody>
      </p:sp>
      <p:sp>
        <p:nvSpPr>
          <p:cNvPr id="137" name="Text 5"/>
          <p:cNvSpPr/>
          <p:nvPr/>
        </p:nvSpPr>
        <p:spPr>
          <a:xfrm>
            <a:off x="502920" y="1499760"/>
            <a:ext cx="621756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300" strike="noStrike" u="none">
                <a:solidFill>
                  <a:srgbClr val="b6c7d9"/>
                </a:solidFill>
                <a:effectLst/>
                <a:uFillTx/>
                <a:latin typeface="Aptos"/>
              </a:rPr>
              <a:t>The evidence exists — but it is scattered across systems, shifts, files, and process stages.</a:t>
            </a:r>
            <a:endParaRPr b="0" lang="en-US" sz="1300" strike="noStrike" u="none">
              <a:solidFill>
                <a:srgbClr val="ffffff"/>
              </a:solidFill>
              <a:effectLst/>
              <a:uFillTx/>
              <a:latin typeface="Arial"/>
            </a:endParaRPr>
          </a:p>
        </p:txBody>
      </p:sp>
      <p:sp>
        <p:nvSpPr>
          <p:cNvPr id="138" name="Shape 6"/>
          <p:cNvSpPr/>
          <p:nvPr/>
        </p:nvSpPr>
        <p:spPr>
          <a:xfrm>
            <a:off x="822960" y="214884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9" name="Text 7"/>
          <p:cNvSpPr/>
          <p:nvPr/>
        </p:nvSpPr>
        <p:spPr>
          <a:xfrm>
            <a:off x="896040" y="232272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MES</a:t>
            </a:r>
            <a:endParaRPr b="0" lang="en-US" sz="740" strike="noStrike" u="none">
              <a:solidFill>
                <a:srgbClr val="ffffff"/>
              </a:solidFill>
              <a:effectLst/>
              <a:uFillTx/>
              <a:latin typeface="Arial"/>
            </a:endParaRPr>
          </a:p>
        </p:txBody>
      </p:sp>
      <p:sp>
        <p:nvSpPr>
          <p:cNvPr id="140" name="Shape 8"/>
          <p:cNvSpPr/>
          <p:nvPr/>
        </p:nvSpPr>
        <p:spPr>
          <a:xfrm>
            <a:off x="3200400" y="201168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1" name="Text 9"/>
          <p:cNvSpPr/>
          <p:nvPr/>
        </p:nvSpPr>
        <p:spPr>
          <a:xfrm>
            <a:off x="3273480" y="218556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SCADA</a:t>
            </a:r>
            <a:endParaRPr b="0" lang="en-US" sz="740" strike="noStrike" u="none">
              <a:solidFill>
                <a:srgbClr val="ffffff"/>
              </a:solidFill>
              <a:effectLst/>
              <a:uFillTx/>
              <a:latin typeface="Arial"/>
            </a:endParaRPr>
          </a:p>
        </p:txBody>
      </p:sp>
      <p:sp>
        <p:nvSpPr>
          <p:cNvPr id="142" name="Shape 10"/>
          <p:cNvSpPr/>
          <p:nvPr/>
        </p:nvSpPr>
        <p:spPr>
          <a:xfrm>
            <a:off x="1645920" y="324612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3" name="Text 11"/>
          <p:cNvSpPr/>
          <p:nvPr/>
        </p:nvSpPr>
        <p:spPr>
          <a:xfrm>
            <a:off x="1719000" y="342000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L2</a:t>
            </a:r>
            <a:endParaRPr b="0" lang="en-US" sz="740" strike="noStrike" u="none">
              <a:solidFill>
                <a:srgbClr val="ffffff"/>
              </a:solidFill>
              <a:effectLst/>
              <a:uFillTx/>
              <a:latin typeface="Arial"/>
            </a:endParaRPr>
          </a:p>
        </p:txBody>
      </p:sp>
      <p:sp>
        <p:nvSpPr>
          <p:cNvPr id="144" name="Shape 12"/>
          <p:cNvSpPr/>
          <p:nvPr/>
        </p:nvSpPr>
        <p:spPr>
          <a:xfrm>
            <a:off x="4297680" y="310896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5" name="Text 13"/>
          <p:cNvSpPr/>
          <p:nvPr/>
        </p:nvSpPr>
        <p:spPr>
          <a:xfrm>
            <a:off x="4370760" y="328284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Historian</a:t>
            </a:r>
            <a:endParaRPr b="0" lang="en-US" sz="740" strike="noStrike" u="none">
              <a:solidFill>
                <a:srgbClr val="ffffff"/>
              </a:solidFill>
              <a:effectLst/>
              <a:uFillTx/>
              <a:latin typeface="Arial"/>
            </a:endParaRPr>
          </a:p>
        </p:txBody>
      </p:sp>
      <p:sp>
        <p:nvSpPr>
          <p:cNvPr id="146" name="Shape 14"/>
          <p:cNvSpPr/>
          <p:nvPr/>
        </p:nvSpPr>
        <p:spPr>
          <a:xfrm>
            <a:off x="2697480" y="4343400"/>
            <a:ext cx="1005480" cy="529920"/>
          </a:xfrm>
          <a:prstGeom prst="roundRect">
            <a:avLst>
              <a:gd name="adj" fmla="val 13793"/>
            </a:avLst>
          </a:prstGeom>
          <a:solidFill>
            <a:srgbClr val="0b1730">
              <a:alpha val="95000"/>
            </a:srgbClr>
          </a:solidFill>
          <a:ln w="11430">
            <a:solidFill>
              <a:srgbClr val="ff4d6d">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7" name="Text 15"/>
          <p:cNvSpPr/>
          <p:nvPr/>
        </p:nvSpPr>
        <p:spPr>
          <a:xfrm>
            <a:off x="2770560" y="451728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Inspection</a:t>
            </a:r>
            <a:endParaRPr b="0" lang="en-US" sz="740" strike="noStrike" u="none">
              <a:solidFill>
                <a:srgbClr val="ffffff"/>
              </a:solidFill>
              <a:effectLst/>
              <a:uFillTx/>
              <a:latin typeface="Arial"/>
            </a:endParaRPr>
          </a:p>
        </p:txBody>
      </p:sp>
      <p:sp>
        <p:nvSpPr>
          <p:cNvPr id="148" name="Shape 16"/>
          <p:cNvSpPr/>
          <p:nvPr/>
        </p:nvSpPr>
        <p:spPr>
          <a:xfrm>
            <a:off x="5349240" y="260604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9" name="Text 17"/>
          <p:cNvSpPr/>
          <p:nvPr/>
        </p:nvSpPr>
        <p:spPr>
          <a:xfrm>
            <a:off x="5422320" y="277992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Lab</a:t>
            </a:r>
            <a:endParaRPr b="0" lang="en-US" sz="740" strike="noStrike" u="none">
              <a:solidFill>
                <a:srgbClr val="ffffff"/>
              </a:solidFill>
              <a:effectLst/>
              <a:uFillTx/>
              <a:latin typeface="Arial"/>
            </a:endParaRPr>
          </a:p>
        </p:txBody>
      </p:sp>
      <p:sp>
        <p:nvSpPr>
          <p:cNvPr id="150" name="Shape 18"/>
          <p:cNvSpPr/>
          <p:nvPr/>
        </p:nvSpPr>
        <p:spPr>
          <a:xfrm>
            <a:off x="5394960" y="4251960"/>
            <a:ext cx="1005480" cy="529920"/>
          </a:xfrm>
          <a:prstGeom prst="roundRect">
            <a:avLst>
              <a:gd name="adj" fmla="val 13793"/>
            </a:avLst>
          </a:prstGeom>
          <a:solidFill>
            <a:srgbClr val="0b1730">
              <a:alpha val="95000"/>
            </a:srgbClr>
          </a:solidFill>
          <a:ln w="11430">
            <a:solidFill>
              <a:srgbClr val="ffb020">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1" name="Text 19"/>
          <p:cNvSpPr/>
          <p:nvPr/>
        </p:nvSpPr>
        <p:spPr>
          <a:xfrm>
            <a:off x="5468040" y="442584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Excel</a:t>
            </a:r>
            <a:endParaRPr b="0" lang="en-US" sz="740" strike="noStrike" u="none">
              <a:solidFill>
                <a:srgbClr val="ffffff"/>
              </a:solidFill>
              <a:effectLst/>
              <a:uFillTx/>
              <a:latin typeface="Arial"/>
            </a:endParaRPr>
          </a:p>
        </p:txBody>
      </p:sp>
      <p:sp>
        <p:nvSpPr>
          <p:cNvPr id="152" name="Shape 20"/>
          <p:cNvSpPr/>
          <p:nvPr/>
        </p:nvSpPr>
        <p:spPr>
          <a:xfrm>
            <a:off x="822960" y="4663440"/>
            <a:ext cx="100548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3" name="Text 21"/>
          <p:cNvSpPr/>
          <p:nvPr/>
        </p:nvSpPr>
        <p:spPr>
          <a:xfrm>
            <a:off x="896040" y="4837320"/>
            <a:ext cx="85932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Logs</a:t>
            </a:r>
            <a:endParaRPr b="0" lang="en-US" sz="740" strike="noStrike" u="none">
              <a:solidFill>
                <a:srgbClr val="ffffff"/>
              </a:solidFill>
              <a:effectLst/>
              <a:uFillTx/>
              <a:latin typeface="Arial"/>
            </a:endParaRPr>
          </a:p>
        </p:txBody>
      </p:sp>
      <p:sp>
        <p:nvSpPr>
          <p:cNvPr id="154" name="Shape 22"/>
          <p:cNvSpPr/>
          <p:nvPr/>
        </p:nvSpPr>
        <p:spPr>
          <a:xfrm>
            <a:off x="731520" y="5715000"/>
            <a:ext cx="5714640" cy="411120"/>
          </a:xfrm>
          <a:prstGeom prst="roundRect">
            <a:avLst>
              <a:gd name="adj" fmla="val 11111"/>
            </a:avLst>
          </a:prstGeom>
          <a:solidFill>
            <a:srgbClr val="ff4d6d">
              <a:alpha val="18000"/>
            </a:srgbClr>
          </a:solidFill>
          <a:ln w="10160">
            <a:solidFill>
              <a:srgbClr val="ff4d6d">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55" name="Text 23"/>
          <p:cNvSpPr/>
          <p:nvPr/>
        </p:nvSpPr>
        <p:spPr>
          <a:xfrm>
            <a:off x="822960" y="5843160"/>
            <a:ext cx="5531760" cy="72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20" strike="noStrike" u="none">
                <a:solidFill>
                  <a:srgbClr val="ff4d6d"/>
                </a:solidFill>
                <a:effectLst/>
                <a:uFillTx/>
                <a:latin typeface="Aptos"/>
              </a:rPr>
              <a:t>While the team investigates manually, the plant keeps producing risk.</a:t>
            </a:r>
            <a:endParaRPr b="0" lang="en-US" sz="720" strike="noStrike" u="none">
              <a:solidFill>
                <a:srgbClr val="ffffff"/>
              </a:solidFill>
              <a:effectLst/>
              <a:uFillTx/>
              <a:latin typeface="Arial"/>
            </a:endParaRPr>
          </a:p>
        </p:txBody>
      </p:sp>
      <p:sp>
        <p:nvSpPr>
          <p:cNvPr id="156" name="Text 24"/>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157" name="Text 25"/>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158" name="Text 26"/>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04</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159" name="Image 0" descr="/mnt/data/a_wide_cinematic_industrial_infographic_concept_batch_3.png"/>
          <p:cNvPicPr/>
          <p:nvPr/>
        </p:nvPicPr>
        <p:blipFill>
          <a:blip r:embed="rId1"/>
          <a:srcRect l="0" t="0" r="-52" b="0"/>
          <a:stretch/>
        </p:blipFill>
        <p:spPr>
          <a:xfrm>
            <a:off x="0" y="0"/>
            <a:ext cx="12191400" cy="6857640"/>
          </a:xfrm>
          <a:prstGeom prst="rect">
            <a:avLst/>
          </a:prstGeom>
          <a:noFill/>
          <a:ln w="0">
            <a:noFill/>
          </a:ln>
        </p:spPr>
      </p:pic>
      <p:sp>
        <p:nvSpPr>
          <p:cNvPr id="160" name="Shape 0"/>
          <p:cNvSpPr/>
          <p:nvPr/>
        </p:nvSpPr>
        <p:spPr>
          <a:xfrm>
            <a:off x="0" y="0"/>
            <a:ext cx="12191400" cy="6857640"/>
          </a:xfrm>
          <a:prstGeom prst="rect">
            <a:avLst/>
          </a:prstGeom>
          <a:solidFill>
            <a:srgbClr val="050b18">
              <a:alpha val="80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1"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2" name="Shape 2"/>
          <p:cNvSpPr/>
          <p:nvPr/>
        </p:nvSpPr>
        <p:spPr>
          <a:xfrm>
            <a:off x="0" y="0"/>
            <a:ext cx="12191400" cy="1874160"/>
          </a:xfrm>
          <a:prstGeom prst="rect">
            <a:avLst/>
          </a:prstGeom>
          <a:solidFill>
            <a:srgbClr val="050b18">
              <a:alpha val="95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3" name="Text 3"/>
          <p:cNvSpPr/>
          <p:nvPr/>
        </p:nvSpPr>
        <p:spPr>
          <a:xfrm>
            <a:off x="502920" y="347400"/>
            <a:ext cx="6583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ACT 2 · TRACING THE FOOTPRINTS</a:t>
            </a:r>
            <a:endParaRPr b="0" lang="en-US" sz="850" strike="noStrike" u="none">
              <a:solidFill>
                <a:srgbClr val="ffffff"/>
              </a:solidFill>
              <a:effectLst/>
              <a:uFillTx/>
              <a:latin typeface="Arial"/>
            </a:endParaRPr>
          </a:p>
        </p:txBody>
      </p:sp>
      <p:sp>
        <p:nvSpPr>
          <p:cNvPr id="164" name="Text 4"/>
          <p:cNvSpPr/>
          <p:nvPr/>
        </p:nvSpPr>
        <p:spPr>
          <a:xfrm>
            <a:off x="502920" y="640080"/>
            <a:ext cx="658332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900" strike="noStrike" u="none">
                <a:solidFill>
                  <a:srgbClr val="eaf6ff"/>
                </a:solidFill>
                <a:effectLst/>
                <a:uFillTx/>
                <a:latin typeface="Aptos"/>
              </a:rPr>
              <a:t>Reconstruct the production journey in seconds.</a:t>
            </a:r>
            <a:endParaRPr b="0" lang="en-US" sz="2900" strike="noStrike" u="none">
              <a:solidFill>
                <a:srgbClr val="ffffff"/>
              </a:solidFill>
              <a:effectLst/>
              <a:uFillTx/>
              <a:latin typeface="Arial"/>
            </a:endParaRPr>
          </a:p>
        </p:txBody>
      </p:sp>
      <p:sp>
        <p:nvSpPr>
          <p:cNvPr id="165" name="Text 5"/>
          <p:cNvSpPr/>
          <p:nvPr/>
        </p:nvSpPr>
        <p:spPr>
          <a:xfrm>
            <a:off x="502920" y="1426320"/>
            <a:ext cx="6583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b6c7d9"/>
                </a:solidFill>
                <a:effectLst/>
                <a:uFillTx/>
                <a:latin typeface="Aptos"/>
              </a:rPr>
              <a:t>From the defective coil back to the slab and the meltshop heat.</a:t>
            </a:r>
            <a:endParaRPr b="0" lang="en-US" sz="1200" strike="noStrike" u="none">
              <a:solidFill>
                <a:srgbClr val="ffffff"/>
              </a:solidFill>
              <a:effectLst/>
              <a:uFillTx/>
              <a:latin typeface="Arial"/>
            </a:endParaRPr>
          </a:p>
        </p:txBody>
      </p:sp>
      <p:sp>
        <p:nvSpPr>
          <p:cNvPr id="166" name="Shape 6"/>
          <p:cNvSpPr/>
          <p:nvPr/>
        </p:nvSpPr>
        <p:spPr>
          <a:xfrm>
            <a:off x="9006840" y="384120"/>
            <a:ext cx="1737000" cy="328680"/>
          </a:xfrm>
          <a:prstGeom prst="roundRect">
            <a:avLst>
              <a:gd name="adj" fmla="val 11111"/>
            </a:avLst>
          </a:prstGeom>
          <a:solidFill>
            <a:srgbClr val="2ce6a2">
              <a:alpha val="8000"/>
            </a:srgbClr>
          </a:solidFill>
          <a:ln w="889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7" name="Text 7"/>
          <p:cNvSpPr/>
          <p:nvPr/>
        </p:nvSpPr>
        <p:spPr>
          <a:xfrm>
            <a:off x="9006840" y="466200"/>
            <a:ext cx="173700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2ce6a2"/>
                </a:solidFill>
                <a:effectLst/>
                <a:uFillTx/>
                <a:latin typeface="Aptos"/>
              </a:rPr>
              <a:t>GOLDEN THREAD</a:t>
            </a:r>
            <a:endParaRPr b="0" lang="en-US" sz="580" strike="noStrike" u="none">
              <a:solidFill>
                <a:srgbClr val="ffffff"/>
              </a:solidFill>
              <a:effectLst/>
              <a:uFillTx/>
              <a:latin typeface="Arial"/>
            </a:endParaRPr>
          </a:p>
        </p:txBody>
      </p:sp>
      <p:sp>
        <p:nvSpPr>
          <p:cNvPr id="168" name="Shape 8"/>
          <p:cNvSpPr/>
          <p:nvPr/>
        </p:nvSpPr>
        <p:spPr>
          <a:xfrm>
            <a:off x="731520" y="3474720"/>
            <a:ext cx="1965600" cy="959760"/>
          </a:xfrm>
          <a:prstGeom prst="roundRect">
            <a:avLst>
              <a:gd name="adj" fmla="val 7619"/>
            </a:avLst>
          </a:prstGeom>
          <a:solidFill>
            <a:srgbClr val="0b1730">
              <a:alpha val="94000"/>
            </a:srgbClr>
          </a:solidFill>
          <a:ln w="15240">
            <a:solidFill>
              <a:srgbClr val="00d4ff">
                <a:alpha val="95000"/>
              </a:srgbClr>
            </a:solidFill>
            <a:round/>
          </a:ln>
          <a:effectLst>
            <a:outerShdw algn="bl" blurRad="12600" dir="2700000" dist="50402" kx="0" ky="0" rotWithShape="0" sx="100000" sy="100000">
              <a:srgbClr val="00d4ff">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69" name="Text 9"/>
          <p:cNvSpPr/>
          <p:nvPr/>
        </p:nvSpPr>
        <p:spPr>
          <a:xfrm>
            <a:off x="822960" y="3630240"/>
            <a:ext cx="17827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30" strike="noStrike" u="none">
                <a:solidFill>
                  <a:srgbClr val="00d4ff"/>
                </a:solidFill>
                <a:effectLst/>
                <a:uFillTx/>
                <a:latin typeface="Aptos"/>
              </a:rPr>
              <a:t>HEAT</a:t>
            </a:r>
            <a:endParaRPr b="0" lang="en-US" sz="630" strike="noStrike" u="none">
              <a:solidFill>
                <a:srgbClr val="ffffff"/>
              </a:solidFill>
              <a:effectLst/>
              <a:uFillTx/>
              <a:latin typeface="Arial"/>
            </a:endParaRPr>
          </a:p>
        </p:txBody>
      </p:sp>
      <p:sp>
        <p:nvSpPr>
          <p:cNvPr id="170" name="Text 10"/>
          <p:cNvSpPr/>
          <p:nvPr/>
        </p:nvSpPr>
        <p:spPr>
          <a:xfrm>
            <a:off x="822960" y="3831480"/>
            <a:ext cx="17827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eaf6ff"/>
                </a:solidFill>
                <a:effectLst/>
                <a:uFillTx/>
                <a:latin typeface="Aptos"/>
              </a:rPr>
              <a:t>H-26014</a:t>
            </a:r>
            <a:endParaRPr b="0" lang="en-US" sz="1300" strike="noStrike" u="none">
              <a:solidFill>
                <a:srgbClr val="ffffff"/>
              </a:solidFill>
              <a:effectLst/>
              <a:uFillTx/>
              <a:latin typeface="Arial"/>
            </a:endParaRPr>
          </a:p>
        </p:txBody>
      </p:sp>
      <p:sp>
        <p:nvSpPr>
          <p:cNvPr id="171" name="Text 11"/>
          <p:cNvSpPr/>
          <p:nvPr/>
        </p:nvSpPr>
        <p:spPr>
          <a:xfrm>
            <a:off x="822960" y="4133160"/>
            <a:ext cx="17827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Meltshop</a:t>
            </a:r>
            <a:endParaRPr b="0" lang="en-US" sz="650" strike="noStrike" u="none">
              <a:solidFill>
                <a:srgbClr val="ffffff"/>
              </a:solidFill>
              <a:effectLst/>
              <a:uFillTx/>
              <a:latin typeface="Arial"/>
            </a:endParaRPr>
          </a:p>
        </p:txBody>
      </p:sp>
      <p:sp>
        <p:nvSpPr>
          <p:cNvPr id="172" name="Shape 12"/>
          <p:cNvSpPr/>
          <p:nvPr/>
        </p:nvSpPr>
        <p:spPr>
          <a:xfrm>
            <a:off x="2706480" y="3949920"/>
            <a:ext cx="539640" cy="360"/>
          </a:xfrm>
          <a:prstGeom prst="line">
            <a:avLst/>
          </a:prstGeom>
          <a:ln w="1905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73" name="Shape 13"/>
          <p:cNvSpPr/>
          <p:nvPr/>
        </p:nvSpPr>
        <p:spPr>
          <a:xfrm>
            <a:off x="3337560" y="3474720"/>
            <a:ext cx="1965600" cy="959760"/>
          </a:xfrm>
          <a:prstGeom prst="roundRect">
            <a:avLst>
              <a:gd name="adj" fmla="val 7619"/>
            </a:avLst>
          </a:prstGeom>
          <a:solidFill>
            <a:srgbClr val="0b1730">
              <a:alpha val="94000"/>
            </a:srgbClr>
          </a:solidFill>
          <a:ln w="15240">
            <a:solidFill>
              <a:srgbClr val="00d4ff">
                <a:alpha val="95000"/>
              </a:srgbClr>
            </a:solidFill>
            <a:round/>
          </a:ln>
          <a:effectLst>
            <a:outerShdw algn="bl" blurRad="12600" dir="2700000" dist="50402" kx="0" ky="0" rotWithShape="0" sx="100000" sy="100000">
              <a:srgbClr val="00d4ff">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4" name="Text 14"/>
          <p:cNvSpPr/>
          <p:nvPr/>
        </p:nvSpPr>
        <p:spPr>
          <a:xfrm>
            <a:off x="3429000" y="3630240"/>
            <a:ext cx="17827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30" strike="noStrike" u="none">
                <a:solidFill>
                  <a:srgbClr val="00d4ff"/>
                </a:solidFill>
                <a:effectLst/>
                <a:uFillTx/>
                <a:latin typeface="Aptos"/>
              </a:rPr>
              <a:t>SLAB</a:t>
            </a:r>
            <a:endParaRPr b="0" lang="en-US" sz="630" strike="noStrike" u="none">
              <a:solidFill>
                <a:srgbClr val="ffffff"/>
              </a:solidFill>
              <a:effectLst/>
              <a:uFillTx/>
              <a:latin typeface="Arial"/>
            </a:endParaRPr>
          </a:p>
        </p:txBody>
      </p:sp>
      <p:sp>
        <p:nvSpPr>
          <p:cNvPr id="175" name="Text 15"/>
          <p:cNvSpPr/>
          <p:nvPr/>
        </p:nvSpPr>
        <p:spPr>
          <a:xfrm>
            <a:off x="3429000" y="3831480"/>
            <a:ext cx="17827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eaf6ff"/>
                </a:solidFill>
                <a:effectLst/>
                <a:uFillTx/>
                <a:latin typeface="Aptos"/>
              </a:rPr>
              <a:t>SL-60105</a:t>
            </a:r>
            <a:endParaRPr b="0" lang="en-US" sz="1300" strike="noStrike" u="none">
              <a:solidFill>
                <a:srgbClr val="ffffff"/>
              </a:solidFill>
              <a:effectLst/>
              <a:uFillTx/>
              <a:latin typeface="Arial"/>
            </a:endParaRPr>
          </a:p>
        </p:txBody>
      </p:sp>
      <p:sp>
        <p:nvSpPr>
          <p:cNvPr id="176" name="Text 16"/>
          <p:cNvSpPr/>
          <p:nvPr/>
        </p:nvSpPr>
        <p:spPr>
          <a:xfrm>
            <a:off x="3429000" y="4133160"/>
            <a:ext cx="17827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Caster</a:t>
            </a:r>
            <a:endParaRPr b="0" lang="en-US" sz="650" strike="noStrike" u="none">
              <a:solidFill>
                <a:srgbClr val="ffffff"/>
              </a:solidFill>
              <a:effectLst/>
              <a:uFillTx/>
              <a:latin typeface="Arial"/>
            </a:endParaRPr>
          </a:p>
        </p:txBody>
      </p:sp>
      <p:sp>
        <p:nvSpPr>
          <p:cNvPr id="177" name="Shape 17"/>
          <p:cNvSpPr/>
          <p:nvPr/>
        </p:nvSpPr>
        <p:spPr>
          <a:xfrm>
            <a:off x="5312520" y="3949920"/>
            <a:ext cx="539640" cy="360"/>
          </a:xfrm>
          <a:prstGeom prst="line">
            <a:avLst/>
          </a:prstGeom>
          <a:ln w="1905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78" name="Shape 18"/>
          <p:cNvSpPr/>
          <p:nvPr/>
        </p:nvSpPr>
        <p:spPr>
          <a:xfrm>
            <a:off x="5943600" y="3474720"/>
            <a:ext cx="1965600" cy="959760"/>
          </a:xfrm>
          <a:prstGeom prst="roundRect">
            <a:avLst>
              <a:gd name="adj" fmla="val 7619"/>
            </a:avLst>
          </a:prstGeom>
          <a:solidFill>
            <a:srgbClr val="0b1730">
              <a:alpha val="94000"/>
            </a:srgbClr>
          </a:solidFill>
          <a:ln w="15240">
            <a:solidFill>
              <a:srgbClr val="2ce6a2">
                <a:alpha val="95000"/>
              </a:srgbClr>
            </a:solidFill>
            <a:round/>
          </a:ln>
          <a:effectLst>
            <a:outerShdw algn="bl" blurRad="12600" dir="2700000" dist="50402" kx="0" ky="0" rotWithShape="0" sx="100000" sy="100000">
              <a:srgbClr val="2ce6a2">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79" name="Text 19"/>
          <p:cNvSpPr/>
          <p:nvPr/>
        </p:nvSpPr>
        <p:spPr>
          <a:xfrm>
            <a:off x="6035040" y="3630240"/>
            <a:ext cx="17827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30" strike="noStrike" u="none">
                <a:solidFill>
                  <a:srgbClr val="2ce6a2"/>
                </a:solidFill>
                <a:effectLst/>
                <a:uFillTx/>
                <a:latin typeface="Aptos"/>
              </a:rPr>
              <a:t>COIL</a:t>
            </a:r>
            <a:endParaRPr b="0" lang="en-US" sz="630" strike="noStrike" u="none">
              <a:solidFill>
                <a:srgbClr val="ffffff"/>
              </a:solidFill>
              <a:effectLst/>
              <a:uFillTx/>
              <a:latin typeface="Arial"/>
            </a:endParaRPr>
          </a:p>
        </p:txBody>
      </p:sp>
      <p:sp>
        <p:nvSpPr>
          <p:cNvPr id="180" name="Text 20"/>
          <p:cNvSpPr/>
          <p:nvPr/>
        </p:nvSpPr>
        <p:spPr>
          <a:xfrm>
            <a:off x="6035040" y="3831480"/>
            <a:ext cx="17827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eaf6ff"/>
                </a:solidFill>
                <a:effectLst/>
                <a:uFillTx/>
                <a:latin typeface="Aptos"/>
              </a:rPr>
              <a:t>C-700394</a:t>
            </a:r>
            <a:endParaRPr b="0" lang="en-US" sz="1300" strike="noStrike" u="none">
              <a:solidFill>
                <a:srgbClr val="ffffff"/>
              </a:solidFill>
              <a:effectLst/>
              <a:uFillTx/>
              <a:latin typeface="Arial"/>
            </a:endParaRPr>
          </a:p>
        </p:txBody>
      </p:sp>
      <p:sp>
        <p:nvSpPr>
          <p:cNvPr id="181" name="Text 21"/>
          <p:cNvSpPr/>
          <p:nvPr/>
        </p:nvSpPr>
        <p:spPr>
          <a:xfrm>
            <a:off x="6035040" y="4133160"/>
            <a:ext cx="17827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HSM</a:t>
            </a:r>
            <a:endParaRPr b="0" lang="en-US" sz="650" strike="noStrike" u="none">
              <a:solidFill>
                <a:srgbClr val="ffffff"/>
              </a:solidFill>
              <a:effectLst/>
              <a:uFillTx/>
              <a:latin typeface="Arial"/>
            </a:endParaRPr>
          </a:p>
        </p:txBody>
      </p:sp>
      <p:sp>
        <p:nvSpPr>
          <p:cNvPr id="182" name="Shape 22"/>
          <p:cNvSpPr/>
          <p:nvPr/>
        </p:nvSpPr>
        <p:spPr>
          <a:xfrm>
            <a:off x="7918560" y="3949920"/>
            <a:ext cx="539640" cy="360"/>
          </a:xfrm>
          <a:prstGeom prst="line">
            <a:avLst/>
          </a:prstGeom>
          <a:ln w="19050">
            <a:solidFill>
              <a:srgbClr val="2ce6a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83" name="Shape 23"/>
          <p:cNvSpPr/>
          <p:nvPr/>
        </p:nvSpPr>
        <p:spPr>
          <a:xfrm>
            <a:off x="8549640" y="3474720"/>
            <a:ext cx="1965600" cy="959760"/>
          </a:xfrm>
          <a:prstGeom prst="roundRect">
            <a:avLst>
              <a:gd name="adj" fmla="val 7619"/>
            </a:avLst>
          </a:prstGeom>
          <a:solidFill>
            <a:srgbClr val="0b1730">
              <a:alpha val="94000"/>
            </a:srgbClr>
          </a:solidFill>
          <a:ln w="15240">
            <a:solidFill>
              <a:srgbClr val="ff4d6d">
                <a:alpha val="95000"/>
              </a:srgbClr>
            </a:solidFill>
            <a:round/>
          </a:ln>
          <a:effectLst>
            <a:outerShdw algn="bl" blurRad="12600" dir="2700000" dist="50402" kx="0" ky="0" rotWithShape="0" sx="100000" sy="100000">
              <a:srgbClr val="ff4d6d">
                <a:alpha val="16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4" name="Text 24"/>
          <p:cNvSpPr/>
          <p:nvPr/>
        </p:nvSpPr>
        <p:spPr>
          <a:xfrm>
            <a:off x="8641080" y="3630240"/>
            <a:ext cx="17827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30" strike="noStrike" u="none">
                <a:solidFill>
                  <a:srgbClr val="ff4d6d"/>
                </a:solidFill>
                <a:effectLst/>
                <a:uFillTx/>
                <a:latin typeface="Aptos"/>
              </a:rPr>
              <a:t>SURFACE DEFECT</a:t>
            </a:r>
            <a:endParaRPr b="0" lang="en-US" sz="630" strike="noStrike" u="none">
              <a:solidFill>
                <a:srgbClr val="ffffff"/>
              </a:solidFill>
              <a:effectLst/>
              <a:uFillTx/>
              <a:latin typeface="Arial"/>
            </a:endParaRPr>
          </a:p>
        </p:txBody>
      </p:sp>
      <p:sp>
        <p:nvSpPr>
          <p:cNvPr id="185" name="Text 25"/>
          <p:cNvSpPr/>
          <p:nvPr/>
        </p:nvSpPr>
        <p:spPr>
          <a:xfrm>
            <a:off x="8641080" y="3831480"/>
            <a:ext cx="178272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eaf6ff"/>
                </a:solidFill>
                <a:effectLst/>
                <a:uFillTx/>
                <a:latin typeface="Aptos"/>
              </a:rPr>
              <a:t>CRACK_LONG</a:t>
            </a:r>
            <a:endParaRPr b="0" lang="en-US" sz="1300" strike="noStrike" u="none">
              <a:solidFill>
                <a:srgbClr val="ffffff"/>
              </a:solidFill>
              <a:effectLst/>
              <a:uFillTx/>
              <a:latin typeface="Arial"/>
            </a:endParaRPr>
          </a:p>
        </p:txBody>
      </p:sp>
      <p:sp>
        <p:nvSpPr>
          <p:cNvPr id="186" name="Text 26"/>
          <p:cNvSpPr/>
          <p:nvPr/>
        </p:nvSpPr>
        <p:spPr>
          <a:xfrm>
            <a:off x="8641080" y="4133160"/>
            <a:ext cx="178272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Inspection</a:t>
            </a:r>
            <a:endParaRPr b="0" lang="en-US" sz="650" strike="noStrike" u="none">
              <a:solidFill>
                <a:srgbClr val="ffffff"/>
              </a:solidFill>
              <a:effectLst/>
              <a:uFillTx/>
              <a:latin typeface="Arial"/>
            </a:endParaRPr>
          </a:p>
        </p:txBody>
      </p:sp>
      <p:sp>
        <p:nvSpPr>
          <p:cNvPr id="187" name="Shape 27"/>
          <p:cNvSpPr/>
          <p:nvPr/>
        </p:nvSpPr>
        <p:spPr>
          <a:xfrm>
            <a:off x="1325880" y="5650920"/>
            <a:ext cx="9463680" cy="529920"/>
          </a:xfrm>
          <a:prstGeom prst="roundRect">
            <a:avLst>
              <a:gd name="adj" fmla="val 10345"/>
            </a:avLst>
          </a:prstGeom>
          <a:solidFill>
            <a:srgbClr val="0b1730">
              <a:alpha val="97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8" name="Shape 28"/>
          <p:cNvSpPr/>
          <p:nvPr/>
        </p:nvSpPr>
        <p:spPr>
          <a:xfrm>
            <a:off x="1325880" y="5650920"/>
            <a:ext cx="54360" cy="529920"/>
          </a:xfrm>
          <a:prstGeom prst="rect">
            <a:avLst/>
          </a:prstGeom>
          <a:solidFill>
            <a:srgbClr val="2ce6a2"/>
          </a:solidFill>
          <a:ln w="12700">
            <a:solidFill>
              <a:srgbClr val="2ce6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9" name="Text 29"/>
          <p:cNvSpPr/>
          <p:nvPr/>
        </p:nvSpPr>
        <p:spPr>
          <a:xfrm>
            <a:off x="1490400" y="5815440"/>
            <a:ext cx="9171000" cy="219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eaf6ff"/>
                </a:solidFill>
                <a:effectLst/>
                <a:uFillTx/>
                <a:latin typeface="Aptos"/>
              </a:rPr>
              <a:t>The buyer sees a defect. PPIQ reveals the path that produced it.</a:t>
            </a:r>
            <a:endParaRPr b="0" lang="en-US" sz="1200" strike="noStrike" u="none">
              <a:solidFill>
                <a:srgbClr val="ffffff"/>
              </a:solidFill>
              <a:effectLst/>
              <a:uFillTx/>
              <a:latin typeface="Arial"/>
            </a:endParaRPr>
          </a:p>
        </p:txBody>
      </p:sp>
      <p:sp>
        <p:nvSpPr>
          <p:cNvPr id="190" name="Text 30"/>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191" name="Text 31"/>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192" name="Text 32"/>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05</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sp>
        <p:nvSpPr>
          <p:cNvPr id="193" name="Shape 0"/>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4" name="Shape 1"/>
          <p:cNvSpPr/>
          <p:nvPr/>
        </p:nvSpPr>
        <p:spPr>
          <a:xfrm>
            <a:off x="0" y="0"/>
            <a:ext cx="12191400" cy="6857640"/>
          </a:xfrm>
          <a:prstGeom prst="rect">
            <a:avLst/>
          </a:prstGeom>
          <a:solidFill>
            <a:srgbClr val="050b18"/>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5" name="Text 2"/>
          <p:cNvSpPr/>
          <p:nvPr/>
        </p:nvSpPr>
        <p:spPr>
          <a:xfrm>
            <a:off x="502920" y="384120"/>
            <a:ext cx="70405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LIVE DEMO INSERT</a:t>
            </a:r>
            <a:endParaRPr b="0" lang="en-US" sz="850" strike="noStrike" u="none">
              <a:solidFill>
                <a:srgbClr val="ffffff"/>
              </a:solidFill>
              <a:effectLst/>
              <a:uFillTx/>
              <a:latin typeface="Arial"/>
            </a:endParaRPr>
          </a:p>
        </p:txBody>
      </p:sp>
      <p:sp>
        <p:nvSpPr>
          <p:cNvPr id="196" name="Text 3"/>
          <p:cNvSpPr/>
          <p:nvPr/>
        </p:nvSpPr>
        <p:spPr>
          <a:xfrm>
            <a:off x="502920" y="676800"/>
            <a:ext cx="704052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900" strike="noStrike" u="none">
                <a:solidFill>
                  <a:srgbClr val="eaf6ff"/>
                </a:solidFill>
                <a:effectLst/>
                <a:uFillTx/>
                <a:latin typeface="Aptos"/>
              </a:rPr>
              <a:t>Material Investigation: the golden thread on screen.</a:t>
            </a:r>
            <a:endParaRPr b="0" lang="en-US" sz="2900" strike="noStrike" u="none">
              <a:solidFill>
                <a:srgbClr val="ffffff"/>
              </a:solidFill>
              <a:effectLst/>
              <a:uFillTx/>
              <a:latin typeface="Arial"/>
            </a:endParaRPr>
          </a:p>
        </p:txBody>
      </p:sp>
      <p:sp>
        <p:nvSpPr>
          <p:cNvPr id="197" name="Text 4"/>
          <p:cNvSpPr/>
          <p:nvPr/>
        </p:nvSpPr>
        <p:spPr>
          <a:xfrm>
            <a:off x="502920" y="1463040"/>
            <a:ext cx="70405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b6c7d9"/>
                </a:solidFill>
                <a:effectLst/>
                <a:uFillTx/>
                <a:latin typeface="Aptos"/>
              </a:rPr>
              <a:t>Drop your verified screenshot here before the meeting, or use this as the live navigation moment.</a:t>
            </a:r>
            <a:endParaRPr b="0" lang="en-US" sz="1200" strike="noStrike" u="none">
              <a:solidFill>
                <a:srgbClr val="ffffff"/>
              </a:solidFill>
              <a:effectLst/>
              <a:uFillTx/>
              <a:latin typeface="Arial"/>
            </a:endParaRPr>
          </a:p>
        </p:txBody>
      </p:sp>
      <p:sp>
        <p:nvSpPr>
          <p:cNvPr id="198" name="Shape 5"/>
          <p:cNvSpPr/>
          <p:nvPr/>
        </p:nvSpPr>
        <p:spPr>
          <a:xfrm>
            <a:off x="9235440" y="411480"/>
            <a:ext cx="1645560" cy="328680"/>
          </a:xfrm>
          <a:prstGeom prst="roundRect">
            <a:avLst>
              <a:gd name="adj" fmla="val 11111"/>
            </a:avLst>
          </a:prstGeom>
          <a:solidFill>
            <a:srgbClr val="ffb020">
              <a:alpha val="8000"/>
            </a:srgbClr>
          </a:solidFill>
          <a:ln w="8890">
            <a:solidFill>
              <a:srgbClr val="ffb02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9" name="Text 6"/>
          <p:cNvSpPr/>
          <p:nvPr/>
        </p:nvSpPr>
        <p:spPr>
          <a:xfrm>
            <a:off x="9235440" y="493920"/>
            <a:ext cx="164556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ffb020"/>
                </a:solidFill>
                <a:effectLst/>
                <a:uFillTx/>
                <a:latin typeface="Aptos"/>
              </a:rPr>
              <a:t>SCREENSHOT SLOT</a:t>
            </a:r>
            <a:endParaRPr b="0" lang="en-US" sz="580" strike="noStrike" u="none">
              <a:solidFill>
                <a:srgbClr val="ffffff"/>
              </a:solidFill>
              <a:effectLst/>
              <a:uFillTx/>
              <a:latin typeface="Arial"/>
            </a:endParaRPr>
          </a:p>
        </p:txBody>
      </p:sp>
      <p:sp>
        <p:nvSpPr>
          <p:cNvPr id="200" name="Shape 7"/>
          <p:cNvSpPr/>
          <p:nvPr/>
        </p:nvSpPr>
        <p:spPr>
          <a:xfrm>
            <a:off x="685800" y="1508760"/>
            <a:ext cx="10835280" cy="4525920"/>
          </a:xfrm>
          <a:prstGeom prst="roundRect">
            <a:avLst>
              <a:gd name="adj" fmla="val 1616"/>
            </a:avLst>
          </a:prstGeom>
          <a:solidFill>
            <a:srgbClr val="0b1730">
              <a:alpha val="98000"/>
            </a:srgbClr>
          </a:solidFill>
          <a:ln w="15240">
            <a:solidFill>
              <a:srgbClr val="00d4ff">
                <a:alpha val="95000"/>
              </a:srgbClr>
            </a:solidFill>
            <a:round/>
          </a:ln>
          <a:effectLst>
            <a:outerShdw algn="bl" blurRad="25560" dir="2700000" dist="50402" kx="0" ky="0" rotWithShape="0" sx="100000" sy="100000">
              <a:srgbClr val="00d4ff">
                <a:alpha val="18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1" name="Shape 8"/>
          <p:cNvSpPr/>
          <p:nvPr/>
        </p:nvSpPr>
        <p:spPr>
          <a:xfrm>
            <a:off x="685800" y="1508760"/>
            <a:ext cx="10835280" cy="328680"/>
          </a:xfrm>
          <a:prstGeom prst="rect">
            <a:avLst/>
          </a:prstGeom>
          <a:solidFill>
            <a:srgbClr val="0e203b"/>
          </a:solidFill>
          <a:ln w="12700">
            <a:solidFill>
              <a:srgbClr val="0e203b">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02" name="Text 9"/>
          <p:cNvSpPr/>
          <p:nvPr/>
        </p:nvSpPr>
        <p:spPr>
          <a:xfrm>
            <a:off x="868680" y="1627560"/>
            <a:ext cx="3108600" cy="82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650" strike="noStrike" u="none">
                <a:solidFill>
                  <a:srgbClr val="8ea7c1"/>
                </a:solidFill>
                <a:effectLst/>
                <a:uFillTx/>
                <a:latin typeface="Aptos"/>
              </a:rPr>
              <a:t>MATERIAL INVESTIGATION / GENEALOGY UI</a:t>
            </a:r>
            <a:endParaRPr b="0" lang="en-US" sz="650" strike="noStrike" u="none">
              <a:solidFill>
                <a:srgbClr val="ffffff"/>
              </a:solidFill>
              <a:effectLst/>
              <a:uFillTx/>
              <a:latin typeface="Arial"/>
            </a:endParaRPr>
          </a:p>
        </p:txBody>
      </p:sp>
      <p:sp>
        <p:nvSpPr>
          <p:cNvPr id="203" name="Text 10"/>
          <p:cNvSpPr/>
          <p:nvPr/>
        </p:nvSpPr>
        <p:spPr>
          <a:xfrm>
            <a:off x="11064240" y="1609200"/>
            <a:ext cx="182520" cy="820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00d4ff"/>
                </a:solidFill>
                <a:effectLst/>
                <a:uFillTx/>
                <a:latin typeface="Aptos"/>
              </a:rPr>
              <a:t>+</a:t>
            </a:r>
            <a:endParaRPr b="0" lang="en-US" sz="1200" strike="noStrike" u="none">
              <a:solidFill>
                <a:srgbClr val="ffffff"/>
              </a:solidFill>
              <a:effectLst/>
              <a:uFillTx/>
              <a:latin typeface="Arial"/>
            </a:endParaRPr>
          </a:p>
        </p:txBody>
      </p:sp>
      <p:sp>
        <p:nvSpPr>
          <p:cNvPr id="204" name="Text 11"/>
          <p:cNvSpPr/>
          <p:nvPr/>
        </p:nvSpPr>
        <p:spPr>
          <a:xfrm>
            <a:off x="868680" y="3154680"/>
            <a:ext cx="1042380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200" strike="noStrike" u="none">
                <a:solidFill>
                  <a:srgbClr val="eaf6ff"/>
                </a:solidFill>
                <a:effectLst/>
                <a:uFillTx/>
                <a:latin typeface="Aptos"/>
              </a:rPr>
              <a:t>DROP LIVE SCREENSHOT HERE</a:t>
            </a:r>
            <a:endParaRPr b="0" lang="en-US" sz="2200" strike="noStrike" u="none">
              <a:solidFill>
                <a:srgbClr val="ffffff"/>
              </a:solidFill>
              <a:effectLst/>
              <a:uFillTx/>
              <a:latin typeface="Arial"/>
            </a:endParaRPr>
          </a:p>
        </p:txBody>
      </p:sp>
      <p:sp>
        <p:nvSpPr>
          <p:cNvPr id="205" name="Text 12"/>
          <p:cNvSpPr/>
          <p:nvPr/>
        </p:nvSpPr>
        <p:spPr>
          <a:xfrm>
            <a:off x="1463040" y="3749040"/>
            <a:ext cx="9143640" cy="2556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2ce6a2"/>
                </a:solidFill>
                <a:effectLst/>
                <a:uFillTx/>
                <a:latin typeface="Aptos"/>
              </a:rPr>
              <a:t>Expected view: search C-700394 → Heat H-26014 → Slab SL-60105 → Coil → CRACK_LONG evidence</a:t>
            </a:r>
            <a:endParaRPr b="0" lang="en-US" sz="1050" strike="noStrike" u="none">
              <a:solidFill>
                <a:srgbClr val="ffffff"/>
              </a:solidFill>
              <a:effectLst/>
              <a:uFillTx/>
              <a:latin typeface="Arial"/>
            </a:endParaRPr>
          </a:p>
        </p:txBody>
      </p:sp>
      <p:sp>
        <p:nvSpPr>
          <p:cNvPr id="206" name="Text 13"/>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207" name="Text 14"/>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208" name="Text 15"/>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06</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sp>
        <p:nvSpPr>
          <p:cNvPr id="209" name="Shape 0"/>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0" name="Shape 1"/>
          <p:cNvSpPr/>
          <p:nvPr/>
        </p:nvSpPr>
        <p:spPr>
          <a:xfrm>
            <a:off x="0" y="0"/>
            <a:ext cx="12191400" cy="6857640"/>
          </a:xfrm>
          <a:prstGeom prst="rect">
            <a:avLst/>
          </a:prstGeom>
          <a:solidFill>
            <a:srgbClr val="050b18"/>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1" name="Text 2"/>
          <p:cNvSpPr/>
          <p:nvPr/>
        </p:nvSpPr>
        <p:spPr>
          <a:xfrm>
            <a:off x="502920" y="411480"/>
            <a:ext cx="69490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ACT 3 · THE TRIAL</a:t>
            </a:r>
            <a:endParaRPr b="0" lang="en-US" sz="850" strike="noStrike" u="none">
              <a:solidFill>
                <a:srgbClr val="ffffff"/>
              </a:solidFill>
              <a:effectLst/>
              <a:uFillTx/>
              <a:latin typeface="Arial"/>
            </a:endParaRPr>
          </a:p>
        </p:txBody>
      </p:sp>
      <p:sp>
        <p:nvSpPr>
          <p:cNvPr id="212" name="Text 3"/>
          <p:cNvSpPr/>
          <p:nvPr/>
        </p:nvSpPr>
        <p:spPr>
          <a:xfrm>
            <a:off x="502920" y="704160"/>
            <a:ext cx="6949080" cy="82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000" strike="noStrike" u="none">
                <a:solidFill>
                  <a:srgbClr val="eaf6ff"/>
                </a:solidFill>
                <a:effectLst/>
                <a:uFillTx/>
                <a:latin typeface="Aptos"/>
              </a:rPr>
              <a:t>Evidence, not AI guesswork.</a:t>
            </a:r>
            <a:endParaRPr b="0" lang="en-US" sz="3000" strike="noStrike" u="none">
              <a:solidFill>
                <a:srgbClr val="ffffff"/>
              </a:solidFill>
              <a:effectLst/>
              <a:uFillTx/>
              <a:latin typeface="Arial"/>
            </a:endParaRPr>
          </a:p>
        </p:txBody>
      </p:sp>
      <p:sp>
        <p:nvSpPr>
          <p:cNvPr id="213" name="Text 4"/>
          <p:cNvSpPr/>
          <p:nvPr/>
        </p:nvSpPr>
        <p:spPr>
          <a:xfrm>
            <a:off x="502920" y="1490400"/>
            <a:ext cx="694908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The process is put on trial by deterministic statistics. The assistant explains; it does not invent.</a:t>
            </a:r>
            <a:endParaRPr b="0" lang="en-US" sz="1250" strike="noStrike" u="none">
              <a:solidFill>
                <a:srgbClr val="ffffff"/>
              </a:solidFill>
              <a:effectLst/>
              <a:uFillTx/>
              <a:latin typeface="Arial"/>
            </a:endParaRPr>
          </a:p>
        </p:txBody>
      </p:sp>
      <p:sp>
        <p:nvSpPr>
          <p:cNvPr id="214" name="Shape 5"/>
          <p:cNvSpPr/>
          <p:nvPr/>
        </p:nvSpPr>
        <p:spPr>
          <a:xfrm>
            <a:off x="9326880" y="411480"/>
            <a:ext cx="1599840" cy="328680"/>
          </a:xfrm>
          <a:prstGeom prst="roundRect">
            <a:avLst>
              <a:gd name="adj" fmla="val 11111"/>
            </a:avLst>
          </a:prstGeom>
          <a:solidFill>
            <a:srgbClr val="ffb020">
              <a:alpha val="8000"/>
            </a:srgbClr>
          </a:solidFill>
          <a:ln w="8890">
            <a:solidFill>
              <a:srgbClr val="ffb02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5" name="Text 6"/>
          <p:cNvSpPr/>
          <p:nvPr/>
        </p:nvSpPr>
        <p:spPr>
          <a:xfrm>
            <a:off x="9326880" y="493920"/>
            <a:ext cx="15998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ffb020"/>
                </a:solidFill>
                <a:effectLst/>
                <a:uFillTx/>
                <a:latin typeface="Aptos"/>
              </a:rPr>
              <a:t>NO AI THEATER</a:t>
            </a:r>
            <a:endParaRPr b="0" lang="en-US" sz="580" strike="noStrike" u="none">
              <a:solidFill>
                <a:srgbClr val="ffffff"/>
              </a:solidFill>
              <a:effectLst/>
              <a:uFillTx/>
              <a:latin typeface="Arial"/>
            </a:endParaRPr>
          </a:p>
        </p:txBody>
      </p:sp>
      <p:sp>
        <p:nvSpPr>
          <p:cNvPr id="216" name="Shape 7"/>
          <p:cNvSpPr/>
          <p:nvPr/>
        </p:nvSpPr>
        <p:spPr>
          <a:xfrm>
            <a:off x="777240" y="1828800"/>
            <a:ext cx="3931560" cy="3291480"/>
          </a:xfrm>
          <a:prstGeom prst="roundRect">
            <a:avLst>
              <a:gd name="adj" fmla="val 2222"/>
            </a:avLst>
          </a:prstGeom>
          <a:solidFill>
            <a:srgbClr val="0b1730">
              <a:alpha val="97000"/>
            </a:srgbClr>
          </a:solidFill>
          <a:ln w="1524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17" name="Text 8"/>
          <p:cNvSpPr/>
          <p:nvPr/>
        </p:nvSpPr>
        <p:spPr>
          <a:xfrm>
            <a:off x="1051560" y="2121480"/>
            <a:ext cx="33829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2ce6a2"/>
                </a:solidFill>
                <a:effectLst/>
                <a:uFillTx/>
                <a:latin typeface="Aptos"/>
              </a:rPr>
              <a:t>DETERMINISTIC ENGINE</a:t>
            </a:r>
            <a:endParaRPr b="0" lang="en-US" sz="1500" strike="noStrike" u="none">
              <a:solidFill>
                <a:srgbClr val="ffffff"/>
              </a:solidFill>
              <a:effectLst/>
              <a:uFillTx/>
              <a:latin typeface="Arial"/>
            </a:endParaRPr>
          </a:p>
        </p:txBody>
      </p:sp>
      <p:sp>
        <p:nvSpPr>
          <p:cNvPr id="218" name="Shape 9"/>
          <p:cNvSpPr/>
          <p:nvPr/>
        </p:nvSpPr>
        <p:spPr>
          <a:xfrm>
            <a:off x="1234440" y="2651760"/>
            <a:ext cx="3017160" cy="310680"/>
          </a:xfrm>
          <a:prstGeom prst="roundRect">
            <a:avLst>
              <a:gd name="adj" fmla="val 11765"/>
            </a:avLst>
          </a:prstGeom>
          <a:solidFill>
            <a:srgbClr val="2ce6a2">
              <a:alpha val="10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9" name="Text 10"/>
          <p:cNvSpPr/>
          <p:nvPr/>
        </p:nvSpPr>
        <p:spPr>
          <a:xfrm>
            <a:off x="1289160" y="2734200"/>
            <a:ext cx="29073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Population</a:t>
            </a:r>
            <a:endParaRPr b="0" lang="en-US" sz="650" strike="noStrike" u="none">
              <a:solidFill>
                <a:srgbClr val="ffffff"/>
              </a:solidFill>
              <a:effectLst/>
              <a:uFillTx/>
              <a:latin typeface="Arial"/>
            </a:endParaRPr>
          </a:p>
        </p:txBody>
      </p:sp>
      <p:sp>
        <p:nvSpPr>
          <p:cNvPr id="220" name="Shape 11"/>
          <p:cNvSpPr/>
          <p:nvPr/>
        </p:nvSpPr>
        <p:spPr>
          <a:xfrm>
            <a:off x="1234440" y="3035880"/>
            <a:ext cx="3017160" cy="310680"/>
          </a:xfrm>
          <a:prstGeom prst="roundRect">
            <a:avLst>
              <a:gd name="adj" fmla="val 11765"/>
            </a:avLst>
          </a:prstGeom>
          <a:solidFill>
            <a:srgbClr val="2ce6a2">
              <a:alpha val="10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1" name="Text 12"/>
          <p:cNvSpPr/>
          <p:nvPr/>
        </p:nvSpPr>
        <p:spPr>
          <a:xfrm>
            <a:off x="1289160" y="3117960"/>
            <a:ext cx="29073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Method</a:t>
            </a:r>
            <a:endParaRPr b="0" lang="en-US" sz="650" strike="noStrike" u="none">
              <a:solidFill>
                <a:srgbClr val="ffffff"/>
              </a:solidFill>
              <a:effectLst/>
              <a:uFillTx/>
              <a:latin typeface="Arial"/>
            </a:endParaRPr>
          </a:p>
        </p:txBody>
      </p:sp>
      <p:sp>
        <p:nvSpPr>
          <p:cNvPr id="222" name="Shape 13"/>
          <p:cNvSpPr/>
          <p:nvPr/>
        </p:nvSpPr>
        <p:spPr>
          <a:xfrm>
            <a:off x="1234440" y="3420000"/>
            <a:ext cx="3017160" cy="310680"/>
          </a:xfrm>
          <a:prstGeom prst="roundRect">
            <a:avLst>
              <a:gd name="adj" fmla="val 11765"/>
            </a:avLst>
          </a:prstGeom>
          <a:solidFill>
            <a:srgbClr val="2ce6a2">
              <a:alpha val="10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3" name="Text 14"/>
          <p:cNvSpPr/>
          <p:nvPr/>
        </p:nvSpPr>
        <p:spPr>
          <a:xfrm>
            <a:off x="1289160" y="3502080"/>
            <a:ext cx="29073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Effect size</a:t>
            </a:r>
            <a:endParaRPr b="0" lang="en-US" sz="650" strike="noStrike" u="none">
              <a:solidFill>
                <a:srgbClr val="ffffff"/>
              </a:solidFill>
              <a:effectLst/>
              <a:uFillTx/>
              <a:latin typeface="Arial"/>
            </a:endParaRPr>
          </a:p>
        </p:txBody>
      </p:sp>
      <p:sp>
        <p:nvSpPr>
          <p:cNvPr id="224" name="Shape 15"/>
          <p:cNvSpPr/>
          <p:nvPr/>
        </p:nvSpPr>
        <p:spPr>
          <a:xfrm>
            <a:off x="1234440" y="3803760"/>
            <a:ext cx="3017160" cy="310680"/>
          </a:xfrm>
          <a:prstGeom prst="roundRect">
            <a:avLst>
              <a:gd name="adj" fmla="val 11765"/>
            </a:avLst>
          </a:prstGeom>
          <a:solidFill>
            <a:srgbClr val="2ce6a2">
              <a:alpha val="10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5" name="Text 16"/>
          <p:cNvSpPr/>
          <p:nvPr/>
        </p:nvSpPr>
        <p:spPr>
          <a:xfrm>
            <a:off x="1289160" y="3886200"/>
            <a:ext cx="29073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FDR q-value</a:t>
            </a:r>
            <a:endParaRPr b="0" lang="en-US" sz="650" strike="noStrike" u="none">
              <a:solidFill>
                <a:srgbClr val="ffffff"/>
              </a:solidFill>
              <a:effectLst/>
              <a:uFillTx/>
              <a:latin typeface="Arial"/>
            </a:endParaRPr>
          </a:p>
        </p:txBody>
      </p:sp>
      <p:sp>
        <p:nvSpPr>
          <p:cNvPr id="226" name="Shape 17"/>
          <p:cNvSpPr/>
          <p:nvPr/>
        </p:nvSpPr>
        <p:spPr>
          <a:xfrm>
            <a:off x="1234440" y="4187880"/>
            <a:ext cx="3017160" cy="310680"/>
          </a:xfrm>
          <a:prstGeom prst="roundRect">
            <a:avLst>
              <a:gd name="adj" fmla="val 11765"/>
            </a:avLst>
          </a:prstGeom>
          <a:solidFill>
            <a:srgbClr val="2ce6a2">
              <a:alpha val="10000"/>
            </a:srgbClr>
          </a:solidFill>
          <a:ln w="762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7" name="Text 18"/>
          <p:cNvSpPr/>
          <p:nvPr/>
        </p:nvSpPr>
        <p:spPr>
          <a:xfrm>
            <a:off x="1289160" y="4270320"/>
            <a:ext cx="29073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2ce6a2"/>
                </a:solidFill>
                <a:effectLst/>
                <a:uFillTx/>
                <a:latin typeface="Aptos"/>
              </a:rPr>
              <a:t>Evidence handle</a:t>
            </a:r>
            <a:endParaRPr b="0" lang="en-US" sz="650" strike="noStrike" u="none">
              <a:solidFill>
                <a:srgbClr val="ffffff"/>
              </a:solidFill>
              <a:effectLst/>
              <a:uFillTx/>
              <a:latin typeface="Arial"/>
            </a:endParaRPr>
          </a:p>
        </p:txBody>
      </p:sp>
      <p:sp>
        <p:nvSpPr>
          <p:cNvPr id="228" name="Shape 19"/>
          <p:cNvSpPr/>
          <p:nvPr/>
        </p:nvSpPr>
        <p:spPr>
          <a:xfrm>
            <a:off x="7452360" y="1828800"/>
            <a:ext cx="3931560" cy="3291480"/>
          </a:xfrm>
          <a:prstGeom prst="roundRect">
            <a:avLst>
              <a:gd name="adj" fmla="val 2222"/>
            </a:avLst>
          </a:prstGeom>
          <a:solidFill>
            <a:srgbClr val="0b1730">
              <a:alpha val="97000"/>
            </a:srgbClr>
          </a:solidFill>
          <a:ln w="1524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29" name="Text 20"/>
          <p:cNvSpPr/>
          <p:nvPr/>
        </p:nvSpPr>
        <p:spPr>
          <a:xfrm>
            <a:off x="7754040" y="2121480"/>
            <a:ext cx="338292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00d4ff"/>
                </a:solidFill>
                <a:effectLst/>
                <a:uFillTx/>
                <a:latin typeface="Aptos"/>
              </a:rPr>
              <a:t>GROUNDED ASSISTANT</a:t>
            </a:r>
            <a:endParaRPr b="0" lang="en-US" sz="1500" strike="noStrike" u="none">
              <a:solidFill>
                <a:srgbClr val="ffffff"/>
              </a:solidFill>
              <a:effectLst/>
              <a:uFillTx/>
              <a:latin typeface="Arial"/>
            </a:endParaRPr>
          </a:p>
        </p:txBody>
      </p:sp>
      <p:sp>
        <p:nvSpPr>
          <p:cNvPr id="230" name="Shape 21"/>
          <p:cNvSpPr/>
          <p:nvPr/>
        </p:nvSpPr>
        <p:spPr>
          <a:xfrm>
            <a:off x="7936920" y="2697480"/>
            <a:ext cx="2971440" cy="310680"/>
          </a:xfrm>
          <a:prstGeom prst="roundRect">
            <a:avLst>
              <a:gd name="adj" fmla="val 11765"/>
            </a:avLst>
          </a:prstGeom>
          <a:solidFill>
            <a:srgbClr val="00d4ff">
              <a:alpha val="10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1" name="Text 22"/>
          <p:cNvSpPr/>
          <p:nvPr/>
        </p:nvSpPr>
        <p:spPr>
          <a:xfrm>
            <a:off x="7992000" y="2779920"/>
            <a:ext cx="286164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Reads approved evidence</a:t>
            </a:r>
            <a:endParaRPr b="0" lang="en-US" sz="650" strike="noStrike" u="none">
              <a:solidFill>
                <a:srgbClr val="ffffff"/>
              </a:solidFill>
              <a:effectLst/>
              <a:uFillTx/>
              <a:latin typeface="Arial"/>
            </a:endParaRPr>
          </a:p>
        </p:txBody>
      </p:sp>
      <p:sp>
        <p:nvSpPr>
          <p:cNvPr id="232" name="Shape 23"/>
          <p:cNvSpPr/>
          <p:nvPr/>
        </p:nvSpPr>
        <p:spPr>
          <a:xfrm>
            <a:off x="7936920" y="3117960"/>
            <a:ext cx="2971440" cy="310680"/>
          </a:xfrm>
          <a:prstGeom prst="roundRect">
            <a:avLst>
              <a:gd name="adj" fmla="val 11765"/>
            </a:avLst>
          </a:prstGeom>
          <a:solidFill>
            <a:srgbClr val="00d4ff">
              <a:alpha val="10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3" name="Text 24"/>
          <p:cNvSpPr/>
          <p:nvPr/>
        </p:nvSpPr>
        <p:spPr>
          <a:xfrm>
            <a:off x="7992000" y="3200400"/>
            <a:ext cx="286164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Explains in plain language</a:t>
            </a:r>
            <a:endParaRPr b="0" lang="en-US" sz="650" strike="noStrike" u="none">
              <a:solidFill>
                <a:srgbClr val="ffffff"/>
              </a:solidFill>
              <a:effectLst/>
              <a:uFillTx/>
              <a:latin typeface="Arial"/>
            </a:endParaRPr>
          </a:p>
        </p:txBody>
      </p:sp>
      <p:sp>
        <p:nvSpPr>
          <p:cNvPr id="234" name="Shape 25"/>
          <p:cNvSpPr/>
          <p:nvPr/>
        </p:nvSpPr>
        <p:spPr>
          <a:xfrm>
            <a:off x="7936920" y="3538800"/>
            <a:ext cx="2971440" cy="310680"/>
          </a:xfrm>
          <a:prstGeom prst="roundRect">
            <a:avLst>
              <a:gd name="adj" fmla="val 11765"/>
            </a:avLst>
          </a:prstGeom>
          <a:solidFill>
            <a:srgbClr val="00d4ff">
              <a:alpha val="10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5" name="Text 26"/>
          <p:cNvSpPr/>
          <p:nvPr/>
        </p:nvSpPr>
        <p:spPr>
          <a:xfrm>
            <a:off x="7992000" y="3620880"/>
            <a:ext cx="286164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Cites findings and jobs</a:t>
            </a:r>
            <a:endParaRPr b="0" lang="en-US" sz="650" strike="noStrike" u="none">
              <a:solidFill>
                <a:srgbClr val="ffffff"/>
              </a:solidFill>
              <a:effectLst/>
              <a:uFillTx/>
              <a:latin typeface="Arial"/>
            </a:endParaRPr>
          </a:p>
        </p:txBody>
      </p:sp>
      <p:sp>
        <p:nvSpPr>
          <p:cNvPr id="236" name="Shape 27"/>
          <p:cNvSpPr/>
          <p:nvPr/>
        </p:nvSpPr>
        <p:spPr>
          <a:xfrm>
            <a:off x="7936920" y="3959280"/>
            <a:ext cx="2971440" cy="310680"/>
          </a:xfrm>
          <a:prstGeom prst="roundRect">
            <a:avLst>
              <a:gd name="adj" fmla="val 11765"/>
            </a:avLst>
          </a:prstGeom>
          <a:solidFill>
            <a:srgbClr val="00d4ff">
              <a:alpha val="10000"/>
            </a:srgbClr>
          </a:solidFill>
          <a:ln w="762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7" name="Text 28"/>
          <p:cNvSpPr/>
          <p:nvPr/>
        </p:nvSpPr>
        <p:spPr>
          <a:xfrm>
            <a:off x="7992000" y="4041720"/>
            <a:ext cx="286164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00d4ff"/>
                </a:solidFill>
                <a:effectLst/>
                <a:uFillTx/>
                <a:latin typeface="Aptos"/>
              </a:rPr>
              <a:t>Refuses unsupported claims</a:t>
            </a:r>
            <a:endParaRPr b="0" lang="en-US" sz="650" strike="noStrike" u="none">
              <a:solidFill>
                <a:srgbClr val="ffffff"/>
              </a:solidFill>
              <a:effectLst/>
              <a:uFillTx/>
              <a:latin typeface="Arial"/>
            </a:endParaRPr>
          </a:p>
        </p:txBody>
      </p:sp>
      <p:sp>
        <p:nvSpPr>
          <p:cNvPr id="238" name="Shape 29"/>
          <p:cNvSpPr/>
          <p:nvPr/>
        </p:nvSpPr>
        <p:spPr>
          <a:xfrm>
            <a:off x="5166360" y="2880360"/>
            <a:ext cx="1782720" cy="1096920"/>
          </a:xfrm>
          <a:prstGeom prst="chevron">
            <a:avLst>
              <a:gd name="adj" fmla="val 50000"/>
            </a:avLst>
          </a:prstGeom>
          <a:solidFill>
            <a:srgbClr val="2ce6a2">
              <a:alpha val="85000"/>
            </a:srgbClr>
          </a:solidFill>
          <a:ln w="12700">
            <a:solidFill>
              <a:srgbClr val="2ce6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9" name="Text 30"/>
          <p:cNvSpPr/>
          <p:nvPr/>
        </p:nvSpPr>
        <p:spPr>
          <a:xfrm>
            <a:off x="5257800" y="3127320"/>
            <a:ext cx="155412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eaf6ff"/>
                </a:solidFill>
                <a:effectLst/>
                <a:uFillTx/>
                <a:latin typeface="Aptos"/>
              </a:rPr>
              <a:t>EVIDENCE</a:t>
            </a:r>
            <a:endParaRPr b="0" lang="en-US" sz="1500" strike="noStrike" u="none">
              <a:solidFill>
                <a:srgbClr val="ffffff"/>
              </a:solidFill>
              <a:effectLst/>
              <a:uFillTx/>
              <a:latin typeface="Arial"/>
            </a:endParaRPr>
          </a:p>
          <a:p>
            <a:pPr algn="ctr" defTabSz="914400">
              <a:lnSpc>
                <a:spcPct val="100000"/>
              </a:lnSpc>
              <a:tabLst>
                <a:tab algn="l" pos="0"/>
              </a:tabLst>
            </a:pPr>
            <a:r>
              <a:rPr b="1" lang="en-US" sz="1500" strike="noStrike" u="none">
                <a:solidFill>
                  <a:srgbClr val="eaf6ff"/>
                </a:solidFill>
                <a:effectLst/>
                <a:uFillTx/>
                <a:latin typeface="Aptos"/>
              </a:rPr>
              <a:t>STORE</a:t>
            </a:r>
            <a:endParaRPr b="0" lang="en-US" sz="1500" strike="noStrike" u="none">
              <a:solidFill>
                <a:srgbClr val="ffffff"/>
              </a:solidFill>
              <a:effectLst/>
              <a:uFillTx/>
              <a:latin typeface="Arial"/>
            </a:endParaRPr>
          </a:p>
        </p:txBody>
      </p:sp>
      <p:sp>
        <p:nvSpPr>
          <p:cNvPr id="240" name="Text 31"/>
          <p:cNvSpPr/>
          <p:nvPr/>
        </p:nvSpPr>
        <p:spPr>
          <a:xfrm>
            <a:off x="1828800" y="5760720"/>
            <a:ext cx="8549280" cy="3013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eaf6ff"/>
                </a:solidFill>
                <a:effectLst/>
                <a:uFillTx/>
                <a:latin typeface="Aptos"/>
              </a:rPr>
              <a:t>The model explains. The engine computes.</a:t>
            </a:r>
            <a:endParaRPr b="0" lang="en-US" sz="1800" strike="noStrike" u="none">
              <a:solidFill>
                <a:srgbClr val="ffffff"/>
              </a:solidFill>
              <a:effectLst/>
              <a:uFillTx/>
              <a:latin typeface="Arial"/>
            </a:endParaRPr>
          </a:p>
        </p:txBody>
      </p:sp>
      <p:sp>
        <p:nvSpPr>
          <p:cNvPr id="241" name="Text 32"/>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242" name="Text 33"/>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243" name="Text 34"/>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07</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244" name="Image 0" descr="/mnt/data/a_sleek_futuristic_data_visualization_control_roo_batch_4.png"/>
          <p:cNvPicPr/>
          <p:nvPr/>
        </p:nvPicPr>
        <p:blipFill>
          <a:blip r:embed="rId1"/>
          <a:srcRect l="14998" t="0" r="-15050" b="0"/>
          <a:stretch/>
        </p:blipFill>
        <p:spPr>
          <a:xfrm>
            <a:off x="0" y="0"/>
            <a:ext cx="12191400" cy="6857640"/>
          </a:xfrm>
          <a:prstGeom prst="rect">
            <a:avLst/>
          </a:prstGeom>
          <a:noFill/>
          <a:ln w="0">
            <a:noFill/>
          </a:ln>
        </p:spPr>
      </p:pic>
      <p:sp>
        <p:nvSpPr>
          <p:cNvPr id="245" name="Shape 0"/>
          <p:cNvSpPr/>
          <p:nvPr/>
        </p:nvSpPr>
        <p:spPr>
          <a:xfrm>
            <a:off x="0" y="0"/>
            <a:ext cx="12191400" cy="6857640"/>
          </a:xfrm>
          <a:prstGeom prst="rect">
            <a:avLst/>
          </a:prstGeom>
          <a:solidFill>
            <a:srgbClr val="050b18">
              <a:alpha val="50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6"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7" name="Shape 2"/>
          <p:cNvSpPr/>
          <p:nvPr/>
        </p:nvSpPr>
        <p:spPr>
          <a:xfrm>
            <a:off x="0" y="0"/>
            <a:ext cx="12191400" cy="6857640"/>
          </a:xfrm>
          <a:prstGeom prst="rect">
            <a:avLst/>
          </a:prstGeom>
          <a:solidFill>
            <a:srgbClr val="050b18">
              <a:alpha val="65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8" name="Text 3"/>
          <p:cNvSpPr/>
          <p:nvPr/>
        </p:nvSpPr>
        <p:spPr>
          <a:xfrm>
            <a:off x="502920" y="384120"/>
            <a:ext cx="74977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ACT 3 · THE VERDICT</a:t>
            </a:r>
            <a:endParaRPr b="0" lang="en-US" sz="850" strike="noStrike" u="none">
              <a:solidFill>
                <a:srgbClr val="ffffff"/>
              </a:solidFill>
              <a:effectLst/>
              <a:uFillTx/>
              <a:latin typeface="Arial"/>
            </a:endParaRPr>
          </a:p>
        </p:txBody>
      </p:sp>
      <p:sp>
        <p:nvSpPr>
          <p:cNvPr id="249" name="Text 4"/>
          <p:cNvSpPr/>
          <p:nvPr/>
        </p:nvSpPr>
        <p:spPr>
          <a:xfrm>
            <a:off x="502920" y="676800"/>
            <a:ext cx="7497720" cy="82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100" strike="noStrike" u="none">
                <a:solidFill>
                  <a:srgbClr val="eaf6ff"/>
                </a:solidFill>
                <a:effectLst/>
                <a:uFillTx/>
                <a:latin typeface="Aptos"/>
              </a:rPr>
              <a:t>The trust difference: signal vs. noise.</a:t>
            </a:r>
            <a:endParaRPr b="0" lang="en-US" sz="3100" strike="noStrike" u="none">
              <a:solidFill>
                <a:srgbClr val="ffffff"/>
              </a:solidFill>
              <a:effectLst/>
              <a:uFillTx/>
              <a:latin typeface="Arial"/>
            </a:endParaRPr>
          </a:p>
        </p:txBody>
      </p:sp>
      <p:sp>
        <p:nvSpPr>
          <p:cNvPr id="250" name="Text 5"/>
          <p:cNvSpPr/>
          <p:nvPr/>
        </p:nvSpPr>
        <p:spPr>
          <a:xfrm>
            <a:off x="502920" y="1463040"/>
            <a:ext cx="74977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A system you can trust must tell you what to act on — and what to ignore.</a:t>
            </a:r>
            <a:endParaRPr b="0" lang="en-US" sz="1250" strike="noStrike" u="none">
              <a:solidFill>
                <a:srgbClr val="ffffff"/>
              </a:solidFill>
              <a:effectLst/>
              <a:uFillTx/>
              <a:latin typeface="Arial"/>
            </a:endParaRPr>
          </a:p>
        </p:txBody>
      </p:sp>
      <p:sp>
        <p:nvSpPr>
          <p:cNvPr id="251" name="Shape 6"/>
          <p:cNvSpPr/>
          <p:nvPr/>
        </p:nvSpPr>
        <p:spPr>
          <a:xfrm>
            <a:off x="9372600" y="411480"/>
            <a:ext cx="1416960" cy="328680"/>
          </a:xfrm>
          <a:prstGeom prst="roundRect">
            <a:avLst>
              <a:gd name="adj" fmla="val 11111"/>
            </a:avLst>
          </a:prstGeom>
          <a:solidFill>
            <a:srgbClr val="2ce6a2">
              <a:alpha val="8000"/>
            </a:srgbClr>
          </a:solidFill>
          <a:ln w="889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2" name="Text 7"/>
          <p:cNvSpPr/>
          <p:nvPr/>
        </p:nvSpPr>
        <p:spPr>
          <a:xfrm>
            <a:off x="9372600" y="493920"/>
            <a:ext cx="141696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2ce6a2"/>
                </a:solidFill>
                <a:effectLst/>
                <a:uFillTx/>
                <a:latin typeface="Aptos"/>
              </a:rPr>
              <a:t>WOW MOMENT</a:t>
            </a:r>
            <a:endParaRPr b="0" lang="en-US" sz="580" strike="noStrike" u="none">
              <a:solidFill>
                <a:srgbClr val="ffffff"/>
              </a:solidFill>
              <a:effectLst/>
              <a:uFillTx/>
              <a:latin typeface="Arial"/>
            </a:endParaRPr>
          </a:p>
        </p:txBody>
      </p:sp>
      <p:sp>
        <p:nvSpPr>
          <p:cNvPr id="253" name="Shape 8"/>
          <p:cNvSpPr/>
          <p:nvPr/>
        </p:nvSpPr>
        <p:spPr>
          <a:xfrm>
            <a:off x="685800" y="1600200"/>
            <a:ext cx="10835280" cy="4525920"/>
          </a:xfrm>
          <a:prstGeom prst="roundRect">
            <a:avLst>
              <a:gd name="adj" fmla="val 1616"/>
            </a:avLst>
          </a:prstGeom>
          <a:solidFill>
            <a:srgbClr val="0b1730">
              <a:alpha val="94000"/>
            </a:srgbClr>
          </a:solidFill>
          <a:ln w="15240">
            <a:solidFill>
              <a:srgbClr val="00d4ff">
                <a:alpha val="93000"/>
              </a:srgbClr>
            </a:solidFill>
            <a:round/>
          </a:ln>
          <a:effectLst>
            <a:outerShdw algn="bl" blurRad="25560" dir="2700000" dist="50402" kx="0" ky="0" rotWithShape="0" sx="100000" sy="100000">
              <a:srgbClr val="2ce6a2">
                <a:alpha val="20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4" name="Text 9"/>
          <p:cNvSpPr/>
          <p:nvPr/>
        </p:nvSpPr>
        <p:spPr>
          <a:xfrm>
            <a:off x="960120" y="2331720"/>
            <a:ext cx="22399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af6ff"/>
                </a:solidFill>
                <a:effectLst/>
                <a:uFillTx/>
                <a:latin typeface="Aptos"/>
              </a:rPr>
              <a:t>CRACK_LONG supported signal</a:t>
            </a:r>
            <a:endParaRPr b="0" lang="en-US" sz="1100" strike="noStrike" u="none">
              <a:solidFill>
                <a:srgbClr val="ffffff"/>
              </a:solidFill>
              <a:effectLst/>
              <a:uFillTx/>
              <a:latin typeface="Arial"/>
            </a:endParaRPr>
          </a:p>
        </p:txBody>
      </p:sp>
      <p:sp>
        <p:nvSpPr>
          <p:cNvPr id="255" name="Shape 10"/>
          <p:cNvSpPr/>
          <p:nvPr/>
        </p:nvSpPr>
        <p:spPr>
          <a:xfrm>
            <a:off x="3337560" y="2148840"/>
            <a:ext cx="5806080" cy="566640"/>
          </a:xfrm>
          <a:prstGeom prst="roundRect">
            <a:avLst>
              <a:gd name="adj" fmla="val 8065"/>
            </a:avLst>
          </a:prstGeom>
          <a:solidFill>
            <a:srgbClr val="2ce6a2"/>
          </a:solidFill>
          <a:ln w="12700">
            <a:solidFill>
              <a:srgbClr val="2ce6a2">
                <a:alpha val="0"/>
              </a:srgbClr>
            </a:solidFill>
            <a:round/>
          </a:ln>
          <a:effectLst>
            <a:outerShdw algn="bl" blurRad="12600" dir="2700000" dist="50402" kx="0" ky="0" rotWithShape="0" sx="100000" sy="100000">
              <a:srgbClr val="2ce6a2">
                <a:alpha val="35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6" name="Text 11"/>
          <p:cNvSpPr/>
          <p:nvPr/>
        </p:nvSpPr>
        <p:spPr>
          <a:xfrm>
            <a:off x="9399960" y="2094120"/>
            <a:ext cx="1142640" cy="5025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3000" strike="noStrike" u="none">
                <a:solidFill>
                  <a:srgbClr val="2ce6a2"/>
                </a:solidFill>
                <a:effectLst/>
                <a:uFillTx/>
                <a:latin typeface="Aptos"/>
              </a:rPr>
              <a:t>9.3x</a:t>
            </a:r>
            <a:endParaRPr b="0" lang="en-US" sz="3000" strike="noStrike" u="none">
              <a:solidFill>
                <a:srgbClr val="ffffff"/>
              </a:solidFill>
              <a:effectLst/>
              <a:uFillTx/>
              <a:latin typeface="Arial"/>
            </a:endParaRPr>
          </a:p>
        </p:txBody>
      </p:sp>
      <p:sp>
        <p:nvSpPr>
          <p:cNvPr id="257" name="Text 12"/>
          <p:cNvSpPr/>
          <p:nvPr/>
        </p:nvSpPr>
        <p:spPr>
          <a:xfrm>
            <a:off x="960120" y="3977640"/>
            <a:ext cx="223992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100" strike="noStrike" u="none">
                <a:solidFill>
                  <a:srgbClr val="eaf6ff"/>
                </a:solidFill>
                <a:effectLst/>
                <a:uFillTx/>
                <a:latin typeface="Aptos"/>
              </a:rPr>
              <a:t>SCRATCH null control</a:t>
            </a:r>
            <a:endParaRPr b="0" lang="en-US" sz="1100" strike="noStrike" u="none">
              <a:solidFill>
                <a:srgbClr val="ffffff"/>
              </a:solidFill>
              <a:effectLst/>
              <a:uFillTx/>
              <a:latin typeface="Arial"/>
            </a:endParaRPr>
          </a:p>
        </p:txBody>
      </p:sp>
      <p:sp>
        <p:nvSpPr>
          <p:cNvPr id="258" name="Shape 13"/>
          <p:cNvSpPr/>
          <p:nvPr/>
        </p:nvSpPr>
        <p:spPr>
          <a:xfrm>
            <a:off x="3337560" y="3840480"/>
            <a:ext cx="621360" cy="566640"/>
          </a:xfrm>
          <a:prstGeom prst="roundRect">
            <a:avLst>
              <a:gd name="adj" fmla="val 6452"/>
            </a:avLst>
          </a:prstGeom>
          <a:solidFill>
            <a:srgbClr val="8ea7c1">
              <a:alpha val="90000"/>
            </a:srgbClr>
          </a:solidFill>
          <a:ln w="12700">
            <a:solidFill>
              <a:srgbClr val="8ea7c1">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9" name="Text 14"/>
          <p:cNvSpPr/>
          <p:nvPr/>
        </p:nvSpPr>
        <p:spPr>
          <a:xfrm>
            <a:off x="9399960" y="3794760"/>
            <a:ext cx="1142640" cy="4384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400" strike="noStrike" u="none">
                <a:solidFill>
                  <a:srgbClr val="c6d3e0"/>
                </a:solidFill>
                <a:effectLst/>
                <a:uFillTx/>
                <a:latin typeface="Aptos"/>
              </a:rPr>
              <a:t>1.0x</a:t>
            </a:r>
            <a:endParaRPr b="0" lang="en-US" sz="2400" strike="noStrike" u="none">
              <a:solidFill>
                <a:srgbClr val="ffffff"/>
              </a:solidFill>
              <a:effectLst/>
              <a:uFillTx/>
              <a:latin typeface="Arial"/>
            </a:endParaRPr>
          </a:p>
        </p:txBody>
      </p:sp>
      <p:sp>
        <p:nvSpPr>
          <p:cNvPr id="260" name="Shape 15"/>
          <p:cNvSpPr/>
          <p:nvPr/>
        </p:nvSpPr>
        <p:spPr>
          <a:xfrm>
            <a:off x="3337560" y="4772880"/>
            <a:ext cx="6035040" cy="360"/>
          </a:xfrm>
          <a:prstGeom prst="line">
            <a:avLst/>
          </a:prstGeom>
          <a:ln w="6350">
            <a:solidFill>
              <a:srgbClr val="8ea7c1">
                <a:alpha val="45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261" name="Text 16"/>
          <p:cNvSpPr/>
          <p:nvPr/>
        </p:nvSpPr>
        <p:spPr>
          <a:xfrm>
            <a:off x="2926080" y="5193720"/>
            <a:ext cx="6354720" cy="328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Noise dismissed. Signal retained.</a:t>
            </a:r>
            <a:endParaRPr b="0" lang="en-US" sz="1800" strike="noStrike" u="none">
              <a:solidFill>
                <a:srgbClr val="ffffff"/>
              </a:solidFill>
              <a:effectLst/>
              <a:uFillTx/>
              <a:latin typeface="Arial"/>
            </a:endParaRPr>
          </a:p>
        </p:txBody>
      </p:sp>
      <p:sp>
        <p:nvSpPr>
          <p:cNvPr id="262" name="Text 17"/>
          <p:cNvSpPr/>
          <p:nvPr/>
        </p:nvSpPr>
        <p:spPr>
          <a:xfrm>
            <a:off x="1920240" y="5815440"/>
            <a:ext cx="8503560" cy="127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00" strike="noStrike" u="none">
                <a:solidFill>
                  <a:srgbClr val="8ea7c1"/>
                </a:solidFill>
                <a:effectLst/>
                <a:uFillTx/>
                <a:latin typeface="Aptos"/>
              </a:rPr>
              <a:t>Evidence-ranked association · not a guaranteed root cause · method/population/q-value shown in product</a:t>
            </a:r>
            <a:endParaRPr b="0" lang="en-US" sz="700" strike="noStrike" u="none">
              <a:solidFill>
                <a:srgbClr val="ffffff"/>
              </a:solidFill>
              <a:effectLst/>
              <a:uFillTx/>
              <a:latin typeface="Arial"/>
            </a:endParaRPr>
          </a:p>
        </p:txBody>
      </p:sp>
      <p:sp>
        <p:nvSpPr>
          <p:cNvPr id="263" name="Text 18"/>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264" name="Text 19"/>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265" name="Text 20"/>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08</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sp>
        <p:nvSpPr>
          <p:cNvPr id="266" name="Shape 0"/>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7" name="Shape 1"/>
          <p:cNvSpPr/>
          <p:nvPr/>
        </p:nvSpPr>
        <p:spPr>
          <a:xfrm>
            <a:off x="0" y="0"/>
            <a:ext cx="12191400" cy="6857640"/>
          </a:xfrm>
          <a:prstGeom prst="rect">
            <a:avLst/>
          </a:prstGeom>
          <a:solidFill>
            <a:srgbClr val="050b18"/>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8" name="Text 2"/>
          <p:cNvSpPr/>
          <p:nvPr/>
        </p:nvSpPr>
        <p:spPr>
          <a:xfrm>
            <a:off x="502920" y="411480"/>
            <a:ext cx="768060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ACT 4 · EXECUTION</a:t>
            </a:r>
            <a:endParaRPr b="0" lang="en-US" sz="850" strike="noStrike" u="none">
              <a:solidFill>
                <a:srgbClr val="ffffff"/>
              </a:solidFill>
              <a:effectLst/>
              <a:uFillTx/>
              <a:latin typeface="Arial"/>
            </a:endParaRPr>
          </a:p>
        </p:txBody>
      </p:sp>
      <p:sp>
        <p:nvSpPr>
          <p:cNvPr id="269" name="Text 3"/>
          <p:cNvSpPr/>
          <p:nvPr/>
        </p:nvSpPr>
        <p:spPr>
          <a:xfrm>
            <a:off x="502920" y="704160"/>
            <a:ext cx="768060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3000" strike="noStrike" u="none">
                <a:solidFill>
                  <a:srgbClr val="eaf6ff"/>
                </a:solidFill>
                <a:effectLst/>
                <a:uFillTx/>
                <a:latin typeface="Aptos"/>
              </a:rPr>
              <a:t>Turn evidence into money-saving action.</a:t>
            </a:r>
            <a:endParaRPr b="0" lang="en-US" sz="3000" strike="noStrike" u="none">
              <a:solidFill>
                <a:srgbClr val="ffffff"/>
              </a:solidFill>
              <a:effectLst/>
              <a:uFillTx/>
              <a:latin typeface="Arial"/>
            </a:endParaRPr>
          </a:p>
        </p:txBody>
      </p:sp>
      <p:sp>
        <p:nvSpPr>
          <p:cNvPr id="270" name="Text 4"/>
          <p:cNvSpPr/>
          <p:nvPr/>
        </p:nvSpPr>
        <p:spPr>
          <a:xfrm>
            <a:off x="502920" y="1490400"/>
            <a:ext cx="768060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The buyer is the hero: faster decisions, fewer repeated losses, safer prioritization.</a:t>
            </a:r>
            <a:endParaRPr b="0" lang="en-US" sz="1250" strike="noStrike" u="none">
              <a:solidFill>
                <a:srgbClr val="ffffff"/>
              </a:solidFill>
              <a:effectLst/>
              <a:uFillTx/>
              <a:latin typeface="Arial"/>
            </a:endParaRPr>
          </a:p>
        </p:txBody>
      </p:sp>
      <p:sp>
        <p:nvSpPr>
          <p:cNvPr id="271" name="Shape 5"/>
          <p:cNvSpPr/>
          <p:nvPr/>
        </p:nvSpPr>
        <p:spPr>
          <a:xfrm>
            <a:off x="9326880" y="411480"/>
            <a:ext cx="1462680" cy="328680"/>
          </a:xfrm>
          <a:prstGeom prst="roundRect">
            <a:avLst>
              <a:gd name="adj" fmla="val 11111"/>
            </a:avLst>
          </a:prstGeom>
          <a:solidFill>
            <a:srgbClr val="2ce6a2">
              <a:alpha val="8000"/>
            </a:srgbClr>
          </a:solidFill>
          <a:ln w="889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2" name="Text 6"/>
          <p:cNvSpPr/>
          <p:nvPr/>
        </p:nvSpPr>
        <p:spPr>
          <a:xfrm>
            <a:off x="9326880" y="493920"/>
            <a:ext cx="146268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2ce6a2"/>
                </a:solidFill>
                <a:effectLst/>
                <a:uFillTx/>
                <a:latin typeface="Aptos"/>
              </a:rPr>
              <a:t>ACTION &amp; ROI</a:t>
            </a:r>
            <a:endParaRPr b="0" lang="en-US" sz="580" strike="noStrike" u="none">
              <a:solidFill>
                <a:srgbClr val="ffffff"/>
              </a:solidFill>
              <a:effectLst/>
              <a:uFillTx/>
              <a:latin typeface="Arial"/>
            </a:endParaRPr>
          </a:p>
        </p:txBody>
      </p:sp>
      <p:sp>
        <p:nvSpPr>
          <p:cNvPr id="273" name="Shape 7"/>
          <p:cNvSpPr/>
          <p:nvPr/>
        </p:nvSpPr>
        <p:spPr>
          <a:xfrm>
            <a:off x="731520" y="1737360"/>
            <a:ext cx="5120280" cy="822600"/>
          </a:xfrm>
          <a:prstGeom prst="roundRect">
            <a:avLst>
              <a:gd name="adj" fmla="val 7778"/>
            </a:avLst>
          </a:prstGeom>
          <a:solidFill>
            <a:srgbClr val="0b1730">
              <a:alpha val="97000"/>
            </a:srgbClr>
          </a:solidFill>
          <a:ln w="10160">
            <a:solidFill>
              <a:srgbClr val="00d4ff">
                <a:alpha val="8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4" name="Text 8"/>
          <p:cNvSpPr/>
          <p:nvPr/>
        </p:nvSpPr>
        <p:spPr>
          <a:xfrm>
            <a:off x="987480" y="1901880"/>
            <a:ext cx="273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1</a:t>
            </a:r>
            <a:endParaRPr b="0" lang="en-US" sz="1800" strike="noStrike" u="none">
              <a:solidFill>
                <a:srgbClr val="ffffff"/>
              </a:solidFill>
              <a:effectLst/>
              <a:uFillTx/>
              <a:latin typeface="Arial"/>
            </a:endParaRPr>
          </a:p>
        </p:txBody>
      </p:sp>
      <p:sp>
        <p:nvSpPr>
          <p:cNvPr id="275" name="Text 9"/>
          <p:cNvSpPr/>
          <p:nvPr/>
        </p:nvSpPr>
        <p:spPr>
          <a:xfrm>
            <a:off x="1481400" y="190188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af6ff"/>
                </a:solidFill>
                <a:effectLst/>
                <a:uFillTx/>
                <a:latin typeface="Aptos"/>
              </a:rPr>
              <a:t>Detect earlier</a:t>
            </a:r>
            <a:endParaRPr b="0" lang="en-US" sz="1200" strike="noStrike" u="none">
              <a:solidFill>
                <a:srgbClr val="ffffff"/>
              </a:solidFill>
              <a:effectLst/>
              <a:uFillTx/>
              <a:latin typeface="Arial"/>
            </a:endParaRPr>
          </a:p>
        </p:txBody>
      </p:sp>
      <p:sp>
        <p:nvSpPr>
          <p:cNvPr id="276" name="Text 10"/>
          <p:cNvSpPr/>
          <p:nvPr/>
        </p:nvSpPr>
        <p:spPr>
          <a:xfrm>
            <a:off x="1481400" y="2148840"/>
            <a:ext cx="40687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50" strike="noStrike" u="none">
                <a:solidFill>
                  <a:srgbClr val="b6c7d9"/>
                </a:solidFill>
                <a:effectLst/>
                <a:uFillTx/>
                <a:latin typeface="Aptos"/>
              </a:rPr>
              <a:t>monitor high-risk process windows before repeated losses</a:t>
            </a:r>
            <a:endParaRPr b="0" lang="en-US" sz="750" strike="noStrike" u="none">
              <a:solidFill>
                <a:srgbClr val="ffffff"/>
              </a:solidFill>
              <a:effectLst/>
              <a:uFillTx/>
              <a:latin typeface="Arial"/>
            </a:endParaRPr>
          </a:p>
        </p:txBody>
      </p:sp>
      <p:sp>
        <p:nvSpPr>
          <p:cNvPr id="277" name="Shape 11"/>
          <p:cNvSpPr/>
          <p:nvPr/>
        </p:nvSpPr>
        <p:spPr>
          <a:xfrm>
            <a:off x="6263640" y="1737360"/>
            <a:ext cx="5120280" cy="822600"/>
          </a:xfrm>
          <a:prstGeom prst="roundRect">
            <a:avLst>
              <a:gd name="adj" fmla="val 7778"/>
            </a:avLst>
          </a:prstGeom>
          <a:solidFill>
            <a:srgbClr val="0b1730">
              <a:alpha val="97000"/>
            </a:srgbClr>
          </a:solidFill>
          <a:ln w="10160">
            <a:solidFill>
              <a:srgbClr val="00d4ff">
                <a:alpha val="8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78" name="Text 12"/>
          <p:cNvSpPr/>
          <p:nvPr/>
        </p:nvSpPr>
        <p:spPr>
          <a:xfrm>
            <a:off x="6519600" y="1901880"/>
            <a:ext cx="273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2</a:t>
            </a:r>
            <a:endParaRPr b="0" lang="en-US" sz="1800" strike="noStrike" u="none">
              <a:solidFill>
                <a:srgbClr val="ffffff"/>
              </a:solidFill>
              <a:effectLst/>
              <a:uFillTx/>
              <a:latin typeface="Arial"/>
            </a:endParaRPr>
          </a:p>
        </p:txBody>
      </p:sp>
      <p:sp>
        <p:nvSpPr>
          <p:cNvPr id="279" name="Text 13"/>
          <p:cNvSpPr/>
          <p:nvPr/>
        </p:nvSpPr>
        <p:spPr>
          <a:xfrm>
            <a:off x="7013520" y="190188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af6ff"/>
                </a:solidFill>
                <a:effectLst/>
                <a:uFillTx/>
                <a:latin typeface="Aptos"/>
              </a:rPr>
              <a:t>Investigate faster</a:t>
            </a:r>
            <a:endParaRPr b="0" lang="en-US" sz="1200" strike="noStrike" u="none">
              <a:solidFill>
                <a:srgbClr val="ffffff"/>
              </a:solidFill>
              <a:effectLst/>
              <a:uFillTx/>
              <a:latin typeface="Arial"/>
            </a:endParaRPr>
          </a:p>
        </p:txBody>
      </p:sp>
      <p:sp>
        <p:nvSpPr>
          <p:cNvPr id="280" name="Text 14"/>
          <p:cNvSpPr/>
          <p:nvPr/>
        </p:nvSpPr>
        <p:spPr>
          <a:xfrm>
            <a:off x="7013520" y="2148840"/>
            <a:ext cx="40687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50" strike="noStrike" u="none">
                <a:solidFill>
                  <a:srgbClr val="b6c7d9"/>
                </a:solidFill>
                <a:effectLst/>
                <a:uFillTx/>
                <a:latin typeface="Aptos"/>
              </a:rPr>
              <a:t>reduce root-cause work from weeks to minutes</a:t>
            </a:r>
            <a:endParaRPr b="0" lang="en-US" sz="750" strike="noStrike" u="none">
              <a:solidFill>
                <a:srgbClr val="ffffff"/>
              </a:solidFill>
              <a:effectLst/>
              <a:uFillTx/>
              <a:latin typeface="Arial"/>
            </a:endParaRPr>
          </a:p>
        </p:txBody>
      </p:sp>
      <p:sp>
        <p:nvSpPr>
          <p:cNvPr id="281" name="Shape 15"/>
          <p:cNvSpPr/>
          <p:nvPr/>
        </p:nvSpPr>
        <p:spPr>
          <a:xfrm>
            <a:off x="731520" y="2880360"/>
            <a:ext cx="5120280" cy="822600"/>
          </a:xfrm>
          <a:prstGeom prst="roundRect">
            <a:avLst>
              <a:gd name="adj" fmla="val 7778"/>
            </a:avLst>
          </a:prstGeom>
          <a:solidFill>
            <a:srgbClr val="0b1730">
              <a:alpha val="97000"/>
            </a:srgbClr>
          </a:solidFill>
          <a:ln w="10160">
            <a:solidFill>
              <a:srgbClr val="00d4ff">
                <a:alpha val="8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2" name="Text 16"/>
          <p:cNvSpPr/>
          <p:nvPr/>
        </p:nvSpPr>
        <p:spPr>
          <a:xfrm>
            <a:off x="987480" y="3044880"/>
            <a:ext cx="273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3</a:t>
            </a:r>
            <a:endParaRPr b="0" lang="en-US" sz="1800" strike="noStrike" u="none">
              <a:solidFill>
                <a:srgbClr val="ffffff"/>
              </a:solidFill>
              <a:effectLst/>
              <a:uFillTx/>
              <a:latin typeface="Arial"/>
            </a:endParaRPr>
          </a:p>
        </p:txBody>
      </p:sp>
      <p:sp>
        <p:nvSpPr>
          <p:cNvPr id="283" name="Text 17"/>
          <p:cNvSpPr/>
          <p:nvPr/>
        </p:nvSpPr>
        <p:spPr>
          <a:xfrm>
            <a:off x="1481400" y="304488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af6ff"/>
                </a:solidFill>
                <a:effectLst/>
                <a:uFillTx/>
                <a:latin typeface="Aptos"/>
              </a:rPr>
              <a:t>Prioritize correctly</a:t>
            </a:r>
            <a:endParaRPr b="0" lang="en-US" sz="1200" strike="noStrike" u="none">
              <a:solidFill>
                <a:srgbClr val="ffffff"/>
              </a:solidFill>
              <a:effectLst/>
              <a:uFillTx/>
              <a:latin typeface="Arial"/>
            </a:endParaRPr>
          </a:p>
        </p:txBody>
      </p:sp>
      <p:sp>
        <p:nvSpPr>
          <p:cNvPr id="284" name="Text 18"/>
          <p:cNvSpPr/>
          <p:nvPr/>
        </p:nvSpPr>
        <p:spPr>
          <a:xfrm>
            <a:off x="1481400" y="3291840"/>
            <a:ext cx="40687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50" strike="noStrike" u="none">
                <a:solidFill>
                  <a:srgbClr val="b6c7d9"/>
                </a:solidFill>
                <a:effectLst/>
                <a:uFillTx/>
                <a:latin typeface="Aptos"/>
              </a:rPr>
              <a:t>focus engineers on supported signals, not noise</a:t>
            </a:r>
            <a:endParaRPr b="0" lang="en-US" sz="750" strike="noStrike" u="none">
              <a:solidFill>
                <a:srgbClr val="ffffff"/>
              </a:solidFill>
              <a:effectLst/>
              <a:uFillTx/>
              <a:latin typeface="Arial"/>
            </a:endParaRPr>
          </a:p>
        </p:txBody>
      </p:sp>
      <p:sp>
        <p:nvSpPr>
          <p:cNvPr id="285" name="Shape 19"/>
          <p:cNvSpPr/>
          <p:nvPr/>
        </p:nvSpPr>
        <p:spPr>
          <a:xfrm>
            <a:off x="6263640" y="2880360"/>
            <a:ext cx="5120280" cy="822600"/>
          </a:xfrm>
          <a:prstGeom prst="roundRect">
            <a:avLst>
              <a:gd name="adj" fmla="val 7778"/>
            </a:avLst>
          </a:prstGeom>
          <a:solidFill>
            <a:srgbClr val="0b1730">
              <a:alpha val="97000"/>
            </a:srgbClr>
          </a:solidFill>
          <a:ln w="10160">
            <a:solidFill>
              <a:srgbClr val="2ce6a2">
                <a:alpha val="85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6" name="Text 20"/>
          <p:cNvSpPr/>
          <p:nvPr/>
        </p:nvSpPr>
        <p:spPr>
          <a:xfrm>
            <a:off x="6519600" y="3044880"/>
            <a:ext cx="2739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2ce6a2"/>
                </a:solidFill>
                <a:effectLst/>
                <a:uFillTx/>
                <a:latin typeface="Aptos"/>
              </a:rPr>
              <a:t>4</a:t>
            </a:r>
            <a:endParaRPr b="0" lang="en-US" sz="1800" strike="noStrike" u="none">
              <a:solidFill>
                <a:srgbClr val="ffffff"/>
              </a:solidFill>
              <a:effectLst/>
              <a:uFillTx/>
              <a:latin typeface="Arial"/>
            </a:endParaRPr>
          </a:p>
        </p:txBody>
      </p:sp>
      <p:sp>
        <p:nvSpPr>
          <p:cNvPr id="287" name="Text 21"/>
          <p:cNvSpPr/>
          <p:nvPr/>
        </p:nvSpPr>
        <p:spPr>
          <a:xfrm>
            <a:off x="7013520" y="3044880"/>
            <a:ext cx="1828440" cy="164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200" strike="noStrike" u="none">
                <a:solidFill>
                  <a:srgbClr val="eaf6ff"/>
                </a:solidFill>
                <a:effectLst/>
                <a:uFillTx/>
                <a:latin typeface="Aptos"/>
              </a:rPr>
              <a:t>Protect margin</a:t>
            </a:r>
            <a:endParaRPr b="0" lang="en-US" sz="1200" strike="noStrike" u="none">
              <a:solidFill>
                <a:srgbClr val="ffffff"/>
              </a:solidFill>
              <a:effectLst/>
              <a:uFillTx/>
              <a:latin typeface="Arial"/>
            </a:endParaRPr>
          </a:p>
        </p:txBody>
      </p:sp>
      <p:sp>
        <p:nvSpPr>
          <p:cNvPr id="288" name="Text 22"/>
          <p:cNvSpPr/>
          <p:nvPr/>
        </p:nvSpPr>
        <p:spPr>
          <a:xfrm>
            <a:off x="7013520" y="3291840"/>
            <a:ext cx="406872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750" strike="noStrike" u="none">
                <a:solidFill>
                  <a:srgbClr val="b6c7d9"/>
                </a:solidFill>
                <a:effectLst/>
                <a:uFillTx/>
                <a:latin typeface="Aptos"/>
              </a:rPr>
              <a:t>reduce scrap, downgrade, claims, rework, and stoppage exposure</a:t>
            </a:r>
            <a:endParaRPr b="0" lang="en-US" sz="750" strike="noStrike" u="none">
              <a:solidFill>
                <a:srgbClr val="ffffff"/>
              </a:solidFill>
              <a:effectLst/>
              <a:uFillTx/>
              <a:latin typeface="Arial"/>
            </a:endParaRPr>
          </a:p>
        </p:txBody>
      </p:sp>
      <p:sp>
        <p:nvSpPr>
          <p:cNvPr id="289" name="Shape 23"/>
          <p:cNvSpPr/>
          <p:nvPr/>
        </p:nvSpPr>
        <p:spPr>
          <a:xfrm>
            <a:off x="1325880" y="5230440"/>
            <a:ext cx="9509400" cy="694440"/>
          </a:xfrm>
          <a:prstGeom prst="roundRect">
            <a:avLst>
              <a:gd name="adj" fmla="val 7895"/>
            </a:avLst>
          </a:prstGeom>
          <a:solidFill>
            <a:srgbClr val="0b1730">
              <a:alpha val="97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0" name="Shape 24"/>
          <p:cNvSpPr/>
          <p:nvPr/>
        </p:nvSpPr>
        <p:spPr>
          <a:xfrm>
            <a:off x="1325880" y="5230440"/>
            <a:ext cx="54360" cy="694440"/>
          </a:xfrm>
          <a:prstGeom prst="rect">
            <a:avLst/>
          </a:prstGeom>
          <a:solidFill>
            <a:srgbClr val="2ce6a2"/>
          </a:solidFill>
          <a:ln w="12700">
            <a:solidFill>
              <a:srgbClr val="2ce6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Text 25"/>
          <p:cNvSpPr/>
          <p:nvPr/>
        </p:nvSpPr>
        <p:spPr>
          <a:xfrm>
            <a:off x="1490400" y="5394960"/>
            <a:ext cx="92167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eaf6ff"/>
                </a:solidFill>
                <a:effectLst/>
                <a:uFillTx/>
                <a:latin typeface="Aptos"/>
              </a:rPr>
              <a:t>If one severe downgrade batch — or one hour of mill downtime — is avoided, the annual subscription can pay for itself.</a:t>
            </a:r>
            <a:endParaRPr b="0" lang="en-US" sz="1200" strike="noStrike" u="none">
              <a:solidFill>
                <a:srgbClr val="ffffff"/>
              </a:solidFill>
              <a:effectLst/>
              <a:uFillTx/>
              <a:latin typeface="Arial"/>
            </a:endParaRPr>
          </a:p>
        </p:txBody>
      </p:sp>
      <p:sp>
        <p:nvSpPr>
          <p:cNvPr id="292" name="Text 26"/>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293" name="Text 27"/>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294" name="Text 28"/>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09</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295" name="Image 0" descr="/mnt/data/a_high_tech_futuristic_data_industrial_infographic_batch_2.png"/>
          <p:cNvPicPr/>
          <p:nvPr/>
        </p:nvPicPr>
        <p:blipFill>
          <a:blip r:embed="rId1"/>
          <a:srcRect l="13999" t="0" r="-14049" b="0"/>
          <a:stretch/>
        </p:blipFill>
        <p:spPr>
          <a:xfrm>
            <a:off x="0" y="0"/>
            <a:ext cx="12191400" cy="6857640"/>
          </a:xfrm>
          <a:prstGeom prst="rect">
            <a:avLst/>
          </a:prstGeom>
          <a:noFill/>
          <a:ln w="0">
            <a:noFill/>
          </a:ln>
        </p:spPr>
      </p:pic>
      <p:sp>
        <p:nvSpPr>
          <p:cNvPr id="296" name="Shape 0"/>
          <p:cNvSpPr/>
          <p:nvPr/>
        </p:nvSpPr>
        <p:spPr>
          <a:xfrm>
            <a:off x="0" y="0"/>
            <a:ext cx="12191400" cy="6857640"/>
          </a:xfrm>
          <a:prstGeom prst="rect">
            <a:avLst/>
          </a:prstGeom>
          <a:solidFill>
            <a:srgbClr val="050b18">
              <a:alpha val="44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97"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8" name="Text 2"/>
          <p:cNvSpPr/>
          <p:nvPr/>
        </p:nvSpPr>
        <p:spPr>
          <a:xfrm>
            <a:off x="502920" y="411480"/>
            <a:ext cx="66747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ZERO OPERATIONAL RISK</a:t>
            </a:r>
            <a:endParaRPr b="0" lang="en-US" sz="850" strike="noStrike" u="none">
              <a:solidFill>
                <a:srgbClr val="ffffff"/>
              </a:solidFill>
              <a:effectLst/>
              <a:uFillTx/>
              <a:latin typeface="Arial"/>
            </a:endParaRPr>
          </a:p>
        </p:txBody>
      </p:sp>
      <p:sp>
        <p:nvSpPr>
          <p:cNvPr id="299" name="Text 3"/>
          <p:cNvSpPr/>
          <p:nvPr/>
        </p:nvSpPr>
        <p:spPr>
          <a:xfrm>
            <a:off x="502920" y="704160"/>
            <a:ext cx="667476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3000" strike="noStrike" u="none">
                <a:solidFill>
                  <a:srgbClr val="eaf6ff"/>
                </a:solidFill>
                <a:effectLst/>
                <a:uFillTx/>
                <a:latin typeface="Aptos"/>
              </a:rPr>
              <a:t>Intelligence without control-system risk.</a:t>
            </a:r>
            <a:endParaRPr b="0" lang="en-US" sz="3000" strike="noStrike" u="none">
              <a:solidFill>
                <a:srgbClr val="ffffff"/>
              </a:solidFill>
              <a:effectLst/>
              <a:uFillTx/>
              <a:latin typeface="Arial"/>
            </a:endParaRPr>
          </a:p>
        </p:txBody>
      </p:sp>
      <p:sp>
        <p:nvSpPr>
          <p:cNvPr id="300" name="Text 4"/>
          <p:cNvSpPr/>
          <p:nvPr/>
        </p:nvSpPr>
        <p:spPr>
          <a:xfrm>
            <a:off x="502920" y="1490400"/>
            <a:ext cx="667476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b6c7d9"/>
                </a:solidFill>
                <a:effectLst/>
                <a:uFillTx/>
                <a:latin typeface="Aptos"/>
              </a:rPr>
              <a:t>Strictly read-only: no setpoints, no recipes, no PLC commands.</a:t>
            </a:r>
            <a:endParaRPr b="0" lang="en-US" sz="1250" strike="noStrike" u="none">
              <a:solidFill>
                <a:srgbClr val="ffffff"/>
              </a:solidFill>
              <a:effectLst/>
              <a:uFillTx/>
              <a:latin typeface="Arial"/>
            </a:endParaRPr>
          </a:p>
        </p:txBody>
      </p:sp>
      <p:sp>
        <p:nvSpPr>
          <p:cNvPr id="301" name="Shape 5"/>
          <p:cNvSpPr/>
          <p:nvPr/>
        </p:nvSpPr>
        <p:spPr>
          <a:xfrm>
            <a:off x="9372600" y="411480"/>
            <a:ext cx="1599840" cy="328680"/>
          </a:xfrm>
          <a:prstGeom prst="roundRect">
            <a:avLst>
              <a:gd name="adj" fmla="val 11111"/>
            </a:avLst>
          </a:prstGeom>
          <a:solidFill>
            <a:srgbClr val="00d4ff">
              <a:alpha val="8000"/>
            </a:srgbClr>
          </a:solidFill>
          <a:ln w="8890">
            <a:solidFill>
              <a:srgbClr val="00d4f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02" name="Text 6"/>
          <p:cNvSpPr/>
          <p:nvPr/>
        </p:nvSpPr>
        <p:spPr>
          <a:xfrm>
            <a:off x="9372600" y="493920"/>
            <a:ext cx="15998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00d4ff"/>
                </a:solidFill>
                <a:effectLst/>
                <a:uFillTx/>
                <a:latin typeface="Aptos"/>
              </a:rPr>
              <a:t>IT / OT SAFE</a:t>
            </a:r>
            <a:endParaRPr b="0" lang="en-US" sz="580" strike="noStrike" u="none">
              <a:solidFill>
                <a:srgbClr val="ffffff"/>
              </a:solidFill>
              <a:effectLst/>
              <a:uFillTx/>
              <a:latin typeface="Arial"/>
            </a:endParaRPr>
          </a:p>
        </p:txBody>
      </p:sp>
      <p:sp>
        <p:nvSpPr>
          <p:cNvPr id="303" name="Shape 7"/>
          <p:cNvSpPr/>
          <p:nvPr/>
        </p:nvSpPr>
        <p:spPr>
          <a:xfrm>
            <a:off x="822960" y="2148840"/>
            <a:ext cx="2925720" cy="1828440"/>
          </a:xfrm>
          <a:prstGeom prst="roundRect">
            <a:avLst>
              <a:gd name="adj" fmla="val 4000"/>
            </a:avLst>
          </a:prstGeom>
          <a:solidFill>
            <a:srgbClr val="0b1730">
              <a:alpha val="96000"/>
            </a:srgbClr>
          </a:solidFill>
          <a:ln w="1270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4" name="Text 8"/>
          <p:cNvSpPr/>
          <p:nvPr/>
        </p:nvSpPr>
        <p:spPr>
          <a:xfrm>
            <a:off x="1005840" y="2423160"/>
            <a:ext cx="2559960" cy="136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00" strike="noStrike" u="none">
                <a:solidFill>
                  <a:srgbClr val="00d4ff"/>
                </a:solidFill>
                <a:effectLst/>
                <a:uFillTx/>
                <a:latin typeface="Aptos"/>
              </a:rPr>
              <a:t>PLANT SYSTEMS</a:t>
            </a:r>
            <a:endParaRPr b="0" lang="en-US" sz="900" strike="noStrike" u="none">
              <a:solidFill>
                <a:srgbClr val="ffffff"/>
              </a:solidFill>
              <a:effectLst/>
              <a:uFillTx/>
              <a:latin typeface="Arial"/>
            </a:endParaRPr>
          </a:p>
        </p:txBody>
      </p:sp>
      <p:sp>
        <p:nvSpPr>
          <p:cNvPr id="305" name="Shape 9"/>
          <p:cNvSpPr/>
          <p:nvPr/>
        </p:nvSpPr>
        <p:spPr>
          <a:xfrm>
            <a:off x="1097280" y="2788920"/>
            <a:ext cx="91404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6" name="Text 10"/>
          <p:cNvSpPr/>
          <p:nvPr/>
        </p:nvSpPr>
        <p:spPr>
          <a:xfrm>
            <a:off x="1170360" y="2962800"/>
            <a:ext cx="76788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MES</a:t>
            </a:r>
            <a:endParaRPr b="0" lang="en-US" sz="740" strike="noStrike" u="none">
              <a:solidFill>
                <a:srgbClr val="ffffff"/>
              </a:solidFill>
              <a:effectLst/>
              <a:uFillTx/>
              <a:latin typeface="Arial"/>
            </a:endParaRPr>
          </a:p>
        </p:txBody>
      </p:sp>
      <p:sp>
        <p:nvSpPr>
          <p:cNvPr id="307" name="Shape 11"/>
          <p:cNvSpPr/>
          <p:nvPr/>
        </p:nvSpPr>
        <p:spPr>
          <a:xfrm>
            <a:off x="2240280" y="2788920"/>
            <a:ext cx="91404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8" name="Text 12"/>
          <p:cNvSpPr/>
          <p:nvPr/>
        </p:nvSpPr>
        <p:spPr>
          <a:xfrm>
            <a:off x="2313360" y="2962800"/>
            <a:ext cx="76788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L2</a:t>
            </a:r>
            <a:endParaRPr b="0" lang="en-US" sz="740" strike="noStrike" u="none">
              <a:solidFill>
                <a:srgbClr val="ffffff"/>
              </a:solidFill>
              <a:effectLst/>
              <a:uFillTx/>
              <a:latin typeface="Arial"/>
            </a:endParaRPr>
          </a:p>
        </p:txBody>
      </p:sp>
      <p:sp>
        <p:nvSpPr>
          <p:cNvPr id="309" name="Shape 13"/>
          <p:cNvSpPr/>
          <p:nvPr/>
        </p:nvSpPr>
        <p:spPr>
          <a:xfrm>
            <a:off x="1097280" y="3300840"/>
            <a:ext cx="91404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0" name="Text 14"/>
          <p:cNvSpPr/>
          <p:nvPr/>
        </p:nvSpPr>
        <p:spPr>
          <a:xfrm>
            <a:off x="1170360" y="3474720"/>
            <a:ext cx="76788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SCADA</a:t>
            </a:r>
            <a:endParaRPr b="0" lang="en-US" sz="740" strike="noStrike" u="none">
              <a:solidFill>
                <a:srgbClr val="ffffff"/>
              </a:solidFill>
              <a:effectLst/>
              <a:uFillTx/>
              <a:latin typeface="Arial"/>
            </a:endParaRPr>
          </a:p>
        </p:txBody>
      </p:sp>
      <p:sp>
        <p:nvSpPr>
          <p:cNvPr id="311" name="Shape 15"/>
          <p:cNvSpPr/>
          <p:nvPr/>
        </p:nvSpPr>
        <p:spPr>
          <a:xfrm>
            <a:off x="2240280" y="3300840"/>
            <a:ext cx="914040" cy="529920"/>
          </a:xfrm>
          <a:prstGeom prst="roundRect">
            <a:avLst>
              <a:gd name="adj" fmla="val 13793"/>
            </a:avLst>
          </a:prstGeom>
          <a:solidFill>
            <a:srgbClr val="0b1730">
              <a:alpha val="95000"/>
            </a:srgbClr>
          </a:solidFill>
          <a:ln w="11430">
            <a:solidFill>
              <a:srgbClr val="00d4ff">
                <a:alpha val="92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2" name="Text 16"/>
          <p:cNvSpPr/>
          <p:nvPr/>
        </p:nvSpPr>
        <p:spPr>
          <a:xfrm>
            <a:off x="2313360" y="3474720"/>
            <a:ext cx="767880" cy="155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740" strike="noStrike" u="none">
                <a:solidFill>
                  <a:srgbClr val="eaf6ff"/>
                </a:solidFill>
                <a:effectLst/>
                <a:uFillTx/>
                <a:latin typeface="Aptos"/>
              </a:rPr>
              <a:t>Historian</a:t>
            </a:r>
            <a:endParaRPr b="0" lang="en-US" sz="740" strike="noStrike" u="none">
              <a:solidFill>
                <a:srgbClr val="ffffff"/>
              </a:solidFill>
              <a:effectLst/>
              <a:uFillTx/>
              <a:latin typeface="Arial"/>
            </a:endParaRPr>
          </a:p>
        </p:txBody>
      </p:sp>
      <p:sp>
        <p:nvSpPr>
          <p:cNvPr id="313" name="Shape 17"/>
          <p:cNvSpPr/>
          <p:nvPr/>
        </p:nvSpPr>
        <p:spPr>
          <a:xfrm>
            <a:off x="4617720" y="2030040"/>
            <a:ext cx="511560" cy="2148480"/>
          </a:xfrm>
          <a:prstGeom prst="rect">
            <a:avLst/>
          </a:prstGeom>
          <a:solidFill>
            <a:srgbClr val="2ce6a2">
              <a:alpha val="20000"/>
            </a:srgbClr>
          </a:solidFill>
          <a:ln w="1524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4" name="Text 18"/>
          <p:cNvSpPr/>
          <p:nvPr/>
        </p:nvSpPr>
        <p:spPr>
          <a:xfrm>
            <a:off x="4443840" y="2743200"/>
            <a:ext cx="86832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00" strike="noStrike" u="none">
                <a:solidFill>
                  <a:srgbClr val="2ce6a2"/>
                </a:solidFill>
                <a:effectLst/>
                <a:uFillTx/>
                <a:latin typeface="Aptos"/>
              </a:rPr>
              <a:t>READ-ONLY</a:t>
            </a:r>
            <a:endParaRPr b="0" lang="en-US" sz="800" strike="noStrike" u="none">
              <a:solidFill>
                <a:srgbClr val="ffffff"/>
              </a:solidFill>
              <a:effectLst/>
              <a:uFillTx/>
              <a:latin typeface="Arial"/>
            </a:endParaRPr>
          </a:p>
          <a:p>
            <a:pPr algn="ctr" defTabSz="914400">
              <a:lnSpc>
                <a:spcPct val="100000"/>
              </a:lnSpc>
              <a:tabLst>
                <a:tab algn="l" pos="0"/>
              </a:tabLst>
            </a:pPr>
            <a:r>
              <a:rPr b="1" lang="en-US" sz="800" strike="noStrike" u="none">
                <a:solidFill>
                  <a:srgbClr val="2ce6a2"/>
                </a:solidFill>
                <a:effectLst/>
                <a:uFillTx/>
                <a:latin typeface="Aptos"/>
              </a:rPr>
              <a:t>BOUNDARY</a:t>
            </a:r>
            <a:endParaRPr b="0" lang="en-US" sz="800" strike="noStrike" u="none">
              <a:solidFill>
                <a:srgbClr val="ffffff"/>
              </a:solidFill>
              <a:effectLst/>
              <a:uFillTx/>
              <a:latin typeface="Arial"/>
            </a:endParaRPr>
          </a:p>
        </p:txBody>
      </p:sp>
      <p:sp>
        <p:nvSpPr>
          <p:cNvPr id="315" name="Shape 19"/>
          <p:cNvSpPr/>
          <p:nvPr/>
        </p:nvSpPr>
        <p:spPr>
          <a:xfrm>
            <a:off x="6172200" y="2148840"/>
            <a:ext cx="3428640" cy="1828440"/>
          </a:xfrm>
          <a:prstGeom prst="roundRect">
            <a:avLst>
              <a:gd name="adj" fmla="val 4000"/>
            </a:avLst>
          </a:prstGeom>
          <a:solidFill>
            <a:srgbClr val="0b1730">
              <a:alpha val="96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6" name="Text 20"/>
          <p:cNvSpPr/>
          <p:nvPr/>
        </p:nvSpPr>
        <p:spPr>
          <a:xfrm>
            <a:off x="6400800" y="2541960"/>
            <a:ext cx="29714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300" strike="noStrike" u="none">
                <a:solidFill>
                  <a:srgbClr val="eaf6ff"/>
                </a:solidFill>
                <a:effectLst/>
                <a:uFillTx/>
                <a:latin typeface="Aptos"/>
              </a:rPr>
              <a:t>PLANTPROCESS IQ</a:t>
            </a:r>
            <a:endParaRPr b="0" lang="en-US" sz="1300" strike="noStrike" u="none">
              <a:solidFill>
                <a:srgbClr val="ffffff"/>
              </a:solidFill>
              <a:effectLst/>
              <a:uFillTx/>
              <a:latin typeface="Arial"/>
            </a:endParaRPr>
          </a:p>
        </p:txBody>
      </p:sp>
      <p:sp>
        <p:nvSpPr>
          <p:cNvPr id="317" name="Shape 21"/>
          <p:cNvSpPr/>
          <p:nvPr/>
        </p:nvSpPr>
        <p:spPr>
          <a:xfrm>
            <a:off x="6675120" y="3017520"/>
            <a:ext cx="1188360" cy="310680"/>
          </a:xfrm>
          <a:prstGeom prst="roundRect">
            <a:avLst>
              <a:gd name="adj" fmla="val 11765"/>
            </a:avLst>
          </a:prstGeom>
          <a:solidFill>
            <a:srgbClr val="ff4d6d">
              <a:alpha val="12000"/>
            </a:srgbClr>
          </a:solidFill>
          <a:ln w="7620">
            <a:solidFill>
              <a:srgbClr val="ff4d6d">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18" name="Text 22"/>
          <p:cNvSpPr/>
          <p:nvPr/>
        </p:nvSpPr>
        <p:spPr>
          <a:xfrm>
            <a:off x="6729840" y="3099960"/>
            <a:ext cx="107856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ff4d6d"/>
                </a:solidFill>
                <a:effectLst/>
                <a:uFillTx/>
                <a:latin typeface="Aptos"/>
              </a:rPr>
              <a:t>NO SETPOINTS</a:t>
            </a:r>
            <a:endParaRPr b="0" lang="en-US" sz="650" strike="noStrike" u="none">
              <a:solidFill>
                <a:srgbClr val="ffffff"/>
              </a:solidFill>
              <a:effectLst/>
              <a:uFillTx/>
              <a:latin typeface="Arial"/>
            </a:endParaRPr>
          </a:p>
        </p:txBody>
      </p:sp>
      <p:sp>
        <p:nvSpPr>
          <p:cNvPr id="319" name="Shape 23"/>
          <p:cNvSpPr/>
          <p:nvPr/>
        </p:nvSpPr>
        <p:spPr>
          <a:xfrm>
            <a:off x="8001000" y="3017520"/>
            <a:ext cx="1096920" cy="310680"/>
          </a:xfrm>
          <a:prstGeom prst="roundRect">
            <a:avLst>
              <a:gd name="adj" fmla="val 11765"/>
            </a:avLst>
          </a:prstGeom>
          <a:solidFill>
            <a:srgbClr val="ff4d6d">
              <a:alpha val="12000"/>
            </a:srgbClr>
          </a:solidFill>
          <a:ln w="7620">
            <a:solidFill>
              <a:srgbClr val="ff4d6d">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0" name="Text 24"/>
          <p:cNvSpPr/>
          <p:nvPr/>
        </p:nvSpPr>
        <p:spPr>
          <a:xfrm>
            <a:off x="8055720" y="3099960"/>
            <a:ext cx="987120" cy="9108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650" strike="noStrike" u="none">
                <a:solidFill>
                  <a:srgbClr val="ff4d6d"/>
                </a:solidFill>
                <a:effectLst/>
                <a:uFillTx/>
                <a:latin typeface="Aptos"/>
              </a:rPr>
              <a:t>NO RECIPES</a:t>
            </a:r>
            <a:endParaRPr b="0" lang="en-US" sz="650" strike="noStrike" u="none">
              <a:solidFill>
                <a:srgbClr val="ffffff"/>
              </a:solidFill>
              <a:effectLst/>
              <a:uFillTx/>
              <a:latin typeface="Arial"/>
            </a:endParaRPr>
          </a:p>
        </p:txBody>
      </p:sp>
      <p:sp>
        <p:nvSpPr>
          <p:cNvPr id="321" name="Shape 25"/>
          <p:cNvSpPr/>
          <p:nvPr/>
        </p:nvSpPr>
        <p:spPr>
          <a:xfrm>
            <a:off x="3730680" y="3063240"/>
            <a:ext cx="841320" cy="360"/>
          </a:xfrm>
          <a:prstGeom prst="line">
            <a:avLst/>
          </a:prstGeom>
          <a:ln w="1651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22" name="Shape 26"/>
          <p:cNvSpPr/>
          <p:nvPr/>
        </p:nvSpPr>
        <p:spPr>
          <a:xfrm>
            <a:off x="5102280" y="3063240"/>
            <a:ext cx="1042200" cy="360"/>
          </a:xfrm>
          <a:prstGeom prst="line">
            <a:avLst/>
          </a:prstGeom>
          <a:ln w="16510">
            <a:solidFill>
              <a:srgbClr val="2ce6a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23" name="Shape 27"/>
          <p:cNvSpPr/>
          <p:nvPr/>
        </p:nvSpPr>
        <p:spPr>
          <a:xfrm flipH="1">
            <a:off x="3931920" y="4297680"/>
            <a:ext cx="2103120" cy="360"/>
          </a:xfrm>
          <a:prstGeom prst="line">
            <a:avLst/>
          </a:prstGeom>
          <a:ln w="15240">
            <a:solidFill>
              <a:srgbClr val="ff4d6d"/>
            </a:solidFill>
            <a:round/>
            <a:head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24" name="Text 28"/>
          <p:cNvSpPr/>
          <p:nvPr/>
        </p:nvSpPr>
        <p:spPr>
          <a:xfrm>
            <a:off x="4443840" y="4462200"/>
            <a:ext cx="91404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650" strike="noStrike" u="none">
                <a:solidFill>
                  <a:srgbClr val="ff4d6d"/>
                </a:solidFill>
                <a:effectLst/>
                <a:uFillTx/>
                <a:latin typeface="Aptos"/>
              </a:rPr>
              <a:t>BLOCKED</a:t>
            </a:r>
            <a:endParaRPr b="0" lang="en-US" sz="650" strike="noStrike" u="none">
              <a:solidFill>
                <a:srgbClr val="ffffff"/>
              </a:solidFill>
              <a:effectLst/>
              <a:uFillTx/>
              <a:latin typeface="Arial"/>
            </a:endParaRPr>
          </a:p>
        </p:txBody>
      </p:sp>
      <p:sp>
        <p:nvSpPr>
          <p:cNvPr id="325" name="Text 29"/>
          <p:cNvSpPr/>
          <p:nvPr/>
        </p:nvSpPr>
        <p:spPr>
          <a:xfrm>
            <a:off x="1234440" y="5650920"/>
            <a:ext cx="960084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eaf6ff"/>
                </a:solidFill>
                <a:effectLst/>
                <a:uFillTx/>
                <a:latin typeface="Aptos"/>
              </a:rPr>
              <a:t>For IT / OT: we read approved sources, analyze externally, and support human decisions. We do not control production.</a:t>
            </a:r>
            <a:endParaRPr b="0" lang="en-US" sz="1200" strike="noStrike" u="none">
              <a:solidFill>
                <a:srgbClr val="ffffff"/>
              </a:solidFill>
              <a:effectLst/>
              <a:uFillTx/>
              <a:latin typeface="Arial"/>
            </a:endParaRPr>
          </a:p>
        </p:txBody>
      </p:sp>
      <p:sp>
        <p:nvSpPr>
          <p:cNvPr id="326" name="Text 30"/>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327" name="Text 31"/>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328" name="Text 32"/>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10</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sp>
        <p:nvSpPr>
          <p:cNvPr id="329" name="Shape 0"/>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0" name="Shape 1"/>
          <p:cNvSpPr/>
          <p:nvPr/>
        </p:nvSpPr>
        <p:spPr>
          <a:xfrm>
            <a:off x="0" y="0"/>
            <a:ext cx="12191400" cy="6857640"/>
          </a:xfrm>
          <a:prstGeom prst="rect">
            <a:avLst/>
          </a:prstGeom>
          <a:solidFill>
            <a:srgbClr val="050b18"/>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1" name="Text 2"/>
          <p:cNvSpPr/>
          <p:nvPr/>
        </p:nvSpPr>
        <p:spPr>
          <a:xfrm>
            <a:off x="502920" y="411480"/>
            <a:ext cx="804636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COMMERCIAL MODEL</a:t>
            </a:r>
            <a:endParaRPr b="0" lang="en-US" sz="850" strike="noStrike" u="none">
              <a:solidFill>
                <a:srgbClr val="ffffff"/>
              </a:solidFill>
              <a:effectLst/>
              <a:uFillTx/>
              <a:latin typeface="Arial"/>
            </a:endParaRPr>
          </a:p>
        </p:txBody>
      </p:sp>
      <p:sp>
        <p:nvSpPr>
          <p:cNvPr id="332" name="Text 3"/>
          <p:cNvSpPr/>
          <p:nvPr/>
        </p:nvSpPr>
        <p:spPr>
          <a:xfrm>
            <a:off x="502920" y="704160"/>
            <a:ext cx="8046360" cy="82260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3000" strike="noStrike" u="none">
                <a:solidFill>
                  <a:srgbClr val="eaf6ff"/>
                </a:solidFill>
                <a:effectLst/>
                <a:uFillTx/>
                <a:latin typeface="Aptos"/>
              </a:rPr>
              <a:t>Transparent investment. Immediate ROI path.</a:t>
            </a:r>
            <a:endParaRPr b="0" lang="en-US" sz="3000" strike="noStrike" u="none">
              <a:solidFill>
                <a:srgbClr val="ffffff"/>
              </a:solidFill>
              <a:effectLst/>
              <a:uFillTx/>
              <a:latin typeface="Arial"/>
            </a:endParaRPr>
          </a:p>
        </p:txBody>
      </p:sp>
      <p:sp>
        <p:nvSpPr>
          <p:cNvPr id="333" name="Text 4"/>
          <p:cNvSpPr/>
          <p:nvPr/>
        </p:nvSpPr>
        <p:spPr>
          <a:xfrm>
            <a:off x="502920" y="1490400"/>
            <a:ext cx="804636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00" strike="noStrike" u="none">
                <a:solidFill>
                  <a:srgbClr val="b6c7d9"/>
                </a:solidFill>
                <a:effectLst/>
                <a:uFillTx/>
                <a:latin typeface="Aptos"/>
              </a:rPr>
              <a:t>Installation + subscription, scaled by source complexity, active users, computational volume, and capability packs.</a:t>
            </a:r>
            <a:endParaRPr b="0" lang="en-US" sz="1200" strike="noStrike" u="none">
              <a:solidFill>
                <a:srgbClr val="ffffff"/>
              </a:solidFill>
              <a:effectLst/>
              <a:uFillTx/>
              <a:latin typeface="Arial"/>
            </a:endParaRPr>
          </a:p>
        </p:txBody>
      </p:sp>
      <p:sp>
        <p:nvSpPr>
          <p:cNvPr id="334" name="Shape 5"/>
          <p:cNvSpPr/>
          <p:nvPr/>
        </p:nvSpPr>
        <p:spPr>
          <a:xfrm>
            <a:off x="8869680" y="411480"/>
            <a:ext cx="2102760" cy="328680"/>
          </a:xfrm>
          <a:prstGeom prst="roundRect">
            <a:avLst>
              <a:gd name="adj" fmla="val 11111"/>
            </a:avLst>
          </a:prstGeom>
          <a:solidFill>
            <a:srgbClr val="ffb020">
              <a:alpha val="8000"/>
            </a:srgbClr>
          </a:solidFill>
          <a:ln w="8890">
            <a:solidFill>
              <a:srgbClr val="ffb02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5" name="Text 6"/>
          <p:cNvSpPr/>
          <p:nvPr/>
        </p:nvSpPr>
        <p:spPr>
          <a:xfrm>
            <a:off x="8869680" y="493920"/>
            <a:ext cx="210276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ffb020"/>
                </a:solidFill>
                <a:effectLst/>
                <a:uFillTx/>
                <a:latin typeface="Aptos"/>
              </a:rPr>
              <a:t>START WITH PROOF-OF-VALUE</a:t>
            </a:r>
            <a:endParaRPr b="0" lang="en-US" sz="580" strike="noStrike" u="none">
              <a:solidFill>
                <a:srgbClr val="ffffff"/>
              </a:solidFill>
              <a:effectLst/>
              <a:uFillTx/>
              <a:latin typeface="Arial"/>
            </a:endParaRPr>
          </a:p>
        </p:txBody>
      </p:sp>
      <p:sp>
        <p:nvSpPr>
          <p:cNvPr id="336" name="Shape 7"/>
          <p:cNvSpPr/>
          <p:nvPr/>
        </p:nvSpPr>
        <p:spPr>
          <a:xfrm>
            <a:off x="685800" y="1600200"/>
            <a:ext cx="3337200" cy="4023000"/>
          </a:xfrm>
          <a:prstGeom prst="roundRect">
            <a:avLst>
              <a:gd name="adj" fmla="val 2192"/>
            </a:avLst>
          </a:prstGeom>
          <a:solidFill>
            <a:srgbClr val="0b1730">
              <a:alpha val="97000"/>
            </a:srgbClr>
          </a:solidFill>
          <a:ln w="15240">
            <a:solidFill>
              <a:srgbClr val="00d4ff">
                <a:alpha val="90000"/>
              </a:srgbClr>
            </a:solidFill>
            <a:round/>
          </a:ln>
          <a:effectLst>
            <a:outerShdw algn="bl" blurRad="12600" dir="2700000" dist="50402" kx="0" ky="0" rotWithShape="0" sx="100000" sy="100000">
              <a:srgbClr val="00d4ff">
                <a:alpha val="14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37" name="Text 8"/>
          <p:cNvSpPr/>
          <p:nvPr/>
        </p:nvSpPr>
        <p:spPr>
          <a:xfrm>
            <a:off x="777240" y="1883520"/>
            <a:ext cx="315432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eaf6ff"/>
                </a:solidFill>
                <a:effectLst/>
                <a:uFillTx/>
                <a:latin typeface="Aptos"/>
              </a:rPr>
              <a:t>Foundation</a:t>
            </a:r>
            <a:endParaRPr b="0" lang="en-US" sz="1400" strike="noStrike" u="none">
              <a:solidFill>
                <a:srgbClr val="ffffff"/>
              </a:solidFill>
              <a:effectLst/>
              <a:uFillTx/>
              <a:latin typeface="Arial"/>
            </a:endParaRPr>
          </a:p>
        </p:txBody>
      </p:sp>
      <p:sp>
        <p:nvSpPr>
          <p:cNvPr id="338" name="Text 9"/>
          <p:cNvSpPr/>
          <p:nvPr/>
        </p:nvSpPr>
        <p:spPr>
          <a:xfrm>
            <a:off x="777240" y="2487240"/>
            <a:ext cx="315432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300" strike="noStrike" u="none">
                <a:solidFill>
                  <a:srgbClr val="00d4ff"/>
                </a:solidFill>
                <a:effectLst/>
                <a:uFillTx/>
                <a:latin typeface="Aptos"/>
              </a:rPr>
              <a:t>$12k</a:t>
            </a:r>
            <a:endParaRPr b="0" lang="en-US" sz="2300" strike="noStrike" u="none">
              <a:solidFill>
                <a:srgbClr val="ffffff"/>
              </a:solidFill>
              <a:effectLst/>
              <a:uFillTx/>
              <a:latin typeface="Arial"/>
            </a:endParaRPr>
          </a:p>
        </p:txBody>
      </p:sp>
      <p:sp>
        <p:nvSpPr>
          <p:cNvPr id="339" name="Text 10"/>
          <p:cNvSpPr/>
          <p:nvPr/>
        </p:nvSpPr>
        <p:spPr>
          <a:xfrm>
            <a:off x="777240" y="286200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one-time deployment &amp; integration</a:t>
            </a:r>
            <a:endParaRPr b="0" lang="en-US" sz="650" strike="noStrike" u="none">
              <a:solidFill>
                <a:srgbClr val="ffffff"/>
              </a:solidFill>
              <a:effectLst/>
              <a:uFillTx/>
              <a:latin typeface="Arial"/>
            </a:endParaRPr>
          </a:p>
        </p:txBody>
      </p:sp>
      <p:sp>
        <p:nvSpPr>
          <p:cNvPr id="340" name="Shape 11"/>
          <p:cNvSpPr/>
          <p:nvPr/>
        </p:nvSpPr>
        <p:spPr>
          <a:xfrm>
            <a:off x="1188720" y="3246120"/>
            <a:ext cx="2331720" cy="360"/>
          </a:xfrm>
          <a:prstGeom prst="line">
            <a:avLst/>
          </a:prstGeom>
          <a:ln w="10160">
            <a:solidFill>
              <a:srgbClr val="00d4ff">
                <a:alpha val="7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41" name="Text 12"/>
          <p:cNvSpPr/>
          <p:nvPr/>
        </p:nvSpPr>
        <p:spPr>
          <a:xfrm>
            <a:off x="777240" y="3502080"/>
            <a:ext cx="3154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eaf6ff"/>
                </a:solidFill>
                <a:effectLst/>
                <a:uFillTx/>
                <a:latin typeface="Aptos"/>
              </a:rPr>
              <a:t>$6k / mo</a:t>
            </a:r>
            <a:endParaRPr b="0" lang="en-US" sz="1800" strike="noStrike" u="none">
              <a:solidFill>
                <a:srgbClr val="ffffff"/>
              </a:solidFill>
              <a:effectLst/>
              <a:uFillTx/>
              <a:latin typeface="Arial"/>
            </a:endParaRPr>
          </a:p>
        </p:txBody>
      </p:sp>
      <p:sp>
        <p:nvSpPr>
          <p:cNvPr id="342" name="Text 13"/>
          <p:cNvSpPr/>
          <p:nvPr/>
        </p:nvSpPr>
        <p:spPr>
          <a:xfrm>
            <a:off x="777240" y="385884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monthly subscription</a:t>
            </a:r>
            <a:endParaRPr b="0" lang="en-US" sz="650" strike="noStrike" u="none">
              <a:solidFill>
                <a:srgbClr val="ffffff"/>
              </a:solidFill>
              <a:effectLst/>
              <a:uFillTx/>
              <a:latin typeface="Arial"/>
            </a:endParaRPr>
          </a:p>
        </p:txBody>
      </p:sp>
      <p:sp>
        <p:nvSpPr>
          <p:cNvPr id="343" name="Text 14"/>
          <p:cNvSpPr/>
          <p:nvPr/>
        </p:nvSpPr>
        <p:spPr>
          <a:xfrm>
            <a:off x="960120" y="4334400"/>
            <a:ext cx="2788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00d4ff"/>
                </a:solidFill>
                <a:effectLst/>
                <a:uFillTx/>
                <a:latin typeface="Aptos"/>
              </a:rPr>
              <a:t>Initial deployment &amp; mapping</a:t>
            </a:r>
            <a:endParaRPr b="0" lang="en-US" sz="950" strike="noStrike" u="none">
              <a:solidFill>
                <a:srgbClr val="ffffff"/>
              </a:solidFill>
              <a:effectLst/>
              <a:uFillTx/>
              <a:latin typeface="Arial"/>
            </a:endParaRPr>
          </a:p>
        </p:txBody>
      </p:sp>
      <p:sp>
        <p:nvSpPr>
          <p:cNvPr id="344" name="Text 15"/>
          <p:cNvSpPr/>
          <p:nvPr/>
        </p:nvSpPr>
        <p:spPr>
          <a:xfrm>
            <a:off x="1069920" y="4709160"/>
            <a:ext cx="255996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trike="noStrike" u="none">
                <a:solidFill>
                  <a:srgbClr val="b6c7d9"/>
                </a:solidFill>
                <a:effectLst/>
                <a:uFillTx/>
                <a:latin typeface="Aptos"/>
              </a:rPr>
              <a:t>1–3 data sources</a:t>
            </a:r>
            <a:endParaRPr b="0" lang="en-US" sz="740" strike="noStrike" u="none">
              <a:solidFill>
                <a:srgbClr val="ffffff"/>
              </a:solidFill>
              <a:effectLst/>
              <a:uFillTx/>
              <a:latin typeface="Arial"/>
            </a:endParaRPr>
          </a:p>
          <a:p>
            <a:pPr algn="ctr" defTabSz="914400">
              <a:lnSpc>
                <a:spcPct val="100000"/>
              </a:lnSpc>
              <a:tabLst>
                <a:tab algn="l" pos="0"/>
              </a:tabLst>
            </a:pPr>
            <a:r>
              <a:rPr b="0" lang="en-US" sz="740" strike="noStrike" u="none">
                <a:solidFill>
                  <a:srgbClr val="b6c7d9"/>
                </a:solidFill>
                <a:effectLst/>
                <a:uFillTx/>
                <a:latin typeface="Aptos"/>
              </a:rPr>
              <a:t>core pages + journey</a:t>
            </a:r>
            <a:endParaRPr b="0" lang="en-US" sz="740" strike="noStrike" u="none">
              <a:solidFill>
                <a:srgbClr val="ffffff"/>
              </a:solidFill>
              <a:effectLst/>
              <a:uFillTx/>
              <a:latin typeface="Arial"/>
            </a:endParaRPr>
          </a:p>
        </p:txBody>
      </p:sp>
      <p:sp>
        <p:nvSpPr>
          <p:cNvPr id="345" name="Shape 16"/>
          <p:cNvSpPr/>
          <p:nvPr/>
        </p:nvSpPr>
        <p:spPr>
          <a:xfrm>
            <a:off x="4453200" y="1600200"/>
            <a:ext cx="3337200" cy="4023000"/>
          </a:xfrm>
          <a:prstGeom prst="roundRect">
            <a:avLst>
              <a:gd name="adj" fmla="val 2192"/>
            </a:avLst>
          </a:prstGeom>
          <a:solidFill>
            <a:srgbClr val="0b1730">
              <a:alpha val="97000"/>
            </a:srgbClr>
          </a:solidFill>
          <a:ln w="15240">
            <a:solidFill>
              <a:srgbClr val="2ce6a2">
                <a:alpha val="90000"/>
              </a:srgbClr>
            </a:solidFill>
            <a:round/>
          </a:ln>
          <a:effectLst>
            <a:outerShdw algn="bl" blurRad="12600" dir="2700000" dist="50402" kx="0" ky="0" rotWithShape="0" sx="100000" sy="100000">
              <a:srgbClr val="2ce6a2">
                <a:alpha val="14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6" name="Text 17"/>
          <p:cNvSpPr/>
          <p:nvPr/>
        </p:nvSpPr>
        <p:spPr>
          <a:xfrm>
            <a:off x="4544640" y="1883520"/>
            <a:ext cx="315432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eaf6ff"/>
                </a:solidFill>
                <a:effectLst/>
                <a:uFillTx/>
                <a:latin typeface="Aptos"/>
              </a:rPr>
              <a:t>Advanced</a:t>
            </a:r>
            <a:endParaRPr b="0" lang="en-US" sz="1400" strike="noStrike" u="none">
              <a:solidFill>
                <a:srgbClr val="ffffff"/>
              </a:solidFill>
              <a:effectLst/>
              <a:uFillTx/>
              <a:latin typeface="Arial"/>
            </a:endParaRPr>
          </a:p>
        </p:txBody>
      </p:sp>
      <p:sp>
        <p:nvSpPr>
          <p:cNvPr id="347" name="Text 18"/>
          <p:cNvSpPr/>
          <p:nvPr/>
        </p:nvSpPr>
        <p:spPr>
          <a:xfrm>
            <a:off x="4544640" y="2487240"/>
            <a:ext cx="315432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300" strike="noStrike" u="none">
                <a:solidFill>
                  <a:srgbClr val="2ce6a2"/>
                </a:solidFill>
                <a:effectLst/>
                <a:uFillTx/>
                <a:latin typeface="Aptos"/>
              </a:rPr>
              <a:t>$28k</a:t>
            </a:r>
            <a:endParaRPr b="0" lang="en-US" sz="2300" strike="noStrike" u="none">
              <a:solidFill>
                <a:srgbClr val="ffffff"/>
              </a:solidFill>
              <a:effectLst/>
              <a:uFillTx/>
              <a:latin typeface="Arial"/>
            </a:endParaRPr>
          </a:p>
        </p:txBody>
      </p:sp>
      <p:sp>
        <p:nvSpPr>
          <p:cNvPr id="348" name="Text 19"/>
          <p:cNvSpPr/>
          <p:nvPr/>
        </p:nvSpPr>
        <p:spPr>
          <a:xfrm>
            <a:off x="4544640" y="286200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one-time deployment &amp; integration</a:t>
            </a:r>
            <a:endParaRPr b="0" lang="en-US" sz="650" strike="noStrike" u="none">
              <a:solidFill>
                <a:srgbClr val="ffffff"/>
              </a:solidFill>
              <a:effectLst/>
              <a:uFillTx/>
              <a:latin typeface="Arial"/>
            </a:endParaRPr>
          </a:p>
        </p:txBody>
      </p:sp>
      <p:sp>
        <p:nvSpPr>
          <p:cNvPr id="349" name="Shape 20"/>
          <p:cNvSpPr/>
          <p:nvPr/>
        </p:nvSpPr>
        <p:spPr>
          <a:xfrm>
            <a:off x="4955760" y="3246120"/>
            <a:ext cx="2331720" cy="360"/>
          </a:xfrm>
          <a:prstGeom prst="line">
            <a:avLst/>
          </a:prstGeom>
          <a:ln w="10160">
            <a:solidFill>
              <a:srgbClr val="2ce6a2">
                <a:alpha val="7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50" name="Text 21"/>
          <p:cNvSpPr/>
          <p:nvPr/>
        </p:nvSpPr>
        <p:spPr>
          <a:xfrm>
            <a:off x="4544640" y="3502080"/>
            <a:ext cx="3154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eaf6ff"/>
                </a:solidFill>
                <a:effectLst/>
                <a:uFillTx/>
                <a:latin typeface="Aptos"/>
              </a:rPr>
              <a:t>$14k / mo</a:t>
            </a:r>
            <a:endParaRPr b="0" lang="en-US" sz="1800" strike="noStrike" u="none">
              <a:solidFill>
                <a:srgbClr val="ffffff"/>
              </a:solidFill>
              <a:effectLst/>
              <a:uFillTx/>
              <a:latin typeface="Arial"/>
            </a:endParaRPr>
          </a:p>
        </p:txBody>
      </p:sp>
      <p:sp>
        <p:nvSpPr>
          <p:cNvPr id="351" name="Text 22"/>
          <p:cNvSpPr/>
          <p:nvPr/>
        </p:nvSpPr>
        <p:spPr>
          <a:xfrm>
            <a:off x="4544640" y="385884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monthly subscription</a:t>
            </a:r>
            <a:endParaRPr b="0" lang="en-US" sz="650" strike="noStrike" u="none">
              <a:solidFill>
                <a:srgbClr val="ffffff"/>
              </a:solidFill>
              <a:effectLst/>
              <a:uFillTx/>
              <a:latin typeface="Arial"/>
            </a:endParaRPr>
          </a:p>
        </p:txBody>
      </p:sp>
      <p:sp>
        <p:nvSpPr>
          <p:cNvPr id="352" name="Text 23"/>
          <p:cNvSpPr/>
          <p:nvPr/>
        </p:nvSpPr>
        <p:spPr>
          <a:xfrm>
            <a:off x="4727520" y="4334400"/>
            <a:ext cx="2788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2ce6a2"/>
                </a:solidFill>
                <a:effectLst/>
                <a:uFillTx/>
                <a:latin typeface="Aptos"/>
              </a:rPr>
              <a:t>Expanded source landscape</a:t>
            </a:r>
            <a:endParaRPr b="0" lang="en-US" sz="950" strike="noStrike" u="none">
              <a:solidFill>
                <a:srgbClr val="ffffff"/>
              </a:solidFill>
              <a:effectLst/>
              <a:uFillTx/>
              <a:latin typeface="Arial"/>
            </a:endParaRPr>
          </a:p>
        </p:txBody>
      </p:sp>
      <p:sp>
        <p:nvSpPr>
          <p:cNvPr id="353" name="Text 24"/>
          <p:cNvSpPr/>
          <p:nvPr/>
        </p:nvSpPr>
        <p:spPr>
          <a:xfrm>
            <a:off x="4837320" y="4709160"/>
            <a:ext cx="255996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trike="noStrike" u="none">
                <a:solidFill>
                  <a:srgbClr val="b6c7d9"/>
                </a:solidFill>
                <a:effectLst/>
                <a:uFillTx/>
                <a:latin typeface="Aptos"/>
              </a:rPr>
              <a:t>up to 8 data sources</a:t>
            </a:r>
            <a:endParaRPr b="0" lang="en-US" sz="740" strike="noStrike" u="none">
              <a:solidFill>
                <a:srgbClr val="ffffff"/>
              </a:solidFill>
              <a:effectLst/>
              <a:uFillTx/>
              <a:latin typeface="Arial"/>
            </a:endParaRPr>
          </a:p>
          <a:p>
            <a:pPr algn="ctr" defTabSz="914400">
              <a:lnSpc>
                <a:spcPct val="100000"/>
              </a:lnSpc>
              <a:tabLst>
                <a:tab algn="l" pos="0"/>
              </a:tabLst>
            </a:pPr>
            <a:r>
              <a:rPr b="0" lang="en-US" sz="740" strike="noStrike" u="none">
                <a:solidFill>
                  <a:srgbClr val="b6c7d9"/>
                </a:solidFill>
                <a:effectLst/>
                <a:uFillTx/>
                <a:latin typeface="Aptos"/>
              </a:rPr>
              <a:t>advanced analysis + assistant</a:t>
            </a:r>
            <a:endParaRPr b="0" lang="en-US" sz="740" strike="noStrike" u="none">
              <a:solidFill>
                <a:srgbClr val="ffffff"/>
              </a:solidFill>
              <a:effectLst/>
              <a:uFillTx/>
              <a:latin typeface="Arial"/>
            </a:endParaRPr>
          </a:p>
        </p:txBody>
      </p:sp>
      <p:sp>
        <p:nvSpPr>
          <p:cNvPr id="354" name="Shape 25"/>
          <p:cNvSpPr/>
          <p:nvPr/>
        </p:nvSpPr>
        <p:spPr>
          <a:xfrm>
            <a:off x="8220600" y="1600200"/>
            <a:ext cx="3337200" cy="4023000"/>
          </a:xfrm>
          <a:prstGeom prst="roundRect">
            <a:avLst>
              <a:gd name="adj" fmla="val 2192"/>
            </a:avLst>
          </a:prstGeom>
          <a:solidFill>
            <a:srgbClr val="0b1730">
              <a:alpha val="97000"/>
            </a:srgbClr>
          </a:solidFill>
          <a:ln w="15240">
            <a:solidFill>
              <a:srgbClr val="ffb020">
                <a:alpha val="90000"/>
              </a:srgbClr>
            </a:solidFill>
            <a:round/>
          </a:ln>
          <a:effectLst>
            <a:outerShdw algn="bl" blurRad="12600" dir="2700000" dist="50402" kx="0" ky="0" rotWithShape="0" sx="100000" sy="100000">
              <a:srgbClr val="ffb020">
                <a:alpha val="14000"/>
              </a:srgbClr>
            </a:outerShdw>
          </a:effectLst>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55" name="Text 26"/>
          <p:cNvSpPr/>
          <p:nvPr/>
        </p:nvSpPr>
        <p:spPr>
          <a:xfrm>
            <a:off x="8312040" y="1883520"/>
            <a:ext cx="3154320" cy="2008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400" strike="noStrike" u="none">
                <a:solidFill>
                  <a:srgbClr val="eaf6ff"/>
                </a:solidFill>
                <a:effectLst/>
                <a:uFillTx/>
                <a:latin typeface="Aptos"/>
              </a:rPr>
              <a:t>Enterprise</a:t>
            </a:r>
            <a:endParaRPr b="0" lang="en-US" sz="1400" strike="noStrike" u="none">
              <a:solidFill>
                <a:srgbClr val="ffffff"/>
              </a:solidFill>
              <a:effectLst/>
              <a:uFillTx/>
              <a:latin typeface="Arial"/>
            </a:endParaRPr>
          </a:p>
        </p:txBody>
      </p:sp>
      <p:sp>
        <p:nvSpPr>
          <p:cNvPr id="356" name="Text 27"/>
          <p:cNvSpPr/>
          <p:nvPr/>
        </p:nvSpPr>
        <p:spPr>
          <a:xfrm>
            <a:off x="8312040" y="2487240"/>
            <a:ext cx="3154320" cy="310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2300" strike="noStrike" u="none">
                <a:solidFill>
                  <a:srgbClr val="ffb020"/>
                </a:solidFill>
                <a:effectLst/>
                <a:uFillTx/>
                <a:latin typeface="Aptos"/>
              </a:rPr>
              <a:t>$50k</a:t>
            </a:r>
            <a:endParaRPr b="0" lang="en-US" sz="2300" strike="noStrike" u="none">
              <a:solidFill>
                <a:srgbClr val="ffffff"/>
              </a:solidFill>
              <a:effectLst/>
              <a:uFillTx/>
              <a:latin typeface="Arial"/>
            </a:endParaRPr>
          </a:p>
        </p:txBody>
      </p:sp>
      <p:sp>
        <p:nvSpPr>
          <p:cNvPr id="357" name="Text 28"/>
          <p:cNvSpPr/>
          <p:nvPr/>
        </p:nvSpPr>
        <p:spPr>
          <a:xfrm>
            <a:off x="8312040" y="286200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one-time deployment &amp; integration</a:t>
            </a:r>
            <a:endParaRPr b="0" lang="en-US" sz="650" strike="noStrike" u="none">
              <a:solidFill>
                <a:srgbClr val="ffffff"/>
              </a:solidFill>
              <a:effectLst/>
              <a:uFillTx/>
              <a:latin typeface="Arial"/>
            </a:endParaRPr>
          </a:p>
        </p:txBody>
      </p:sp>
      <p:sp>
        <p:nvSpPr>
          <p:cNvPr id="358" name="Shape 29"/>
          <p:cNvSpPr/>
          <p:nvPr/>
        </p:nvSpPr>
        <p:spPr>
          <a:xfrm>
            <a:off x="8723160" y="3246120"/>
            <a:ext cx="2331720" cy="360"/>
          </a:xfrm>
          <a:prstGeom prst="line">
            <a:avLst/>
          </a:prstGeom>
          <a:ln w="10160">
            <a:solidFill>
              <a:srgbClr val="ffb020">
                <a:alpha val="7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59" name="Text 30"/>
          <p:cNvSpPr/>
          <p:nvPr/>
        </p:nvSpPr>
        <p:spPr>
          <a:xfrm>
            <a:off x="8312040" y="3502080"/>
            <a:ext cx="31543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eaf6ff"/>
                </a:solidFill>
                <a:effectLst/>
                <a:uFillTx/>
                <a:latin typeface="Aptos"/>
              </a:rPr>
              <a:t>$25k / mo</a:t>
            </a:r>
            <a:endParaRPr b="0" lang="en-US" sz="1800" strike="noStrike" u="none">
              <a:solidFill>
                <a:srgbClr val="ffffff"/>
              </a:solidFill>
              <a:effectLst/>
              <a:uFillTx/>
              <a:latin typeface="Arial"/>
            </a:endParaRPr>
          </a:p>
        </p:txBody>
      </p:sp>
      <p:sp>
        <p:nvSpPr>
          <p:cNvPr id="360" name="Text 31"/>
          <p:cNvSpPr/>
          <p:nvPr/>
        </p:nvSpPr>
        <p:spPr>
          <a:xfrm>
            <a:off x="8312040" y="3858840"/>
            <a:ext cx="315432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650" strike="noStrike" u="none">
                <a:solidFill>
                  <a:srgbClr val="8ea7c1"/>
                </a:solidFill>
                <a:effectLst/>
                <a:uFillTx/>
                <a:latin typeface="Aptos"/>
              </a:rPr>
              <a:t>monthly subscription</a:t>
            </a:r>
            <a:endParaRPr b="0" lang="en-US" sz="650" strike="noStrike" u="none">
              <a:solidFill>
                <a:srgbClr val="ffffff"/>
              </a:solidFill>
              <a:effectLst/>
              <a:uFillTx/>
              <a:latin typeface="Arial"/>
            </a:endParaRPr>
          </a:p>
        </p:txBody>
      </p:sp>
      <p:sp>
        <p:nvSpPr>
          <p:cNvPr id="361" name="Text 32"/>
          <p:cNvSpPr/>
          <p:nvPr/>
        </p:nvSpPr>
        <p:spPr>
          <a:xfrm>
            <a:off x="8494920" y="4334400"/>
            <a:ext cx="2788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50" strike="noStrike" u="none">
                <a:solidFill>
                  <a:srgbClr val="ffb020"/>
                </a:solidFill>
                <a:effectLst/>
                <a:uFillTx/>
                <a:latin typeface="Aptos"/>
              </a:rPr>
              <a:t>Large plant / multi-pack deployment</a:t>
            </a:r>
            <a:endParaRPr b="0" lang="en-US" sz="950" strike="noStrike" u="none">
              <a:solidFill>
                <a:srgbClr val="ffffff"/>
              </a:solidFill>
              <a:effectLst/>
              <a:uFillTx/>
              <a:latin typeface="Arial"/>
            </a:endParaRPr>
          </a:p>
        </p:txBody>
      </p:sp>
      <p:sp>
        <p:nvSpPr>
          <p:cNvPr id="362" name="Text 33"/>
          <p:cNvSpPr/>
          <p:nvPr/>
        </p:nvSpPr>
        <p:spPr>
          <a:xfrm>
            <a:off x="8604360" y="4709160"/>
            <a:ext cx="255996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740" strike="noStrike" u="none">
                <a:solidFill>
                  <a:srgbClr val="b6c7d9"/>
                </a:solidFill>
                <a:effectLst/>
                <a:uFillTx/>
                <a:latin typeface="Aptos"/>
              </a:rPr>
              <a:t>unlimited scope options</a:t>
            </a:r>
            <a:endParaRPr b="0" lang="en-US" sz="740" strike="noStrike" u="none">
              <a:solidFill>
                <a:srgbClr val="ffffff"/>
              </a:solidFill>
              <a:effectLst/>
              <a:uFillTx/>
              <a:latin typeface="Arial"/>
            </a:endParaRPr>
          </a:p>
          <a:p>
            <a:pPr algn="ctr" defTabSz="914400">
              <a:lnSpc>
                <a:spcPct val="100000"/>
              </a:lnSpc>
              <a:tabLst>
                <a:tab algn="l" pos="0"/>
              </a:tabLst>
            </a:pPr>
            <a:r>
              <a:rPr b="0" lang="en-US" sz="740" strike="noStrike" u="none">
                <a:solidFill>
                  <a:srgbClr val="b6c7d9"/>
                </a:solidFill>
                <a:effectLst/>
                <a:uFillTx/>
                <a:latin typeface="Aptos"/>
              </a:rPr>
              <a:t>priority support + packs</a:t>
            </a:r>
            <a:endParaRPr b="0" lang="en-US" sz="740" strike="noStrike" u="none">
              <a:solidFill>
                <a:srgbClr val="ffffff"/>
              </a:solidFill>
              <a:effectLst/>
              <a:uFillTx/>
              <a:latin typeface="Arial"/>
            </a:endParaRPr>
          </a:p>
        </p:txBody>
      </p:sp>
      <p:sp>
        <p:nvSpPr>
          <p:cNvPr id="363" name="Text 34"/>
          <p:cNvSpPr/>
          <p:nvPr/>
        </p:nvSpPr>
        <p:spPr>
          <a:xfrm>
            <a:off x="1325880" y="5806440"/>
            <a:ext cx="960084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780" strike="noStrike" u="none">
                <a:solidFill>
                  <a:srgbClr val="8ea7c1"/>
                </a:solidFill>
                <a:effectLst/>
                <a:uFillTx/>
                <a:latin typeface="Aptos"/>
              </a:rPr>
              <a:t>Pricing variables: number of data sources · required mappings · pages/modifications · active users · compute volume · capability packs</a:t>
            </a:r>
            <a:endParaRPr b="0" lang="en-US" sz="780" strike="noStrike" u="none">
              <a:solidFill>
                <a:srgbClr val="ffffff"/>
              </a:solidFill>
              <a:effectLst/>
              <a:uFillTx/>
              <a:latin typeface="Arial"/>
            </a:endParaRPr>
          </a:p>
        </p:txBody>
      </p:sp>
      <p:sp>
        <p:nvSpPr>
          <p:cNvPr id="364" name="Text 35"/>
          <p:cNvSpPr/>
          <p:nvPr/>
        </p:nvSpPr>
        <p:spPr>
          <a:xfrm>
            <a:off x="1920240" y="6172200"/>
            <a:ext cx="8320680" cy="2282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2ce6a2"/>
                </a:solidFill>
                <a:effectLst/>
                <a:uFillTx/>
                <a:latin typeface="Aptos"/>
              </a:rPr>
              <a:t>Commercial logic: start with Proof-of-Value, then scale by proven plant value.</a:t>
            </a:r>
            <a:endParaRPr b="0" lang="en-US" sz="1200" strike="noStrike" u="none">
              <a:solidFill>
                <a:srgbClr val="ffffff"/>
              </a:solidFill>
              <a:effectLst/>
              <a:uFillTx/>
              <a:latin typeface="Arial"/>
            </a:endParaRPr>
          </a:p>
        </p:txBody>
      </p:sp>
      <p:sp>
        <p:nvSpPr>
          <p:cNvPr id="365" name="Text 36"/>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366" name="Text 37"/>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367" name="Text 38"/>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11</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50b18"/>
        </a:solidFill>
      </p:bgPr>
    </p:bg>
    <p:spTree>
      <p:nvGrpSpPr>
        <p:cNvPr id="1" name=""/>
        <p:cNvGrpSpPr/>
        <p:nvPr/>
      </p:nvGrpSpPr>
      <p:grpSpPr>
        <a:xfrm>
          <a:off x="0" y="0"/>
          <a:ext cx="0" cy="0"/>
          <a:chOff x="0" y="0"/>
          <a:chExt cx="0" cy="0"/>
        </a:xfrm>
      </p:grpSpPr>
      <p:pic>
        <p:nvPicPr>
          <p:cNvPr id="368" name="Image 0" descr="/mnt/data/a_wide_cinematic_high_tech_industrial_control_ro_batch_1.png"/>
          <p:cNvPicPr/>
          <p:nvPr/>
        </p:nvPicPr>
        <p:blipFill>
          <a:blip r:embed="rId1"/>
          <a:srcRect l="5000" t="0" r="-5050" b="0"/>
          <a:stretch/>
        </p:blipFill>
        <p:spPr>
          <a:xfrm>
            <a:off x="0" y="0"/>
            <a:ext cx="12191400" cy="6857640"/>
          </a:xfrm>
          <a:prstGeom prst="rect">
            <a:avLst/>
          </a:prstGeom>
          <a:noFill/>
          <a:ln w="0">
            <a:noFill/>
          </a:ln>
        </p:spPr>
      </p:pic>
      <p:sp>
        <p:nvSpPr>
          <p:cNvPr id="369" name="Shape 0"/>
          <p:cNvSpPr/>
          <p:nvPr/>
        </p:nvSpPr>
        <p:spPr>
          <a:xfrm>
            <a:off x="0" y="0"/>
            <a:ext cx="12191400" cy="6857640"/>
          </a:xfrm>
          <a:prstGeom prst="rect">
            <a:avLst/>
          </a:prstGeom>
          <a:solidFill>
            <a:srgbClr val="050b18">
              <a:alpha val="55000"/>
            </a:srgbClr>
          </a:solidFill>
          <a:ln w="12700">
            <a:solidFill>
              <a:srgbClr val="050b18">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0" name="Shape 1"/>
          <p:cNvSpPr/>
          <p:nvPr/>
        </p:nvSpPr>
        <p:spPr>
          <a:xfrm>
            <a:off x="0" y="0"/>
            <a:ext cx="12191400" cy="109440"/>
          </a:xfrm>
          <a:prstGeom prst="rect">
            <a:avLst/>
          </a:prstGeom>
          <a:solidFill>
            <a:srgbClr val="00d4ff"/>
          </a:solidFill>
          <a:ln w="12700">
            <a:solidFill>
              <a:srgbClr val="00d4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1" name="Text 2"/>
          <p:cNvSpPr/>
          <p:nvPr/>
        </p:nvSpPr>
        <p:spPr>
          <a:xfrm>
            <a:off x="594360" y="502920"/>
            <a:ext cx="731484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850" strike="noStrike" u="none">
                <a:solidFill>
                  <a:srgbClr val="00d4ff"/>
                </a:solidFill>
                <a:effectLst/>
                <a:uFillTx/>
                <a:latin typeface="Aptos"/>
              </a:rPr>
              <a:t>THE ASK</a:t>
            </a:r>
            <a:endParaRPr b="0" lang="en-US" sz="850" strike="noStrike" u="none">
              <a:solidFill>
                <a:srgbClr val="ffffff"/>
              </a:solidFill>
              <a:effectLst/>
              <a:uFillTx/>
              <a:latin typeface="Arial"/>
            </a:endParaRPr>
          </a:p>
        </p:txBody>
      </p:sp>
      <p:sp>
        <p:nvSpPr>
          <p:cNvPr id="372" name="Text 3"/>
          <p:cNvSpPr/>
          <p:nvPr/>
        </p:nvSpPr>
        <p:spPr>
          <a:xfrm>
            <a:off x="594360" y="795600"/>
            <a:ext cx="7314840" cy="822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400" strike="noStrike" u="none">
                <a:solidFill>
                  <a:srgbClr val="eaf6ff"/>
                </a:solidFill>
                <a:effectLst/>
                <a:uFillTx/>
                <a:latin typeface="Aptos"/>
              </a:rPr>
              <a:t>Let us prove it on your plant.</a:t>
            </a:r>
            <a:endParaRPr b="0" lang="en-US" sz="3400" strike="noStrike" u="none">
              <a:solidFill>
                <a:srgbClr val="ffffff"/>
              </a:solidFill>
              <a:effectLst/>
              <a:uFillTx/>
              <a:latin typeface="Arial"/>
            </a:endParaRPr>
          </a:p>
        </p:txBody>
      </p:sp>
      <p:sp>
        <p:nvSpPr>
          <p:cNvPr id="373" name="Text 4"/>
          <p:cNvSpPr/>
          <p:nvPr/>
        </p:nvSpPr>
        <p:spPr>
          <a:xfrm>
            <a:off x="594360" y="1581840"/>
            <a:ext cx="731484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400" strike="noStrike" u="none">
                <a:solidFill>
                  <a:srgbClr val="b6c7d9"/>
                </a:solidFill>
                <a:effectLst/>
                <a:uFillTx/>
                <a:latin typeface="Aptos"/>
              </a:rPr>
              <a:t>One plant. One costly defect. One read-only Proof-of-Value.</a:t>
            </a:r>
            <a:endParaRPr b="0" lang="en-US" sz="1400" strike="noStrike" u="none">
              <a:solidFill>
                <a:srgbClr val="ffffff"/>
              </a:solidFill>
              <a:effectLst/>
              <a:uFillTx/>
              <a:latin typeface="Arial"/>
            </a:endParaRPr>
          </a:p>
        </p:txBody>
      </p:sp>
      <p:sp>
        <p:nvSpPr>
          <p:cNvPr id="374" name="Shape 5"/>
          <p:cNvSpPr/>
          <p:nvPr/>
        </p:nvSpPr>
        <p:spPr>
          <a:xfrm>
            <a:off x="9464040" y="502920"/>
            <a:ext cx="1416960" cy="328680"/>
          </a:xfrm>
          <a:prstGeom prst="roundRect">
            <a:avLst>
              <a:gd name="adj" fmla="val 11111"/>
            </a:avLst>
          </a:prstGeom>
          <a:solidFill>
            <a:srgbClr val="2ce6a2">
              <a:alpha val="8000"/>
            </a:srgbClr>
          </a:solidFill>
          <a:ln w="8890">
            <a:solidFill>
              <a:srgbClr val="2ce6a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5" name="Text 6"/>
          <p:cNvSpPr/>
          <p:nvPr/>
        </p:nvSpPr>
        <p:spPr>
          <a:xfrm>
            <a:off x="9464040" y="585360"/>
            <a:ext cx="141696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580" strike="noStrike" u="none">
                <a:solidFill>
                  <a:srgbClr val="2ce6a2"/>
                </a:solidFill>
                <a:effectLst/>
                <a:uFillTx/>
                <a:latin typeface="Aptos"/>
              </a:rPr>
              <a:t>NEXT STEP</a:t>
            </a:r>
            <a:endParaRPr b="0" lang="en-US" sz="580" strike="noStrike" u="none">
              <a:solidFill>
                <a:srgbClr val="ffffff"/>
              </a:solidFill>
              <a:effectLst/>
              <a:uFillTx/>
              <a:latin typeface="Arial"/>
            </a:endParaRPr>
          </a:p>
        </p:txBody>
      </p:sp>
      <p:sp>
        <p:nvSpPr>
          <p:cNvPr id="376" name="Shape 7"/>
          <p:cNvSpPr/>
          <p:nvPr/>
        </p:nvSpPr>
        <p:spPr>
          <a:xfrm>
            <a:off x="822960" y="2377440"/>
            <a:ext cx="2331360" cy="1508400"/>
          </a:xfrm>
          <a:prstGeom prst="roundRect">
            <a:avLst>
              <a:gd name="adj" fmla="val 4848"/>
            </a:avLst>
          </a:prstGeom>
          <a:solidFill>
            <a:srgbClr val="0b1730">
              <a:alpha val="96000"/>
            </a:srgbClr>
          </a:solidFill>
          <a:ln w="1270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77" name="Text 8"/>
          <p:cNvSpPr/>
          <p:nvPr/>
        </p:nvSpPr>
        <p:spPr>
          <a:xfrm>
            <a:off x="932760" y="2615040"/>
            <a:ext cx="21027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1</a:t>
            </a:r>
            <a:endParaRPr b="0" lang="en-US" sz="1800" strike="noStrike" u="none">
              <a:solidFill>
                <a:srgbClr val="ffffff"/>
              </a:solidFill>
              <a:effectLst/>
              <a:uFillTx/>
              <a:latin typeface="Arial"/>
            </a:endParaRPr>
          </a:p>
        </p:txBody>
      </p:sp>
      <p:sp>
        <p:nvSpPr>
          <p:cNvPr id="378" name="Text 9"/>
          <p:cNvSpPr/>
          <p:nvPr/>
        </p:nvSpPr>
        <p:spPr>
          <a:xfrm>
            <a:off x="932760" y="3035880"/>
            <a:ext cx="21027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eaf6ff"/>
                </a:solidFill>
                <a:effectLst/>
                <a:uFillTx/>
                <a:latin typeface="Aptos"/>
              </a:rPr>
              <a:t>Select outcome</a:t>
            </a:r>
            <a:endParaRPr b="0" lang="en-US" sz="1100" strike="noStrike" u="none">
              <a:solidFill>
                <a:srgbClr val="ffffff"/>
              </a:solidFill>
              <a:effectLst/>
              <a:uFillTx/>
              <a:latin typeface="Arial"/>
            </a:endParaRPr>
          </a:p>
        </p:txBody>
      </p:sp>
      <p:sp>
        <p:nvSpPr>
          <p:cNvPr id="379" name="Text 10"/>
          <p:cNvSpPr/>
          <p:nvPr/>
        </p:nvSpPr>
        <p:spPr>
          <a:xfrm>
            <a:off x="1005840" y="3337560"/>
            <a:ext cx="19656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trike="noStrike" u="none">
                <a:solidFill>
                  <a:srgbClr val="b6c7d9"/>
                </a:solidFill>
                <a:effectLst/>
                <a:uFillTx/>
                <a:latin typeface="Aptos"/>
              </a:rPr>
              <a:t>recurring defect, downtime, claim, or quality loss</a:t>
            </a:r>
            <a:endParaRPr b="0" lang="en-US" sz="670" strike="noStrike" u="none">
              <a:solidFill>
                <a:srgbClr val="ffffff"/>
              </a:solidFill>
              <a:effectLst/>
              <a:uFillTx/>
              <a:latin typeface="Arial"/>
            </a:endParaRPr>
          </a:p>
        </p:txBody>
      </p:sp>
      <p:sp>
        <p:nvSpPr>
          <p:cNvPr id="380" name="Shape 11"/>
          <p:cNvSpPr/>
          <p:nvPr/>
        </p:nvSpPr>
        <p:spPr>
          <a:xfrm>
            <a:off x="3154680" y="3126960"/>
            <a:ext cx="411480" cy="360"/>
          </a:xfrm>
          <a:prstGeom prst="line">
            <a:avLst/>
          </a:prstGeom>
          <a:ln w="1524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81" name="Shape 12"/>
          <p:cNvSpPr/>
          <p:nvPr/>
        </p:nvSpPr>
        <p:spPr>
          <a:xfrm>
            <a:off x="3611880" y="2377440"/>
            <a:ext cx="2331360" cy="1508400"/>
          </a:xfrm>
          <a:prstGeom prst="roundRect">
            <a:avLst>
              <a:gd name="adj" fmla="val 4848"/>
            </a:avLst>
          </a:prstGeom>
          <a:solidFill>
            <a:srgbClr val="0b1730">
              <a:alpha val="96000"/>
            </a:srgbClr>
          </a:solidFill>
          <a:ln w="1270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2" name="Text 13"/>
          <p:cNvSpPr/>
          <p:nvPr/>
        </p:nvSpPr>
        <p:spPr>
          <a:xfrm>
            <a:off x="3721680" y="2615040"/>
            <a:ext cx="21027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2</a:t>
            </a:r>
            <a:endParaRPr b="0" lang="en-US" sz="1800" strike="noStrike" u="none">
              <a:solidFill>
                <a:srgbClr val="ffffff"/>
              </a:solidFill>
              <a:effectLst/>
              <a:uFillTx/>
              <a:latin typeface="Arial"/>
            </a:endParaRPr>
          </a:p>
        </p:txBody>
      </p:sp>
      <p:sp>
        <p:nvSpPr>
          <p:cNvPr id="383" name="Text 14"/>
          <p:cNvSpPr/>
          <p:nvPr/>
        </p:nvSpPr>
        <p:spPr>
          <a:xfrm>
            <a:off x="3721680" y="3035880"/>
            <a:ext cx="21027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eaf6ff"/>
                </a:solidFill>
                <a:effectLst/>
                <a:uFillTx/>
                <a:latin typeface="Aptos"/>
              </a:rPr>
              <a:t>Read-only access</a:t>
            </a:r>
            <a:endParaRPr b="0" lang="en-US" sz="1100" strike="noStrike" u="none">
              <a:solidFill>
                <a:srgbClr val="ffffff"/>
              </a:solidFill>
              <a:effectLst/>
              <a:uFillTx/>
              <a:latin typeface="Arial"/>
            </a:endParaRPr>
          </a:p>
        </p:txBody>
      </p:sp>
      <p:sp>
        <p:nvSpPr>
          <p:cNvPr id="384" name="Text 15"/>
          <p:cNvSpPr/>
          <p:nvPr/>
        </p:nvSpPr>
        <p:spPr>
          <a:xfrm>
            <a:off x="3794760" y="3337560"/>
            <a:ext cx="19656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trike="noStrike" u="none">
                <a:solidFill>
                  <a:srgbClr val="b6c7d9"/>
                </a:solidFill>
                <a:effectLst/>
                <a:uFillTx/>
                <a:latin typeface="Aptos"/>
              </a:rPr>
              <a:t>approved sources only; no control-system write-back</a:t>
            </a:r>
            <a:endParaRPr b="0" lang="en-US" sz="670" strike="noStrike" u="none">
              <a:solidFill>
                <a:srgbClr val="ffffff"/>
              </a:solidFill>
              <a:effectLst/>
              <a:uFillTx/>
              <a:latin typeface="Arial"/>
            </a:endParaRPr>
          </a:p>
        </p:txBody>
      </p:sp>
      <p:sp>
        <p:nvSpPr>
          <p:cNvPr id="385" name="Shape 16"/>
          <p:cNvSpPr/>
          <p:nvPr/>
        </p:nvSpPr>
        <p:spPr>
          <a:xfrm>
            <a:off x="5943600" y="3126960"/>
            <a:ext cx="411480" cy="360"/>
          </a:xfrm>
          <a:prstGeom prst="line">
            <a:avLst/>
          </a:prstGeom>
          <a:ln w="15240">
            <a:solidFill>
              <a:srgbClr val="00d4ff"/>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86" name="Shape 17"/>
          <p:cNvSpPr/>
          <p:nvPr/>
        </p:nvSpPr>
        <p:spPr>
          <a:xfrm>
            <a:off x="6400800" y="2377440"/>
            <a:ext cx="2331360" cy="1508400"/>
          </a:xfrm>
          <a:prstGeom prst="roundRect">
            <a:avLst>
              <a:gd name="adj" fmla="val 4848"/>
            </a:avLst>
          </a:prstGeom>
          <a:solidFill>
            <a:srgbClr val="0b1730">
              <a:alpha val="96000"/>
            </a:srgbClr>
          </a:solidFill>
          <a:ln w="12700">
            <a:solidFill>
              <a:srgbClr val="00d4ff">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87" name="Text 18"/>
          <p:cNvSpPr/>
          <p:nvPr/>
        </p:nvSpPr>
        <p:spPr>
          <a:xfrm>
            <a:off x="6510600" y="2615040"/>
            <a:ext cx="21027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00d4ff"/>
                </a:solidFill>
                <a:effectLst/>
                <a:uFillTx/>
                <a:latin typeface="Aptos"/>
              </a:rPr>
              <a:t>3</a:t>
            </a:r>
            <a:endParaRPr b="0" lang="en-US" sz="1800" strike="noStrike" u="none">
              <a:solidFill>
                <a:srgbClr val="ffffff"/>
              </a:solidFill>
              <a:effectLst/>
              <a:uFillTx/>
              <a:latin typeface="Arial"/>
            </a:endParaRPr>
          </a:p>
        </p:txBody>
      </p:sp>
      <p:sp>
        <p:nvSpPr>
          <p:cNvPr id="388" name="Text 19"/>
          <p:cNvSpPr/>
          <p:nvPr/>
        </p:nvSpPr>
        <p:spPr>
          <a:xfrm>
            <a:off x="6510600" y="3035880"/>
            <a:ext cx="21027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eaf6ff"/>
                </a:solidFill>
                <a:effectLst/>
                <a:uFillTx/>
                <a:latin typeface="Aptos"/>
              </a:rPr>
              <a:t>Run the thread</a:t>
            </a:r>
            <a:endParaRPr b="0" lang="en-US" sz="1100" strike="noStrike" u="none">
              <a:solidFill>
                <a:srgbClr val="ffffff"/>
              </a:solidFill>
              <a:effectLst/>
              <a:uFillTx/>
              <a:latin typeface="Arial"/>
            </a:endParaRPr>
          </a:p>
        </p:txBody>
      </p:sp>
      <p:sp>
        <p:nvSpPr>
          <p:cNvPr id="389" name="Text 20"/>
          <p:cNvSpPr/>
          <p:nvPr/>
        </p:nvSpPr>
        <p:spPr>
          <a:xfrm>
            <a:off x="6583680" y="3337560"/>
            <a:ext cx="19656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trike="noStrike" u="none">
                <a:solidFill>
                  <a:srgbClr val="b6c7d9"/>
                </a:solidFill>
                <a:effectLst/>
                <a:uFillTx/>
                <a:latin typeface="Aptos"/>
              </a:rPr>
              <a:t>import, map, reconstruct lineage, analyze, generate findings</a:t>
            </a:r>
            <a:endParaRPr b="0" lang="en-US" sz="670" strike="noStrike" u="none">
              <a:solidFill>
                <a:srgbClr val="ffffff"/>
              </a:solidFill>
              <a:effectLst/>
              <a:uFillTx/>
              <a:latin typeface="Arial"/>
            </a:endParaRPr>
          </a:p>
        </p:txBody>
      </p:sp>
      <p:sp>
        <p:nvSpPr>
          <p:cNvPr id="390" name="Shape 21"/>
          <p:cNvSpPr/>
          <p:nvPr/>
        </p:nvSpPr>
        <p:spPr>
          <a:xfrm>
            <a:off x="8732520" y="3126960"/>
            <a:ext cx="411480" cy="360"/>
          </a:xfrm>
          <a:prstGeom prst="line">
            <a:avLst/>
          </a:prstGeom>
          <a:ln w="15240">
            <a:solidFill>
              <a:srgbClr val="2ce6a2"/>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391" name="Shape 22"/>
          <p:cNvSpPr/>
          <p:nvPr/>
        </p:nvSpPr>
        <p:spPr>
          <a:xfrm>
            <a:off x="9189720" y="2377440"/>
            <a:ext cx="2331360" cy="1508400"/>
          </a:xfrm>
          <a:prstGeom prst="roundRect">
            <a:avLst>
              <a:gd name="adj" fmla="val 4848"/>
            </a:avLst>
          </a:prstGeom>
          <a:solidFill>
            <a:srgbClr val="0b1730">
              <a:alpha val="96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2" name="Text 23"/>
          <p:cNvSpPr/>
          <p:nvPr/>
        </p:nvSpPr>
        <p:spPr>
          <a:xfrm>
            <a:off x="9299520" y="2615040"/>
            <a:ext cx="21027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800" strike="noStrike" u="none">
                <a:solidFill>
                  <a:srgbClr val="2ce6a2"/>
                </a:solidFill>
                <a:effectLst/>
                <a:uFillTx/>
                <a:latin typeface="Aptos"/>
              </a:rPr>
              <a:t>4</a:t>
            </a:r>
            <a:endParaRPr b="0" lang="en-US" sz="1800" strike="noStrike" u="none">
              <a:solidFill>
                <a:srgbClr val="ffffff"/>
              </a:solidFill>
              <a:effectLst/>
              <a:uFillTx/>
              <a:latin typeface="Arial"/>
            </a:endParaRPr>
          </a:p>
        </p:txBody>
      </p:sp>
      <p:sp>
        <p:nvSpPr>
          <p:cNvPr id="393" name="Text 24"/>
          <p:cNvSpPr/>
          <p:nvPr/>
        </p:nvSpPr>
        <p:spPr>
          <a:xfrm>
            <a:off x="9299520" y="3035880"/>
            <a:ext cx="2102760" cy="164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eaf6ff"/>
                </a:solidFill>
                <a:effectLst/>
                <a:uFillTx/>
                <a:latin typeface="Aptos"/>
              </a:rPr>
              <a:t>Decision meeting</a:t>
            </a:r>
            <a:endParaRPr b="0" lang="en-US" sz="1100" strike="noStrike" u="none">
              <a:solidFill>
                <a:srgbClr val="ffffff"/>
              </a:solidFill>
              <a:effectLst/>
              <a:uFillTx/>
              <a:latin typeface="Arial"/>
            </a:endParaRPr>
          </a:p>
        </p:txBody>
      </p:sp>
      <p:sp>
        <p:nvSpPr>
          <p:cNvPr id="394" name="Text 25"/>
          <p:cNvSpPr/>
          <p:nvPr/>
        </p:nvSpPr>
        <p:spPr>
          <a:xfrm>
            <a:off x="9372600" y="3337560"/>
            <a:ext cx="1965600" cy="2923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670" strike="noStrike" u="none">
                <a:solidFill>
                  <a:srgbClr val="b6c7d9"/>
                </a:solidFill>
                <a:effectLst/>
                <a:uFillTx/>
                <a:latin typeface="Aptos"/>
              </a:rPr>
              <a:t>show signal, null controls, evidence, and business case</a:t>
            </a:r>
            <a:endParaRPr b="0" lang="en-US" sz="670" strike="noStrike" u="none">
              <a:solidFill>
                <a:srgbClr val="ffffff"/>
              </a:solidFill>
              <a:effectLst/>
              <a:uFillTx/>
              <a:latin typeface="Arial"/>
            </a:endParaRPr>
          </a:p>
        </p:txBody>
      </p:sp>
      <p:sp>
        <p:nvSpPr>
          <p:cNvPr id="395" name="Shape 26"/>
          <p:cNvSpPr/>
          <p:nvPr/>
        </p:nvSpPr>
        <p:spPr>
          <a:xfrm>
            <a:off x="2331720" y="5074920"/>
            <a:ext cx="7543440" cy="639720"/>
          </a:xfrm>
          <a:prstGeom prst="roundRect">
            <a:avLst>
              <a:gd name="adj" fmla="val 8571"/>
            </a:avLst>
          </a:prstGeom>
          <a:solidFill>
            <a:srgbClr val="0b1730">
              <a:alpha val="97000"/>
            </a:srgbClr>
          </a:solidFill>
          <a:ln w="12700">
            <a:solidFill>
              <a:srgbClr val="2ce6a2">
                <a:alpha val="90000"/>
              </a:srgbClr>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96" name="Shape 27"/>
          <p:cNvSpPr/>
          <p:nvPr/>
        </p:nvSpPr>
        <p:spPr>
          <a:xfrm>
            <a:off x="2331720" y="5074920"/>
            <a:ext cx="54360" cy="639720"/>
          </a:xfrm>
          <a:prstGeom prst="rect">
            <a:avLst/>
          </a:prstGeom>
          <a:solidFill>
            <a:srgbClr val="2ce6a2"/>
          </a:solidFill>
          <a:ln w="12700">
            <a:solidFill>
              <a:srgbClr val="2ce6a2">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7" name="Text 28"/>
          <p:cNvSpPr/>
          <p:nvPr/>
        </p:nvSpPr>
        <p:spPr>
          <a:xfrm>
            <a:off x="2496240" y="5239440"/>
            <a:ext cx="725076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eaf6ff"/>
                </a:solidFill>
                <a:effectLst/>
                <a:uFillTx/>
                <a:latin typeface="Aptos"/>
              </a:rPr>
              <a:t>If the signal exists, we surface it with evidence. If it does not, we say so.</a:t>
            </a:r>
            <a:endParaRPr b="0" lang="en-US" sz="1200" strike="noStrike" u="none">
              <a:solidFill>
                <a:srgbClr val="ffffff"/>
              </a:solidFill>
              <a:effectLst/>
              <a:uFillTx/>
              <a:latin typeface="Arial"/>
            </a:endParaRPr>
          </a:p>
        </p:txBody>
      </p:sp>
      <p:sp>
        <p:nvSpPr>
          <p:cNvPr id="398" name="Shape 29"/>
          <p:cNvSpPr/>
          <p:nvPr/>
        </p:nvSpPr>
        <p:spPr>
          <a:xfrm>
            <a:off x="4224600" y="5870520"/>
            <a:ext cx="3748680" cy="493560"/>
          </a:xfrm>
          <a:prstGeom prst="roundRect">
            <a:avLst>
              <a:gd name="adj" fmla="val 14815"/>
            </a:avLst>
          </a:prstGeom>
          <a:solidFill>
            <a:srgbClr val="2ce6a2"/>
          </a:solidFill>
          <a:ln w="12700">
            <a:solidFill>
              <a:srgbClr val="2ce6a2">
                <a:alpha val="0"/>
              </a:srgbClr>
            </a:solidFill>
            <a:round/>
          </a:ln>
          <a:effectLst>
            <a:outerShdw algn="bl" blurRad="25560" dir="2700000" dist="50402" kx="0" ky="0" rotWithShape="0" sx="100000" sy="100000">
              <a:srgbClr val="2ce6a2">
                <a:alpha val="26000"/>
              </a:srgbClr>
            </a:outerShdw>
          </a:effectLst>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99" name="Text 30"/>
          <p:cNvSpPr/>
          <p:nvPr/>
        </p:nvSpPr>
        <p:spPr>
          <a:xfrm>
            <a:off x="4224600" y="6016680"/>
            <a:ext cx="3748680" cy="1094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00" strike="noStrike" u="none">
                <a:solidFill>
                  <a:srgbClr val="050b18"/>
                </a:solidFill>
                <a:effectLst/>
                <a:uFillTx/>
                <a:latin typeface="Aptos"/>
              </a:rPr>
              <a:t>INITIATE PROOF OF VALUE</a:t>
            </a:r>
            <a:endParaRPr b="0" lang="en-US" sz="1000" strike="noStrike" u="none">
              <a:solidFill>
                <a:srgbClr val="ffffff"/>
              </a:solidFill>
              <a:effectLst/>
              <a:uFillTx/>
              <a:latin typeface="Arial"/>
            </a:endParaRPr>
          </a:p>
        </p:txBody>
      </p:sp>
      <p:sp>
        <p:nvSpPr>
          <p:cNvPr id="400" name="Text 31"/>
          <p:cNvSpPr/>
          <p:nvPr/>
        </p:nvSpPr>
        <p:spPr>
          <a:xfrm>
            <a:off x="320040" y="6565320"/>
            <a:ext cx="146268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550" strike="noStrike" u="none">
                <a:solidFill>
                  <a:srgbClr val="8ea7c1"/>
                </a:solidFill>
                <a:effectLst/>
                <a:uFillTx/>
                <a:latin typeface="Aptos"/>
              </a:rPr>
              <a:t>PlantProcess IQ</a:t>
            </a:r>
            <a:endParaRPr b="0" lang="en-US" sz="550" strike="noStrike" u="none">
              <a:solidFill>
                <a:srgbClr val="ffffff"/>
              </a:solidFill>
              <a:effectLst/>
              <a:uFillTx/>
              <a:latin typeface="Arial"/>
            </a:endParaRPr>
          </a:p>
        </p:txBody>
      </p:sp>
      <p:sp>
        <p:nvSpPr>
          <p:cNvPr id="401" name="Text 32"/>
          <p:cNvSpPr/>
          <p:nvPr/>
        </p:nvSpPr>
        <p:spPr>
          <a:xfrm>
            <a:off x="10652760" y="6565320"/>
            <a:ext cx="11883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550" strike="noStrike" u="none">
                <a:solidFill>
                  <a:srgbClr val="8ea7c1"/>
                </a:solidFill>
                <a:effectLst/>
                <a:uFillTx/>
                <a:latin typeface="Aptos"/>
              </a:rPr>
              <a:t>SOU Industrial Software</a:t>
            </a:r>
            <a:endParaRPr b="0" lang="en-US" sz="550" strike="noStrike" u="none">
              <a:solidFill>
                <a:srgbClr val="ffffff"/>
              </a:solidFill>
              <a:effectLst/>
              <a:uFillTx/>
              <a:latin typeface="Arial"/>
            </a:endParaRPr>
          </a:p>
        </p:txBody>
      </p:sp>
      <p:sp>
        <p:nvSpPr>
          <p:cNvPr id="402" name="Text 33"/>
          <p:cNvSpPr/>
          <p:nvPr/>
        </p:nvSpPr>
        <p:spPr>
          <a:xfrm>
            <a:off x="5897880" y="6519600"/>
            <a:ext cx="365400" cy="182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700" strike="noStrike" u="none">
                <a:solidFill>
                  <a:srgbClr val="8ea7c1"/>
                </a:solidFill>
                <a:effectLst/>
                <a:uFillTx/>
                <a:latin typeface="Aptos"/>
              </a:rPr>
              <a:t>12</a:t>
            </a:r>
            <a:endParaRPr b="0" lang="en-US" sz="7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SOU Industrial Software</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2026-07-16T12:51:05Z</dcterms:created>
  <dc:creator>SOU Industrial Software</dc:creator>
  <dc:description/>
  <dc:language>en-US</dc:language>
  <cp:lastModifiedBy>SOU Industrial Software</cp:lastModifiedBy>
  <dcterms:modified xsi:type="dcterms:W3CDTF">2026-07-16T12:51:05Z</dcterms:modified>
  <cp:revision>1</cp:revision>
  <dc:subject>PlantProcess IQ Demo Day Executive Pitch</dc:subject>
  <dc:title>PlantProcess IQ — Demo Day Executive 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12</vt:r8>
  </property>
  <property fmtid="{D5CDD505-2E9C-101B-9397-08002B2CF9AE}" pid="3" name="PresentationFormat">
    <vt:lpwstr>On-screen Show (16:9)</vt:lpwstr>
  </property>
  <property fmtid="{D5CDD505-2E9C-101B-9397-08002B2CF9AE}" pid="4" name="Slides">
    <vt:r8>12</vt:r8>
  </property>
</Properties>
</file>