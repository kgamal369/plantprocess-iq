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open: PPIQ connects the data your plant systems already produce and helps your engineers investigate quality and downtime faster, with evidence. Read-only. It never writes back to a control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pain in their language. The genealogy crossing many systems with mismatched keys is the universal flat-steel problem. Everyone in the room has lived the spreadsheet reconstruction.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generic mandate is the moat: nothing about a specific plant is hardcoded. This is what lets one product install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powerful live moment in the demo. Click from a defect to chemistry, then back. Then point out population is always stated - that honesty is the trust-builder.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the obvious objection (it's only correlation) before they raise it. A confident wrong answer is worse than an honest collecting-data. This is what makes an engineer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procurement veto-holder. The full Security &amp; Data-Protection brief backs every line here with how it's implemented. Read-only is the non-negotiable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someone says we already have Power BI. The difference is genealogy + honest drivers + value + the read-only posture. A BI tool starts after the hard part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edition split outcome-focused. Exact feature matrix and pricing go in the proposal, not the deck. If asked for price: indicative per-plant annual range, confirmed per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low risk: read-only, time-boxed, written success criteria, fee credited on conversion. Fill the bracketed numbers from your pilot offer document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Speak to the specific plant realities - that's what proves you understand steel, not a generic analytics pitch. Fill years and background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demo ask. The exit you want is a scheduled pilot conversation. Fill contact + website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B18"/>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50B18"/>
          </a:solidFill>
          <a:ln/>
        </p:spPr>
      </p:sp>
      <p:sp>
        <p:nvSpPr>
          <p:cNvPr id="3" name="Shape 1"/>
          <p:cNvSpPr/>
          <p:nvPr/>
        </p:nvSpPr>
        <p:spPr>
          <a:xfrm>
            <a:off x="10195560" y="1417320"/>
            <a:ext cx="-868680" cy="-477774"/>
          </a:xfrm>
          <a:prstGeom prst="line">
            <a:avLst/>
          </a:prstGeom>
          <a:noFill/>
          <a:ln w="12700">
            <a:solidFill>
              <a:srgbClr val="00D4FF">
                <a:alpha val="45000"/>
              </a:srgbClr>
            </a:solidFill>
            <a:prstDash val="solid"/>
          </a:ln>
        </p:spPr>
      </p:sp>
      <p:sp>
        <p:nvSpPr>
          <p:cNvPr id="4" name="Shape 2"/>
          <p:cNvSpPr/>
          <p:nvPr/>
        </p:nvSpPr>
        <p:spPr>
          <a:xfrm>
            <a:off x="10195560" y="1417320"/>
            <a:ext cx="868680" cy="-477774"/>
          </a:xfrm>
          <a:prstGeom prst="line">
            <a:avLst/>
          </a:prstGeom>
          <a:noFill/>
          <a:ln w="12700">
            <a:solidFill>
              <a:srgbClr val="00D4FF">
                <a:alpha val="45000"/>
              </a:srgbClr>
            </a:solidFill>
            <a:prstDash val="solid"/>
          </a:ln>
        </p:spPr>
      </p:sp>
      <p:sp>
        <p:nvSpPr>
          <p:cNvPr id="5" name="Shape 3"/>
          <p:cNvSpPr/>
          <p:nvPr/>
        </p:nvSpPr>
        <p:spPr>
          <a:xfrm>
            <a:off x="10195560" y="1417320"/>
            <a:ext cx="-868680" cy="477774"/>
          </a:xfrm>
          <a:prstGeom prst="line">
            <a:avLst/>
          </a:prstGeom>
          <a:noFill/>
          <a:ln w="12700">
            <a:solidFill>
              <a:srgbClr val="00D4FF">
                <a:alpha val="45000"/>
              </a:srgbClr>
            </a:solidFill>
            <a:prstDash val="solid"/>
          </a:ln>
        </p:spPr>
      </p:sp>
      <p:sp>
        <p:nvSpPr>
          <p:cNvPr id="6" name="Shape 4"/>
          <p:cNvSpPr/>
          <p:nvPr/>
        </p:nvSpPr>
        <p:spPr>
          <a:xfrm>
            <a:off x="10195560" y="1417320"/>
            <a:ext cx="868680" cy="477774"/>
          </a:xfrm>
          <a:prstGeom prst="line">
            <a:avLst/>
          </a:prstGeom>
          <a:noFill/>
          <a:ln w="12700">
            <a:solidFill>
              <a:srgbClr val="00D4FF">
                <a:alpha val="45000"/>
              </a:srgbClr>
            </a:solidFill>
            <a:prstDash val="solid"/>
          </a:ln>
        </p:spPr>
      </p:sp>
      <p:sp>
        <p:nvSpPr>
          <p:cNvPr id="7" name="Shape 5"/>
          <p:cNvSpPr/>
          <p:nvPr/>
        </p:nvSpPr>
        <p:spPr>
          <a:xfrm>
            <a:off x="10195560" y="1417320"/>
            <a:ext cx="0" cy="-912114"/>
          </a:xfrm>
          <a:prstGeom prst="line">
            <a:avLst/>
          </a:prstGeom>
          <a:noFill/>
          <a:ln w="12700">
            <a:solidFill>
              <a:srgbClr val="00D4FF">
                <a:alpha val="45000"/>
              </a:srgbClr>
            </a:solidFill>
            <a:prstDash val="solid"/>
          </a:ln>
        </p:spPr>
      </p:sp>
      <p:sp>
        <p:nvSpPr>
          <p:cNvPr id="8" name="Shape 6"/>
          <p:cNvSpPr/>
          <p:nvPr/>
        </p:nvSpPr>
        <p:spPr>
          <a:xfrm>
            <a:off x="9281160" y="893826"/>
            <a:ext cx="91440" cy="91440"/>
          </a:xfrm>
          <a:prstGeom prst="ellipse">
            <a:avLst/>
          </a:prstGeom>
          <a:solidFill>
            <a:srgbClr val="0A84FF"/>
          </a:solidFill>
          <a:ln/>
        </p:spPr>
      </p:sp>
      <p:sp>
        <p:nvSpPr>
          <p:cNvPr id="9" name="Shape 7"/>
          <p:cNvSpPr/>
          <p:nvPr/>
        </p:nvSpPr>
        <p:spPr>
          <a:xfrm>
            <a:off x="11018520" y="893826"/>
            <a:ext cx="91440" cy="91440"/>
          </a:xfrm>
          <a:prstGeom prst="ellipse">
            <a:avLst/>
          </a:prstGeom>
          <a:solidFill>
            <a:srgbClr val="0A84FF"/>
          </a:solidFill>
          <a:ln/>
        </p:spPr>
      </p:sp>
      <p:sp>
        <p:nvSpPr>
          <p:cNvPr id="10" name="Shape 8"/>
          <p:cNvSpPr/>
          <p:nvPr/>
        </p:nvSpPr>
        <p:spPr>
          <a:xfrm>
            <a:off x="9281160" y="1849374"/>
            <a:ext cx="91440" cy="91440"/>
          </a:xfrm>
          <a:prstGeom prst="ellipse">
            <a:avLst/>
          </a:prstGeom>
          <a:solidFill>
            <a:srgbClr val="0A84FF"/>
          </a:solidFill>
          <a:ln/>
        </p:spPr>
      </p:sp>
      <p:sp>
        <p:nvSpPr>
          <p:cNvPr id="11" name="Shape 9"/>
          <p:cNvSpPr/>
          <p:nvPr/>
        </p:nvSpPr>
        <p:spPr>
          <a:xfrm>
            <a:off x="11018520" y="1849374"/>
            <a:ext cx="91440" cy="91440"/>
          </a:xfrm>
          <a:prstGeom prst="ellipse">
            <a:avLst/>
          </a:prstGeom>
          <a:solidFill>
            <a:srgbClr val="0A84FF"/>
          </a:solidFill>
          <a:ln/>
        </p:spPr>
      </p:sp>
      <p:sp>
        <p:nvSpPr>
          <p:cNvPr id="12" name="Shape 10"/>
          <p:cNvSpPr/>
          <p:nvPr/>
        </p:nvSpPr>
        <p:spPr>
          <a:xfrm>
            <a:off x="10149840" y="459486"/>
            <a:ext cx="91440" cy="91440"/>
          </a:xfrm>
          <a:prstGeom prst="ellipse">
            <a:avLst/>
          </a:prstGeom>
          <a:solidFill>
            <a:srgbClr val="0A84FF"/>
          </a:solidFill>
          <a:ln/>
        </p:spPr>
      </p:sp>
      <p:sp>
        <p:nvSpPr>
          <p:cNvPr id="13" name="Shape 11"/>
          <p:cNvSpPr/>
          <p:nvPr/>
        </p:nvSpPr>
        <p:spPr>
          <a:xfrm>
            <a:off x="10094976" y="1316736"/>
            <a:ext cx="201168" cy="201168"/>
          </a:xfrm>
          <a:prstGeom prst="ellipse">
            <a:avLst/>
          </a:prstGeom>
          <a:solidFill>
            <a:srgbClr val="00D4FF"/>
          </a:solidFill>
          <a:ln/>
        </p:spPr>
      </p:sp>
      <p:sp>
        <p:nvSpPr>
          <p:cNvPr id="14" name="Text 12"/>
          <p:cNvSpPr/>
          <p:nvPr/>
        </p:nvSpPr>
        <p:spPr>
          <a:xfrm>
            <a:off x="640080" y="2148840"/>
            <a:ext cx="10058400" cy="365760"/>
          </a:xfrm>
          <a:prstGeom prst="rect">
            <a:avLst/>
          </a:prstGeom>
          <a:noFill/>
          <a:ln/>
        </p:spPr>
        <p:txBody>
          <a:bodyPr wrap="square" lIns="0" tIns="0" rIns="0" bIns="0" rtlCol="0" anchor="ctr"/>
          <a:lstStyle/>
          <a:p>
            <a:pPr indent="0" marL="0">
              <a:buNone/>
            </a:pPr>
            <a:r>
              <a:rPr lang="en-US" sz="1400" spc="400" kern="0" dirty="0">
                <a:solidFill>
                  <a:srgbClr val="00D4FF"/>
                </a:solidFill>
                <a:latin typeface="Calibri" pitchFamily="34" charset="0"/>
                <a:ea typeface="Calibri" pitchFamily="34" charset="-122"/>
                <a:cs typeface="Calibri" pitchFamily="34" charset="-120"/>
              </a:rPr>
              <a:t>PROCESS-TO-QUALITY INTELLIGENCE</a:t>
            </a:r>
            <a:endParaRPr lang="en-US" sz="1400" dirty="0"/>
          </a:p>
        </p:txBody>
      </p:sp>
      <p:sp>
        <p:nvSpPr>
          <p:cNvPr id="15" name="Text 13"/>
          <p:cNvSpPr/>
          <p:nvPr/>
        </p:nvSpPr>
        <p:spPr>
          <a:xfrm>
            <a:off x="566928" y="2542032"/>
            <a:ext cx="10972800" cy="1097280"/>
          </a:xfrm>
          <a:prstGeom prst="rect">
            <a:avLst/>
          </a:prstGeom>
          <a:noFill/>
          <a:ln/>
        </p:spPr>
        <p:txBody>
          <a:bodyPr wrap="square" lIns="0" tIns="0" rIns="0" bIns="0" rtlCol="0" anchor="ctr"/>
          <a:lstStyle/>
          <a:p>
            <a:pPr indent="0" marL="0">
              <a:buNone/>
            </a:pPr>
            <a:r>
              <a:rPr lang="en-US" sz="6000" b="1" dirty="0">
                <a:solidFill>
                  <a:srgbClr val="EAF6FF"/>
                </a:solidFill>
                <a:latin typeface="Cambria" pitchFamily="34" charset="0"/>
                <a:ea typeface="Cambria" pitchFamily="34" charset="-122"/>
                <a:cs typeface="Cambria" pitchFamily="34" charset="-120"/>
              </a:rPr>
              <a:t>PlantProcess IQ</a:t>
            </a:r>
            <a:endParaRPr lang="en-US" sz="6000" dirty="0"/>
          </a:p>
        </p:txBody>
      </p:sp>
      <p:sp>
        <p:nvSpPr>
          <p:cNvPr id="16" name="Text 14"/>
          <p:cNvSpPr/>
          <p:nvPr/>
        </p:nvSpPr>
        <p:spPr>
          <a:xfrm>
            <a:off x="603504" y="3703320"/>
            <a:ext cx="10515600" cy="548640"/>
          </a:xfrm>
          <a:prstGeom prst="rect">
            <a:avLst/>
          </a:prstGeom>
          <a:noFill/>
          <a:ln/>
        </p:spPr>
        <p:txBody>
          <a:bodyPr wrap="square" lIns="0" tIns="0" rIns="0" bIns="0" rtlCol="0" anchor="ctr"/>
          <a:lstStyle/>
          <a:p>
            <a:pPr indent="0" marL="0">
              <a:buNone/>
            </a:pPr>
            <a:r>
              <a:rPr lang="en-US" sz="2200" dirty="0">
                <a:solidFill>
                  <a:srgbClr val="8EA7C1"/>
                </a:solidFill>
                <a:latin typeface="Calibri" pitchFamily="34" charset="0"/>
                <a:ea typeface="Calibri" pitchFamily="34" charset="-122"/>
                <a:cs typeface="Calibri" pitchFamily="34" charset="-120"/>
              </a:rPr>
              <a:t>Connect your plant data. Understand your process.</a:t>
            </a:r>
            <a:endParaRPr lang="en-US" sz="2200" dirty="0"/>
          </a:p>
        </p:txBody>
      </p:sp>
      <p:sp>
        <p:nvSpPr>
          <p:cNvPr id="17" name="Text 15"/>
          <p:cNvSpPr/>
          <p:nvPr/>
        </p:nvSpPr>
        <p:spPr>
          <a:xfrm>
            <a:off x="603504" y="5029200"/>
            <a:ext cx="10515600" cy="914400"/>
          </a:xfrm>
          <a:prstGeom prst="rect">
            <a:avLst/>
          </a:prstGeom>
          <a:noFill/>
          <a:ln/>
        </p:spPr>
        <p:txBody>
          <a:bodyPr wrap="square" lIns="0" tIns="0" rIns="0" bIns="0" rtlCol="0" anchor="ctr"/>
          <a:lstStyle/>
          <a:p>
            <a:pPr indent="0" marL="0">
              <a:lnSpc>
                <a:spcPct val="130000"/>
              </a:lnSpc>
              <a:buNone/>
            </a:pPr>
            <a:r>
              <a:rPr lang="en-US" sz="1500" dirty="0">
                <a:solidFill>
                  <a:srgbClr val="EAF6FF"/>
                </a:solidFill>
                <a:latin typeface="Calibri" pitchFamily="34" charset="0"/>
                <a:ea typeface="Calibri" pitchFamily="34" charset="-122"/>
                <a:cs typeface="Calibri" pitchFamily="34" charset="-120"/>
              </a:rPr>
              <a:t>A read-only, evidence-grade intelligence layer for manufacturing plants.</a:t>
            </a:r>
            <a:endParaRPr lang="en-US" sz="1500" dirty="0"/>
          </a:p>
          <a:p>
            <a:pPr indent="0" marL="0">
              <a:lnSpc>
                <a:spcPct val="130000"/>
              </a:lnSpc>
              <a:buNone/>
            </a:pPr>
            <a:r>
              <a:rPr lang="en-US" sz="1300" dirty="0">
                <a:solidFill>
                  <a:srgbClr val="8EA7C1"/>
                </a:solidFill>
                <a:latin typeface="Calibri" pitchFamily="34" charset="0"/>
                <a:ea typeface="Calibri" pitchFamily="34" charset="-122"/>
                <a:cs typeface="Calibri" pitchFamily="34" charset="-120"/>
              </a:rPr>
              <a:t>SOU Industrial Software  ·  Dusseldorf, Germany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Your plant already has the data. It's just unreachable.</a:t>
            </a:r>
            <a:endParaRPr lang="en-US" sz="3000" dirty="0"/>
          </a:p>
        </p:txBody>
      </p:sp>
      <p:sp>
        <p:nvSpPr>
          <p:cNvPr id="4" name="Shape 2"/>
          <p:cNvSpPr/>
          <p:nvPr/>
        </p:nvSpPr>
        <p:spPr>
          <a:xfrm>
            <a:off x="548640" y="1874520"/>
            <a:ext cx="1106424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68680" y="2258568"/>
            <a:ext cx="502920" cy="502920"/>
          </a:xfrm>
          <a:prstGeom prst="ellipse">
            <a:avLst/>
          </a:prstGeom>
          <a:solidFill>
            <a:srgbClr val="102A43"/>
          </a:solidFill>
          <a:ln w="15875">
            <a:solidFill>
              <a:srgbClr val="00D4FF"/>
            </a:solidFill>
            <a:prstDash val="solid"/>
          </a:ln>
        </p:spPr>
      </p:sp>
      <p:sp>
        <p:nvSpPr>
          <p:cNvPr id="6" name="Text 4"/>
          <p:cNvSpPr/>
          <p:nvPr/>
        </p:nvSpPr>
        <p:spPr>
          <a:xfrm>
            <a:off x="868680" y="2258568"/>
            <a:ext cx="502920" cy="502920"/>
          </a:xfrm>
          <a:prstGeom prst="rect">
            <a:avLst/>
          </a:prstGeom>
          <a:noFill/>
          <a:ln/>
        </p:spPr>
        <p:txBody>
          <a:bodyPr wrap="square" lIns="0" tIns="0" rIns="0" bIns="0" rtlCol="0" anchor="ctr"/>
          <a:lstStyle/>
          <a:p>
            <a:pPr algn="ctr" indent="0" marL="0">
              <a:buNone/>
            </a:pPr>
            <a:r>
              <a:rPr lang="en-US" sz="2000" b="1" dirty="0">
                <a:solidFill>
                  <a:srgbClr val="00D4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00200" y="2039112"/>
            <a:ext cx="9692640" cy="365760"/>
          </a:xfrm>
          <a:prstGeom prst="rect">
            <a:avLst/>
          </a:prstGeom>
          <a:noFill/>
          <a:ln/>
        </p:spPr>
        <p:txBody>
          <a:bodyPr wrap="square" lIns="0" tIns="0" rIns="0" bIns="0" rtlCol="0" anchor="ctr"/>
          <a:lstStyle/>
          <a:p>
            <a:pPr indent="0" marL="0">
              <a:buNone/>
            </a:pPr>
            <a:r>
              <a:rPr lang="en-US" sz="1800" b="1" dirty="0">
                <a:solidFill>
                  <a:srgbClr val="EAF6FF"/>
                </a:solidFill>
                <a:latin typeface="Cambria" pitchFamily="34" charset="0"/>
                <a:ea typeface="Cambria" pitchFamily="34" charset="-122"/>
                <a:cs typeface="Cambria" pitchFamily="34" charset="-120"/>
              </a:rPr>
              <a:t>Fragmented across systems</a:t>
            </a:r>
            <a:endParaRPr lang="en-US" sz="1800" dirty="0"/>
          </a:p>
        </p:txBody>
      </p:sp>
      <p:sp>
        <p:nvSpPr>
          <p:cNvPr id="8" name="Text 6"/>
          <p:cNvSpPr/>
          <p:nvPr/>
        </p:nvSpPr>
        <p:spPr>
          <a:xfrm>
            <a:off x="1600200" y="2423160"/>
            <a:ext cx="9784080" cy="640080"/>
          </a:xfrm>
          <a:prstGeom prst="rect">
            <a:avLst/>
          </a:prstGeom>
          <a:noFill/>
          <a:ln/>
        </p:spPr>
        <p:txBody>
          <a:bodyPr wrap="square" lIns="0" tIns="0" rIns="0" bIns="0" rtlCol="0" anchor="ctr"/>
          <a:lstStyle/>
          <a:p>
            <a:pPr indent="0" marL="0">
              <a:buNone/>
            </a:pPr>
            <a:r>
              <a:rPr lang="en-US" sz="1350" dirty="0">
                <a:solidFill>
                  <a:srgbClr val="8EA7C1"/>
                </a:solidFill>
                <a:latin typeface="Calibri" pitchFamily="34" charset="0"/>
                <a:ea typeface="Calibri" pitchFamily="34" charset="-122"/>
                <a:cs typeface="Calibri" pitchFamily="34" charset="-120"/>
              </a:rPr>
              <a:t>A finished coil's genealogy crosses Level 2 tracking, inspection devices, the historian, the lab, planning and yard - each with its own keys and its own idea of an object.</a:t>
            </a:r>
            <a:endParaRPr lang="en-US" sz="1350" dirty="0"/>
          </a:p>
        </p:txBody>
      </p:sp>
      <p:sp>
        <p:nvSpPr>
          <p:cNvPr id="9" name="Shape 7"/>
          <p:cNvSpPr/>
          <p:nvPr/>
        </p:nvSpPr>
        <p:spPr>
          <a:xfrm>
            <a:off x="548640" y="3337560"/>
            <a:ext cx="1106424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0" name="Shape 8"/>
          <p:cNvSpPr/>
          <p:nvPr/>
        </p:nvSpPr>
        <p:spPr>
          <a:xfrm>
            <a:off x="868680" y="3721608"/>
            <a:ext cx="502920" cy="502920"/>
          </a:xfrm>
          <a:prstGeom prst="ellipse">
            <a:avLst/>
          </a:prstGeom>
          <a:solidFill>
            <a:srgbClr val="102A43"/>
          </a:solidFill>
          <a:ln w="15875">
            <a:solidFill>
              <a:srgbClr val="00D4FF"/>
            </a:solidFill>
            <a:prstDash val="solid"/>
          </a:ln>
        </p:spPr>
      </p:sp>
      <p:sp>
        <p:nvSpPr>
          <p:cNvPr id="11" name="Text 9"/>
          <p:cNvSpPr/>
          <p:nvPr/>
        </p:nvSpPr>
        <p:spPr>
          <a:xfrm>
            <a:off x="868680" y="3721608"/>
            <a:ext cx="502920" cy="502920"/>
          </a:xfrm>
          <a:prstGeom prst="rect">
            <a:avLst/>
          </a:prstGeom>
          <a:noFill/>
          <a:ln/>
        </p:spPr>
        <p:txBody>
          <a:bodyPr wrap="square" lIns="0" tIns="0" rIns="0" bIns="0" rtlCol="0" anchor="ctr"/>
          <a:lstStyle/>
          <a:p>
            <a:pPr algn="ctr" indent="0" marL="0">
              <a:buNone/>
            </a:pPr>
            <a:r>
              <a:rPr lang="en-US" sz="2000" b="1" dirty="0">
                <a:solidFill>
                  <a:srgbClr val="00D4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00200" y="3502152"/>
            <a:ext cx="9692640" cy="365760"/>
          </a:xfrm>
          <a:prstGeom prst="rect">
            <a:avLst/>
          </a:prstGeom>
          <a:noFill/>
          <a:ln/>
        </p:spPr>
        <p:txBody>
          <a:bodyPr wrap="square" lIns="0" tIns="0" rIns="0" bIns="0" rtlCol="0" anchor="ctr"/>
          <a:lstStyle/>
          <a:p>
            <a:pPr indent="0" marL="0">
              <a:buNone/>
            </a:pPr>
            <a:r>
              <a:rPr lang="en-US" sz="1800" b="1" dirty="0">
                <a:solidFill>
                  <a:srgbClr val="EAF6FF"/>
                </a:solidFill>
                <a:latin typeface="Cambria" pitchFamily="34" charset="0"/>
                <a:ea typeface="Cambria" pitchFamily="34" charset="-122"/>
                <a:cs typeface="Cambria" pitchFamily="34" charset="-120"/>
              </a:rPr>
              <a:t>No system walks the thread</a:t>
            </a:r>
            <a:endParaRPr lang="en-US" sz="1800" dirty="0"/>
          </a:p>
        </p:txBody>
      </p:sp>
      <p:sp>
        <p:nvSpPr>
          <p:cNvPr id="13" name="Text 11"/>
          <p:cNvSpPr/>
          <p:nvPr/>
        </p:nvSpPr>
        <p:spPr>
          <a:xfrm>
            <a:off x="1600200" y="3886200"/>
            <a:ext cx="9784080" cy="640080"/>
          </a:xfrm>
          <a:prstGeom prst="rect">
            <a:avLst/>
          </a:prstGeom>
          <a:noFill/>
          <a:ln/>
        </p:spPr>
        <p:txBody>
          <a:bodyPr wrap="square" lIns="0" tIns="0" rIns="0" bIns="0" rtlCol="0" anchor="ctr"/>
          <a:lstStyle/>
          <a:p>
            <a:pPr indent="0" marL="0">
              <a:buNone/>
            </a:pPr>
            <a:r>
              <a:rPr lang="en-US" sz="1350" dirty="0">
                <a:solidFill>
                  <a:srgbClr val="8EA7C1"/>
                </a:solidFill>
                <a:latin typeface="Calibri" pitchFamily="34" charset="0"/>
                <a:ea typeface="Calibri" pitchFamily="34" charset="-122"/>
                <a:cs typeface="Calibri" pitchFamily="34" charset="-120"/>
              </a:rPr>
              <a:t>No single system can follow one product from a surface defect back to its melt chemistry. The data exists; the connection does not.</a:t>
            </a:r>
            <a:endParaRPr lang="en-US" sz="1350" dirty="0"/>
          </a:p>
        </p:txBody>
      </p:sp>
      <p:sp>
        <p:nvSpPr>
          <p:cNvPr id="14" name="Shape 12"/>
          <p:cNvSpPr/>
          <p:nvPr/>
        </p:nvSpPr>
        <p:spPr>
          <a:xfrm>
            <a:off x="548640" y="4800600"/>
            <a:ext cx="1106424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5" name="Shape 13"/>
          <p:cNvSpPr/>
          <p:nvPr/>
        </p:nvSpPr>
        <p:spPr>
          <a:xfrm>
            <a:off x="868680" y="5184648"/>
            <a:ext cx="502920" cy="502920"/>
          </a:xfrm>
          <a:prstGeom prst="ellipse">
            <a:avLst/>
          </a:prstGeom>
          <a:solidFill>
            <a:srgbClr val="102A43"/>
          </a:solidFill>
          <a:ln w="15875">
            <a:solidFill>
              <a:srgbClr val="00D4FF"/>
            </a:solidFill>
            <a:prstDash val="solid"/>
          </a:ln>
        </p:spPr>
      </p:sp>
      <p:sp>
        <p:nvSpPr>
          <p:cNvPr id="16" name="Text 14"/>
          <p:cNvSpPr/>
          <p:nvPr/>
        </p:nvSpPr>
        <p:spPr>
          <a:xfrm>
            <a:off x="868680" y="5184648"/>
            <a:ext cx="502920" cy="502920"/>
          </a:xfrm>
          <a:prstGeom prst="rect">
            <a:avLst/>
          </a:prstGeom>
          <a:noFill/>
          <a:ln/>
        </p:spPr>
        <p:txBody>
          <a:bodyPr wrap="square" lIns="0" tIns="0" rIns="0" bIns="0" rtlCol="0" anchor="ctr"/>
          <a:lstStyle/>
          <a:p>
            <a:pPr algn="ctr" indent="0" marL="0">
              <a:buNone/>
            </a:pPr>
            <a:r>
              <a:rPr lang="en-US" sz="2000" b="1" dirty="0">
                <a:solidFill>
                  <a:srgbClr val="00D4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00200" y="4965192"/>
            <a:ext cx="9692640" cy="365760"/>
          </a:xfrm>
          <a:prstGeom prst="rect">
            <a:avLst/>
          </a:prstGeom>
          <a:noFill/>
          <a:ln/>
        </p:spPr>
        <p:txBody>
          <a:bodyPr wrap="square" lIns="0" tIns="0" rIns="0" bIns="0" rtlCol="0" anchor="ctr"/>
          <a:lstStyle/>
          <a:p>
            <a:pPr indent="0" marL="0">
              <a:buNone/>
            </a:pPr>
            <a:r>
              <a:rPr lang="en-US" sz="1800" b="1" dirty="0">
                <a:solidFill>
                  <a:srgbClr val="EAF6FF"/>
                </a:solidFill>
                <a:latin typeface="Cambria" pitchFamily="34" charset="0"/>
                <a:ea typeface="Cambria" pitchFamily="34" charset="-122"/>
                <a:cs typeface="Cambria" pitchFamily="34" charset="-120"/>
              </a:rPr>
              <a:t>Rebuilt by hand, one at a time</a:t>
            </a:r>
            <a:endParaRPr lang="en-US" sz="1800" dirty="0"/>
          </a:p>
        </p:txBody>
      </p:sp>
      <p:sp>
        <p:nvSpPr>
          <p:cNvPr id="18" name="Text 16"/>
          <p:cNvSpPr/>
          <p:nvPr/>
        </p:nvSpPr>
        <p:spPr>
          <a:xfrm>
            <a:off x="1600200" y="5349240"/>
            <a:ext cx="9784080" cy="640080"/>
          </a:xfrm>
          <a:prstGeom prst="rect">
            <a:avLst/>
          </a:prstGeom>
          <a:noFill/>
          <a:ln/>
        </p:spPr>
        <p:txBody>
          <a:bodyPr wrap="square" lIns="0" tIns="0" rIns="0" bIns="0" rtlCol="0" anchor="ctr"/>
          <a:lstStyle/>
          <a:p>
            <a:pPr indent="0" marL="0">
              <a:buNone/>
            </a:pPr>
            <a:r>
              <a:rPr lang="en-US" sz="1350" dirty="0">
                <a:solidFill>
                  <a:srgbClr val="8EA7C1"/>
                </a:solidFill>
                <a:latin typeface="Calibri" pitchFamily="34" charset="0"/>
                <a:ea typeface="Calibri" pitchFamily="34" charset="-122"/>
                <a:cs typeface="Calibri" pitchFamily="34" charset="-120"/>
              </a:rPr>
              <a:t>Engineers reconstruct each investigation in spreadsheets - slow, manual, and impossible to do at the scale of 600 heats and 5,600 coils a month.</a:t>
            </a:r>
            <a:endParaRPr lang="en-US" sz="1350" dirty="0"/>
          </a:p>
        </p:txBody>
      </p:sp>
      <p:sp>
        <p:nvSpPr>
          <p:cNvPr id="19" name="Text 17"/>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20" name="Text 18"/>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21" name="Text 19"/>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THE APPROACH</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Connect, unify, investigate - by configuration, not code.</a:t>
            </a:r>
            <a:endParaRPr lang="en-US" sz="3000" dirty="0"/>
          </a:p>
        </p:txBody>
      </p:sp>
      <p:sp>
        <p:nvSpPr>
          <p:cNvPr id="4" name="Shape 2"/>
          <p:cNvSpPr/>
          <p:nvPr/>
        </p:nvSpPr>
        <p:spPr>
          <a:xfrm>
            <a:off x="548640" y="1920240"/>
            <a:ext cx="3566160" cy="3200400"/>
          </a:xfrm>
          <a:prstGeom prst="roundRect">
            <a:avLst>
              <a:gd name="adj" fmla="val 2286"/>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68680" y="2240280"/>
            <a:ext cx="640080" cy="640080"/>
          </a:xfrm>
          <a:prstGeom prst="ellipse">
            <a:avLst/>
          </a:prstGeom>
          <a:solidFill>
            <a:srgbClr val="102A43"/>
          </a:solidFill>
          <a:ln w="15875">
            <a:solidFill>
              <a:srgbClr val="00D4FF"/>
            </a:solidFill>
            <a:prstDash val="solid"/>
          </a:ln>
        </p:spPr>
      </p:sp>
      <p:sp>
        <p:nvSpPr>
          <p:cNvPr id="6" name="Text 4"/>
          <p:cNvSpPr/>
          <p:nvPr/>
        </p:nvSpPr>
        <p:spPr>
          <a:xfrm>
            <a:off x="868680" y="2240280"/>
            <a:ext cx="640080" cy="640080"/>
          </a:xfrm>
          <a:prstGeom prst="rect">
            <a:avLst/>
          </a:prstGeom>
          <a:noFill/>
          <a:ln/>
        </p:spPr>
        <p:txBody>
          <a:bodyPr wrap="square" lIns="0" tIns="0" rIns="0" bIns="0" rtlCol="0" anchor="ctr"/>
          <a:lstStyle/>
          <a:p>
            <a:pPr algn="ctr" indent="0" marL="0">
              <a:buNone/>
            </a:pPr>
            <a:r>
              <a:rPr lang="en-US" sz="2400" b="1" dirty="0">
                <a:solidFill>
                  <a:srgbClr val="00D4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868680" y="3108960"/>
            <a:ext cx="2926080" cy="457200"/>
          </a:xfrm>
          <a:prstGeom prst="rect">
            <a:avLst/>
          </a:prstGeom>
          <a:noFill/>
          <a:ln/>
        </p:spPr>
        <p:txBody>
          <a:bodyPr wrap="square" lIns="0" tIns="0" rIns="0" bIns="0" rtlCol="0" anchor="ctr"/>
          <a:lstStyle/>
          <a:p>
            <a:pPr indent="0" marL="0">
              <a:buNone/>
            </a:pPr>
            <a:r>
              <a:rPr lang="en-US" sz="2100" b="1" dirty="0">
                <a:solidFill>
                  <a:srgbClr val="EAF6FF"/>
                </a:solidFill>
                <a:latin typeface="Cambria" pitchFamily="34" charset="0"/>
                <a:ea typeface="Cambria" pitchFamily="34" charset="-122"/>
                <a:cs typeface="Cambria" pitchFamily="34" charset="-120"/>
              </a:rPr>
              <a:t>Connect</a:t>
            </a:r>
            <a:endParaRPr lang="en-US" sz="2100" dirty="0"/>
          </a:p>
        </p:txBody>
      </p:sp>
      <p:sp>
        <p:nvSpPr>
          <p:cNvPr id="8" name="Text 6"/>
          <p:cNvSpPr/>
          <p:nvPr/>
        </p:nvSpPr>
        <p:spPr>
          <a:xfrm>
            <a:off x="868680" y="3611880"/>
            <a:ext cx="2971800" cy="1371600"/>
          </a:xfrm>
          <a:prstGeom prst="rect">
            <a:avLst/>
          </a:prstGeom>
          <a:noFill/>
          <a:ln/>
        </p:spPr>
        <p:txBody>
          <a:bodyPr wrap="square" lIns="0" tIns="0" rIns="0" bIns="0" rtlCol="0" anchor="ctr"/>
          <a:lstStyle/>
          <a:p>
            <a:pPr indent="0" marL="0">
              <a:lnSpc>
                <a:spcPct val="115000"/>
              </a:lnSpc>
              <a:buNone/>
            </a:pPr>
            <a:r>
              <a:rPr lang="en-US" sz="1350" dirty="0">
                <a:solidFill>
                  <a:srgbClr val="8EA7C1"/>
                </a:solidFill>
                <a:latin typeface="Calibri" pitchFamily="34" charset="0"/>
                <a:ea typeface="Calibri" pitchFamily="34" charset="-122"/>
                <a:cs typeface="Calibri" pitchFamily="34" charset="-120"/>
              </a:rPr>
              <a:t>Link your existing sources read-only: SQL Server, PostgreSQL, MySQL, Oracle, Excel, CSV. No change to your systems.</a:t>
            </a:r>
            <a:endParaRPr lang="en-US" sz="1350" dirty="0"/>
          </a:p>
        </p:txBody>
      </p:sp>
      <p:sp>
        <p:nvSpPr>
          <p:cNvPr id="9" name="Shape 7"/>
          <p:cNvSpPr/>
          <p:nvPr/>
        </p:nvSpPr>
        <p:spPr>
          <a:xfrm>
            <a:off x="4251960" y="1920240"/>
            <a:ext cx="3566160" cy="3200400"/>
          </a:xfrm>
          <a:prstGeom prst="roundRect">
            <a:avLst>
              <a:gd name="adj" fmla="val 2286"/>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0" name="Shape 8"/>
          <p:cNvSpPr/>
          <p:nvPr/>
        </p:nvSpPr>
        <p:spPr>
          <a:xfrm>
            <a:off x="4572000" y="2240280"/>
            <a:ext cx="640080" cy="640080"/>
          </a:xfrm>
          <a:prstGeom prst="ellipse">
            <a:avLst/>
          </a:prstGeom>
          <a:solidFill>
            <a:srgbClr val="102A43"/>
          </a:solidFill>
          <a:ln w="15875">
            <a:solidFill>
              <a:srgbClr val="00D4FF"/>
            </a:solidFill>
            <a:prstDash val="solid"/>
          </a:ln>
        </p:spPr>
      </p:sp>
      <p:sp>
        <p:nvSpPr>
          <p:cNvPr id="11" name="Text 9"/>
          <p:cNvSpPr/>
          <p:nvPr/>
        </p:nvSpPr>
        <p:spPr>
          <a:xfrm>
            <a:off x="4572000" y="2240280"/>
            <a:ext cx="640080" cy="640080"/>
          </a:xfrm>
          <a:prstGeom prst="rect">
            <a:avLst/>
          </a:prstGeom>
          <a:noFill/>
          <a:ln/>
        </p:spPr>
        <p:txBody>
          <a:bodyPr wrap="square" lIns="0" tIns="0" rIns="0" bIns="0" rtlCol="0" anchor="ctr"/>
          <a:lstStyle/>
          <a:p>
            <a:pPr algn="ctr" indent="0" marL="0">
              <a:buNone/>
            </a:pPr>
            <a:r>
              <a:rPr lang="en-US" sz="2400" b="1" dirty="0">
                <a:solidFill>
                  <a:srgbClr val="00D4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4572000" y="3108960"/>
            <a:ext cx="2926080" cy="457200"/>
          </a:xfrm>
          <a:prstGeom prst="rect">
            <a:avLst/>
          </a:prstGeom>
          <a:noFill/>
          <a:ln/>
        </p:spPr>
        <p:txBody>
          <a:bodyPr wrap="square" lIns="0" tIns="0" rIns="0" bIns="0" rtlCol="0" anchor="ctr"/>
          <a:lstStyle/>
          <a:p>
            <a:pPr indent="0" marL="0">
              <a:buNone/>
            </a:pPr>
            <a:r>
              <a:rPr lang="en-US" sz="2100" b="1" dirty="0">
                <a:solidFill>
                  <a:srgbClr val="EAF6FF"/>
                </a:solidFill>
                <a:latin typeface="Cambria" pitchFamily="34" charset="0"/>
                <a:ea typeface="Cambria" pitchFamily="34" charset="-122"/>
                <a:cs typeface="Cambria" pitchFamily="34" charset="-120"/>
              </a:rPr>
              <a:t>Unify</a:t>
            </a:r>
            <a:endParaRPr lang="en-US" sz="2100" dirty="0"/>
          </a:p>
        </p:txBody>
      </p:sp>
      <p:sp>
        <p:nvSpPr>
          <p:cNvPr id="13" name="Text 11"/>
          <p:cNvSpPr/>
          <p:nvPr/>
        </p:nvSpPr>
        <p:spPr>
          <a:xfrm>
            <a:off x="4572000" y="3611880"/>
            <a:ext cx="2971800" cy="1371600"/>
          </a:xfrm>
          <a:prstGeom prst="rect">
            <a:avLst/>
          </a:prstGeom>
          <a:noFill/>
          <a:ln/>
        </p:spPr>
        <p:txBody>
          <a:bodyPr wrap="square" lIns="0" tIns="0" rIns="0" bIns="0" rtlCol="0" anchor="ctr"/>
          <a:lstStyle/>
          <a:p>
            <a:pPr indent="0" marL="0">
              <a:lnSpc>
                <a:spcPct val="115000"/>
              </a:lnSpc>
              <a:buNone/>
            </a:pPr>
            <a:r>
              <a:rPr lang="en-US" sz="1350" dirty="0">
                <a:solidFill>
                  <a:srgbClr val="8EA7C1"/>
                </a:solidFill>
                <a:latin typeface="Calibri" pitchFamily="34" charset="0"/>
                <a:ea typeface="Calibri" pitchFamily="34" charset="-122"/>
                <a:cs typeface="Calibri" pitchFamily="34" charset="-120"/>
              </a:rPr>
              <a:t>Build one canonical genealogy from your own business keys. Mismatched IDs are reconciled explicitly, conflicts rejected - never silently merged.</a:t>
            </a:r>
            <a:endParaRPr lang="en-US" sz="1350" dirty="0"/>
          </a:p>
        </p:txBody>
      </p:sp>
      <p:sp>
        <p:nvSpPr>
          <p:cNvPr id="14" name="Shape 12"/>
          <p:cNvSpPr/>
          <p:nvPr/>
        </p:nvSpPr>
        <p:spPr>
          <a:xfrm>
            <a:off x="7955280" y="1920240"/>
            <a:ext cx="3566160" cy="3200400"/>
          </a:xfrm>
          <a:prstGeom prst="roundRect">
            <a:avLst>
              <a:gd name="adj" fmla="val 2286"/>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5" name="Shape 13"/>
          <p:cNvSpPr/>
          <p:nvPr/>
        </p:nvSpPr>
        <p:spPr>
          <a:xfrm>
            <a:off x="8275320" y="2240280"/>
            <a:ext cx="640080" cy="640080"/>
          </a:xfrm>
          <a:prstGeom prst="ellipse">
            <a:avLst/>
          </a:prstGeom>
          <a:solidFill>
            <a:srgbClr val="102A43"/>
          </a:solidFill>
          <a:ln w="15875">
            <a:solidFill>
              <a:srgbClr val="00D4FF"/>
            </a:solidFill>
            <a:prstDash val="solid"/>
          </a:ln>
        </p:spPr>
      </p:sp>
      <p:sp>
        <p:nvSpPr>
          <p:cNvPr id="16" name="Text 14"/>
          <p:cNvSpPr/>
          <p:nvPr/>
        </p:nvSpPr>
        <p:spPr>
          <a:xfrm>
            <a:off x="8275320" y="2240280"/>
            <a:ext cx="640080" cy="640080"/>
          </a:xfrm>
          <a:prstGeom prst="rect">
            <a:avLst/>
          </a:prstGeom>
          <a:noFill/>
          <a:ln/>
        </p:spPr>
        <p:txBody>
          <a:bodyPr wrap="square" lIns="0" tIns="0" rIns="0" bIns="0" rtlCol="0" anchor="ctr"/>
          <a:lstStyle/>
          <a:p>
            <a:pPr algn="ctr" indent="0" marL="0">
              <a:buNone/>
            </a:pPr>
            <a:r>
              <a:rPr lang="en-US" sz="2400" b="1" dirty="0">
                <a:solidFill>
                  <a:srgbClr val="00D4FF"/>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8275320" y="3108960"/>
            <a:ext cx="2926080" cy="457200"/>
          </a:xfrm>
          <a:prstGeom prst="rect">
            <a:avLst/>
          </a:prstGeom>
          <a:noFill/>
          <a:ln/>
        </p:spPr>
        <p:txBody>
          <a:bodyPr wrap="square" lIns="0" tIns="0" rIns="0" bIns="0" rtlCol="0" anchor="ctr"/>
          <a:lstStyle/>
          <a:p>
            <a:pPr indent="0" marL="0">
              <a:buNone/>
            </a:pPr>
            <a:r>
              <a:rPr lang="en-US" sz="2100" b="1" dirty="0">
                <a:solidFill>
                  <a:srgbClr val="EAF6FF"/>
                </a:solidFill>
                <a:latin typeface="Cambria" pitchFamily="34" charset="0"/>
                <a:ea typeface="Cambria" pitchFamily="34" charset="-122"/>
                <a:cs typeface="Cambria" pitchFamily="34" charset="-120"/>
              </a:rPr>
              <a:t>Investigate</a:t>
            </a:r>
            <a:endParaRPr lang="en-US" sz="2100" dirty="0"/>
          </a:p>
        </p:txBody>
      </p:sp>
      <p:sp>
        <p:nvSpPr>
          <p:cNvPr id="18" name="Text 16"/>
          <p:cNvSpPr/>
          <p:nvPr/>
        </p:nvSpPr>
        <p:spPr>
          <a:xfrm>
            <a:off x="8275320" y="3611880"/>
            <a:ext cx="2971800" cy="1371600"/>
          </a:xfrm>
          <a:prstGeom prst="rect">
            <a:avLst/>
          </a:prstGeom>
          <a:noFill/>
          <a:ln/>
        </p:spPr>
        <p:txBody>
          <a:bodyPr wrap="square" lIns="0" tIns="0" rIns="0" bIns="0" rtlCol="0" anchor="ctr"/>
          <a:lstStyle/>
          <a:p>
            <a:pPr indent="0" marL="0">
              <a:lnSpc>
                <a:spcPct val="115000"/>
              </a:lnSpc>
              <a:buNone/>
            </a:pPr>
            <a:r>
              <a:rPr lang="en-US" sz="1350" dirty="0">
                <a:solidFill>
                  <a:srgbClr val="8EA7C1"/>
                </a:solidFill>
                <a:latin typeface="Calibri" pitchFamily="34" charset="0"/>
                <a:ea typeface="Calibri" pitchFamily="34" charset="-122"/>
                <a:cs typeface="Calibri" pitchFamily="34" charset="-120"/>
              </a:rPr>
              <a:t>Walk a defect back to chemistry, both directions. Run honest correlation analysis. See a bounded value for what you find.</a:t>
            </a:r>
            <a:endParaRPr lang="en-US" sz="1350" dirty="0"/>
          </a:p>
        </p:txBody>
      </p:sp>
      <p:sp>
        <p:nvSpPr>
          <p:cNvPr id="19" name="Text 17"/>
          <p:cNvSpPr/>
          <p:nvPr/>
        </p:nvSpPr>
        <p:spPr>
          <a:xfrm>
            <a:off x="548640" y="5440680"/>
            <a:ext cx="11064240" cy="640080"/>
          </a:xfrm>
          <a:prstGeom prst="rect">
            <a:avLst/>
          </a:prstGeom>
          <a:noFill/>
          <a:ln/>
        </p:spPr>
        <p:txBody>
          <a:bodyPr wrap="square" lIns="0" tIns="0" rIns="0" bIns="0" rtlCol="0" anchor="ctr"/>
          <a:lstStyle/>
          <a:p>
            <a:pPr algn="ctr" indent="0" marL="0">
              <a:buNone/>
            </a:pPr>
            <a:r>
              <a:rPr lang="en-US" sz="1400" i="1" dirty="0">
                <a:solidFill>
                  <a:srgbClr val="00D4FF"/>
                </a:solidFill>
                <a:latin typeface="Calibri" pitchFamily="34" charset="0"/>
                <a:ea typeface="Calibri" pitchFamily="34" charset="-122"/>
                <a:cs typeface="Calibri" pitchFamily="34" charset="-120"/>
              </a:rPr>
              <a:t>The same software serves any plant - different databases, devices, lines, and the parameters each engineer cares about - by configuration, not by code.</a:t>
            </a:r>
            <a:endParaRPr lang="en-US" sz="1400" dirty="0"/>
          </a:p>
        </p:txBody>
      </p:sp>
      <p:sp>
        <p:nvSpPr>
          <p:cNvPr id="20" name="Text 18"/>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21" name="Text 19"/>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22" name="Text 20"/>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THE GOLDEN THREAD</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One click: finished defect back to melt chemistry.</a:t>
            </a:r>
            <a:endParaRPr lang="en-US" sz="3000" dirty="0"/>
          </a:p>
        </p:txBody>
      </p:sp>
      <p:sp>
        <p:nvSpPr>
          <p:cNvPr id="4" name="Shape 2"/>
          <p:cNvSpPr/>
          <p:nvPr/>
        </p:nvSpPr>
        <p:spPr>
          <a:xfrm>
            <a:off x="640080" y="2468880"/>
            <a:ext cx="1700784" cy="1371600"/>
          </a:xfrm>
          <a:prstGeom prst="roundRect">
            <a:avLst>
              <a:gd name="adj" fmla="val 5333"/>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713232" y="2468880"/>
            <a:ext cx="1554480" cy="1371600"/>
          </a:xfrm>
          <a:prstGeom prst="rect">
            <a:avLst/>
          </a:prstGeom>
          <a:noFill/>
          <a:ln/>
        </p:spPr>
        <p:txBody>
          <a:bodyPr wrap="square" lIns="0" tIns="0" rIns="0" bIns="0" rtlCol="0" anchor="ctr"/>
          <a:lstStyle/>
          <a:p>
            <a:pPr algn="ctr" indent="0" marL="0">
              <a:buNone/>
            </a:pPr>
            <a:r>
              <a:rPr lang="en-US" sz="1250" b="1" dirty="0">
                <a:solidFill>
                  <a:srgbClr val="EAF6FF"/>
                </a:solidFill>
                <a:latin typeface="Calibri" pitchFamily="34" charset="0"/>
                <a:ea typeface="Calibri" pitchFamily="34" charset="-122"/>
                <a:cs typeface="Calibri" pitchFamily="34" charset="-120"/>
              </a:rPr>
              <a:t>Surface defect</a:t>
            </a:r>
            <a:endParaRPr lang="en-US" sz="1250" dirty="0"/>
          </a:p>
          <a:p>
            <a:pPr algn="ctr" indent="0" marL="0">
              <a:buNone/>
            </a:pPr>
            <a:r>
              <a:rPr lang="en-US" sz="1250" b="1" dirty="0">
                <a:solidFill>
                  <a:srgbClr val="EAF6FF"/>
                </a:solidFill>
                <a:latin typeface="Calibri" pitchFamily="34" charset="0"/>
                <a:ea typeface="Calibri" pitchFamily="34" charset="-122"/>
                <a:cs typeface="Calibri" pitchFamily="34" charset="-120"/>
              </a:rPr>
              <a:t>(finished coil)</a:t>
            </a:r>
            <a:endParaRPr lang="en-US" sz="1250" dirty="0"/>
          </a:p>
        </p:txBody>
      </p:sp>
      <p:sp>
        <p:nvSpPr>
          <p:cNvPr id="6" name="Shape 4"/>
          <p:cNvSpPr/>
          <p:nvPr/>
        </p:nvSpPr>
        <p:spPr>
          <a:xfrm>
            <a:off x="2340864" y="3154680"/>
            <a:ext cx="118872" cy="0"/>
          </a:xfrm>
          <a:prstGeom prst="line">
            <a:avLst/>
          </a:prstGeom>
          <a:noFill/>
          <a:ln w="25400">
            <a:solidFill>
              <a:srgbClr val="00D4FF"/>
            </a:solidFill>
            <a:prstDash val="solid"/>
            <a:tailEnd type="triangle"/>
          </a:ln>
        </p:spPr>
      </p:sp>
      <p:sp>
        <p:nvSpPr>
          <p:cNvPr id="7" name="Shape 5"/>
          <p:cNvSpPr/>
          <p:nvPr/>
        </p:nvSpPr>
        <p:spPr>
          <a:xfrm>
            <a:off x="2459736" y="2468880"/>
            <a:ext cx="1700784" cy="1371600"/>
          </a:xfrm>
          <a:prstGeom prst="roundRect">
            <a:avLst>
              <a:gd name="adj" fmla="val 5333"/>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8" name="Text 6"/>
          <p:cNvSpPr/>
          <p:nvPr/>
        </p:nvSpPr>
        <p:spPr>
          <a:xfrm>
            <a:off x="2532888" y="2468880"/>
            <a:ext cx="1554480" cy="1371600"/>
          </a:xfrm>
          <a:prstGeom prst="rect">
            <a:avLst/>
          </a:prstGeom>
          <a:noFill/>
          <a:ln/>
        </p:spPr>
        <p:txBody>
          <a:bodyPr wrap="square" lIns="0" tIns="0" rIns="0" bIns="0" rtlCol="0" anchor="ctr"/>
          <a:lstStyle/>
          <a:p>
            <a:pPr algn="ctr" indent="0" marL="0">
              <a:buNone/>
            </a:pPr>
            <a:r>
              <a:rPr lang="en-US" sz="1250" b="1" dirty="0">
                <a:solidFill>
                  <a:srgbClr val="EAF6FF"/>
                </a:solidFill>
                <a:latin typeface="Calibri" pitchFamily="34" charset="0"/>
                <a:ea typeface="Calibri" pitchFamily="34" charset="-122"/>
                <a:cs typeface="Calibri" pitchFamily="34" charset="-120"/>
              </a:rPr>
              <a:t>Coil</a:t>
            </a:r>
            <a:endParaRPr lang="en-US" sz="1250" dirty="0"/>
          </a:p>
        </p:txBody>
      </p:sp>
      <p:sp>
        <p:nvSpPr>
          <p:cNvPr id="9" name="Shape 7"/>
          <p:cNvSpPr/>
          <p:nvPr/>
        </p:nvSpPr>
        <p:spPr>
          <a:xfrm>
            <a:off x="4160520" y="3154680"/>
            <a:ext cx="118872" cy="0"/>
          </a:xfrm>
          <a:prstGeom prst="line">
            <a:avLst/>
          </a:prstGeom>
          <a:noFill/>
          <a:ln w="25400">
            <a:solidFill>
              <a:srgbClr val="00D4FF"/>
            </a:solidFill>
            <a:prstDash val="solid"/>
            <a:tailEnd type="triangle"/>
          </a:ln>
        </p:spPr>
      </p:sp>
      <p:sp>
        <p:nvSpPr>
          <p:cNvPr id="10" name="Shape 8"/>
          <p:cNvSpPr/>
          <p:nvPr/>
        </p:nvSpPr>
        <p:spPr>
          <a:xfrm>
            <a:off x="4279392" y="2468880"/>
            <a:ext cx="1700784" cy="1371600"/>
          </a:xfrm>
          <a:prstGeom prst="roundRect">
            <a:avLst>
              <a:gd name="adj" fmla="val 5333"/>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1" name="Text 9"/>
          <p:cNvSpPr/>
          <p:nvPr/>
        </p:nvSpPr>
        <p:spPr>
          <a:xfrm>
            <a:off x="4352544" y="2468880"/>
            <a:ext cx="1554480" cy="1371600"/>
          </a:xfrm>
          <a:prstGeom prst="rect">
            <a:avLst/>
          </a:prstGeom>
          <a:noFill/>
          <a:ln/>
        </p:spPr>
        <p:txBody>
          <a:bodyPr wrap="square" lIns="0" tIns="0" rIns="0" bIns="0" rtlCol="0" anchor="ctr"/>
          <a:lstStyle/>
          <a:p>
            <a:pPr algn="ctr" indent="0" marL="0">
              <a:buNone/>
            </a:pPr>
            <a:r>
              <a:rPr lang="en-US" sz="1250" b="1" dirty="0">
                <a:solidFill>
                  <a:srgbClr val="EAF6FF"/>
                </a:solidFill>
                <a:latin typeface="Calibri" pitchFamily="34" charset="0"/>
                <a:ea typeface="Calibri" pitchFamily="34" charset="-122"/>
                <a:cs typeface="Calibri" pitchFamily="34" charset="-120"/>
              </a:rPr>
              <a:t>Slab</a:t>
            </a:r>
            <a:endParaRPr lang="en-US" sz="1250" dirty="0"/>
          </a:p>
        </p:txBody>
      </p:sp>
      <p:sp>
        <p:nvSpPr>
          <p:cNvPr id="12" name="Shape 10"/>
          <p:cNvSpPr/>
          <p:nvPr/>
        </p:nvSpPr>
        <p:spPr>
          <a:xfrm>
            <a:off x="5980176" y="3154680"/>
            <a:ext cx="118872" cy="0"/>
          </a:xfrm>
          <a:prstGeom prst="line">
            <a:avLst/>
          </a:prstGeom>
          <a:noFill/>
          <a:ln w="25400">
            <a:solidFill>
              <a:srgbClr val="00D4FF"/>
            </a:solidFill>
            <a:prstDash val="solid"/>
            <a:tailEnd type="triangle"/>
          </a:ln>
        </p:spPr>
      </p:sp>
      <p:sp>
        <p:nvSpPr>
          <p:cNvPr id="13" name="Shape 11"/>
          <p:cNvSpPr/>
          <p:nvPr/>
        </p:nvSpPr>
        <p:spPr>
          <a:xfrm>
            <a:off x="6099048" y="2468880"/>
            <a:ext cx="1700784" cy="1371600"/>
          </a:xfrm>
          <a:prstGeom prst="roundRect">
            <a:avLst>
              <a:gd name="adj" fmla="val 5333"/>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4" name="Text 12"/>
          <p:cNvSpPr/>
          <p:nvPr/>
        </p:nvSpPr>
        <p:spPr>
          <a:xfrm>
            <a:off x="6172200" y="2468880"/>
            <a:ext cx="1554480" cy="1371600"/>
          </a:xfrm>
          <a:prstGeom prst="rect">
            <a:avLst/>
          </a:prstGeom>
          <a:noFill/>
          <a:ln/>
        </p:spPr>
        <p:txBody>
          <a:bodyPr wrap="square" lIns="0" tIns="0" rIns="0" bIns="0" rtlCol="0" anchor="ctr"/>
          <a:lstStyle/>
          <a:p>
            <a:pPr algn="ctr" indent="0" marL="0">
              <a:buNone/>
            </a:pPr>
            <a:r>
              <a:rPr lang="en-US" sz="1250" b="1" dirty="0">
                <a:solidFill>
                  <a:srgbClr val="EAF6FF"/>
                </a:solidFill>
                <a:latin typeface="Calibri" pitchFamily="34" charset="0"/>
                <a:ea typeface="Calibri" pitchFamily="34" charset="-122"/>
                <a:cs typeface="Calibri" pitchFamily="34" charset="-120"/>
              </a:rPr>
              <a:t>Heat / cast</a:t>
            </a:r>
            <a:endParaRPr lang="en-US" sz="1250" dirty="0"/>
          </a:p>
        </p:txBody>
      </p:sp>
      <p:sp>
        <p:nvSpPr>
          <p:cNvPr id="15" name="Shape 13"/>
          <p:cNvSpPr/>
          <p:nvPr/>
        </p:nvSpPr>
        <p:spPr>
          <a:xfrm>
            <a:off x="7799832" y="3154680"/>
            <a:ext cx="118872" cy="0"/>
          </a:xfrm>
          <a:prstGeom prst="line">
            <a:avLst/>
          </a:prstGeom>
          <a:noFill/>
          <a:ln w="25400">
            <a:solidFill>
              <a:srgbClr val="00D4FF"/>
            </a:solidFill>
            <a:prstDash val="solid"/>
            <a:tailEnd type="triangle"/>
          </a:ln>
        </p:spPr>
      </p:sp>
      <p:sp>
        <p:nvSpPr>
          <p:cNvPr id="16" name="Shape 14"/>
          <p:cNvSpPr/>
          <p:nvPr/>
        </p:nvSpPr>
        <p:spPr>
          <a:xfrm>
            <a:off x="7918704" y="2468880"/>
            <a:ext cx="1700784" cy="1371600"/>
          </a:xfrm>
          <a:prstGeom prst="roundRect">
            <a:avLst>
              <a:gd name="adj" fmla="val 5333"/>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7" name="Text 15"/>
          <p:cNvSpPr/>
          <p:nvPr/>
        </p:nvSpPr>
        <p:spPr>
          <a:xfrm>
            <a:off x="7991856" y="2468880"/>
            <a:ext cx="1554480" cy="1371600"/>
          </a:xfrm>
          <a:prstGeom prst="rect">
            <a:avLst/>
          </a:prstGeom>
          <a:noFill/>
          <a:ln/>
        </p:spPr>
        <p:txBody>
          <a:bodyPr wrap="square" lIns="0" tIns="0" rIns="0" bIns="0" rtlCol="0" anchor="ctr"/>
          <a:lstStyle/>
          <a:p>
            <a:pPr algn="ctr" indent="0" marL="0">
              <a:buNone/>
            </a:pPr>
            <a:r>
              <a:rPr lang="en-US" sz="1250" b="1" dirty="0">
                <a:solidFill>
                  <a:srgbClr val="EAF6FF"/>
                </a:solidFill>
                <a:latin typeface="Calibri" pitchFamily="34" charset="0"/>
                <a:ea typeface="Calibri" pitchFamily="34" charset="-122"/>
                <a:cs typeface="Calibri" pitchFamily="34" charset="-120"/>
              </a:rPr>
              <a:t>Ladle &amp; LF</a:t>
            </a:r>
            <a:endParaRPr lang="en-US" sz="1250" dirty="0"/>
          </a:p>
        </p:txBody>
      </p:sp>
      <p:sp>
        <p:nvSpPr>
          <p:cNvPr id="18" name="Shape 16"/>
          <p:cNvSpPr/>
          <p:nvPr/>
        </p:nvSpPr>
        <p:spPr>
          <a:xfrm>
            <a:off x="9619488" y="3154680"/>
            <a:ext cx="118872" cy="0"/>
          </a:xfrm>
          <a:prstGeom prst="line">
            <a:avLst/>
          </a:prstGeom>
          <a:noFill/>
          <a:ln w="25400">
            <a:solidFill>
              <a:srgbClr val="00D4FF"/>
            </a:solidFill>
            <a:prstDash val="solid"/>
            <a:tailEnd type="triangle"/>
          </a:ln>
        </p:spPr>
      </p:sp>
      <p:sp>
        <p:nvSpPr>
          <p:cNvPr id="19" name="Shape 17"/>
          <p:cNvSpPr/>
          <p:nvPr/>
        </p:nvSpPr>
        <p:spPr>
          <a:xfrm>
            <a:off x="9738360" y="2468880"/>
            <a:ext cx="1700784" cy="1371600"/>
          </a:xfrm>
          <a:prstGeom prst="roundRect">
            <a:avLst>
              <a:gd name="adj" fmla="val 5333"/>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20" name="Text 18"/>
          <p:cNvSpPr/>
          <p:nvPr/>
        </p:nvSpPr>
        <p:spPr>
          <a:xfrm>
            <a:off x="9811512" y="2468880"/>
            <a:ext cx="1554480" cy="1371600"/>
          </a:xfrm>
          <a:prstGeom prst="rect">
            <a:avLst/>
          </a:prstGeom>
          <a:noFill/>
          <a:ln/>
        </p:spPr>
        <p:txBody>
          <a:bodyPr wrap="square" lIns="0" tIns="0" rIns="0" bIns="0" rtlCol="0" anchor="ctr"/>
          <a:lstStyle/>
          <a:p>
            <a:pPr algn="ctr" indent="0" marL="0">
              <a:buNone/>
            </a:pPr>
            <a:r>
              <a:rPr lang="en-US" sz="1250" b="1" dirty="0">
                <a:solidFill>
                  <a:srgbClr val="EAF6FF"/>
                </a:solidFill>
                <a:latin typeface="Calibri" pitchFamily="34" charset="0"/>
                <a:ea typeface="Calibri" pitchFamily="34" charset="-122"/>
                <a:cs typeface="Calibri" pitchFamily="34" charset="-120"/>
              </a:rPr>
              <a:t>Melt chemistry</a:t>
            </a:r>
            <a:endParaRPr lang="en-US" sz="1250" dirty="0"/>
          </a:p>
          <a:p>
            <a:pPr algn="ctr" indent="0" marL="0">
              <a:buNone/>
            </a:pPr>
            <a:r>
              <a:rPr lang="en-US" sz="1250" b="1" dirty="0">
                <a:solidFill>
                  <a:srgbClr val="EAF6FF"/>
                </a:solidFill>
                <a:latin typeface="Calibri" pitchFamily="34" charset="0"/>
                <a:ea typeface="Calibri" pitchFamily="34" charset="-122"/>
                <a:cs typeface="Calibri" pitchFamily="34" charset="-120"/>
              </a:rPr>
              <a:t>(EAF)</a:t>
            </a:r>
            <a:endParaRPr lang="en-US" sz="1250" dirty="0"/>
          </a:p>
        </p:txBody>
      </p:sp>
      <p:sp>
        <p:nvSpPr>
          <p:cNvPr id="21" name="Text 19"/>
          <p:cNvSpPr/>
          <p:nvPr/>
        </p:nvSpPr>
        <p:spPr>
          <a:xfrm>
            <a:off x="640080" y="4069080"/>
            <a:ext cx="10881360" cy="365760"/>
          </a:xfrm>
          <a:prstGeom prst="rect">
            <a:avLst/>
          </a:prstGeom>
          <a:noFill/>
          <a:ln/>
        </p:spPr>
        <p:txBody>
          <a:bodyPr wrap="square" lIns="0" tIns="0" rIns="0" bIns="0" rtlCol="0" anchor="ctr"/>
          <a:lstStyle/>
          <a:p>
            <a:pPr algn="ctr" indent="0" marL="0">
              <a:buNone/>
            </a:pPr>
            <a:r>
              <a:rPr lang="en-US" sz="1600" b="1" dirty="0">
                <a:solidFill>
                  <a:srgbClr val="00D4FF"/>
                </a:solidFill>
                <a:latin typeface="Cambria" pitchFamily="34" charset="0"/>
                <a:ea typeface="Cambria" pitchFamily="34" charset="-122"/>
                <a:cs typeface="Cambria" pitchFamily="34" charset="-120"/>
              </a:rPr>
              <a:t>Walked in BOTH directions, on YOUR key names</a:t>
            </a:r>
            <a:endParaRPr lang="en-US" sz="1600" dirty="0"/>
          </a:p>
        </p:txBody>
      </p:sp>
      <p:sp>
        <p:nvSpPr>
          <p:cNvPr id="22" name="Shape 20"/>
          <p:cNvSpPr/>
          <p:nvPr/>
        </p:nvSpPr>
        <p:spPr>
          <a:xfrm>
            <a:off x="640080" y="4617720"/>
            <a:ext cx="5440680" cy="1417320"/>
          </a:xfrm>
          <a:prstGeom prst="roundRect">
            <a:avLst>
              <a:gd name="adj" fmla="val 5161"/>
            </a:avLst>
          </a:prstGeom>
          <a:solidFill>
            <a:srgbClr val="102A43"/>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23" name="Text 21"/>
          <p:cNvSpPr/>
          <p:nvPr/>
        </p:nvSpPr>
        <p:spPr>
          <a:xfrm>
            <a:off x="914400" y="4754880"/>
            <a:ext cx="4937760" cy="365760"/>
          </a:xfrm>
          <a:prstGeom prst="rect">
            <a:avLst/>
          </a:prstGeom>
          <a:noFill/>
          <a:ln/>
        </p:spPr>
        <p:txBody>
          <a:bodyPr wrap="square" lIns="0" tIns="0" rIns="0" bIns="0" rtlCol="0" anchor="ctr"/>
          <a:lstStyle/>
          <a:p>
            <a:pPr indent="0" marL="0">
              <a:buNone/>
            </a:pPr>
            <a:r>
              <a:rPr lang="en-US" sz="1500" b="1" dirty="0">
                <a:solidFill>
                  <a:srgbClr val="2CE6A2"/>
                </a:solidFill>
                <a:latin typeface="Cambria" pitchFamily="34" charset="0"/>
                <a:ea typeface="Cambria" pitchFamily="34" charset="-122"/>
                <a:cs typeface="Cambria" pitchFamily="34" charset="-120"/>
              </a:rPr>
              <a:t>Population always stated</a:t>
            </a:r>
            <a:endParaRPr lang="en-US" sz="1500" dirty="0"/>
          </a:p>
        </p:txBody>
      </p:sp>
      <p:sp>
        <p:nvSpPr>
          <p:cNvPr id="24" name="Text 22"/>
          <p:cNvSpPr/>
          <p:nvPr/>
        </p:nvSpPr>
        <p:spPr>
          <a:xfrm>
            <a:off x="914400" y="5138928"/>
            <a:ext cx="4983480" cy="822960"/>
          </a:xfrm>
          <a:prstGeom prst="rect">
            <a:avLst/>
          </a:prstGeom>
          <a:noFill/>
          <a:ln/>
        </p:spPr>
        <p:txBody>
          <a:bodyPr wrap="square" lIns="0" tIns="0" rIns="0" bIns="0" rtlCol="0" anchor="ctr"/>
          <a:lstStyle/>
          <a:p>
            <a:pPr indent="0" marL="0">
              <a:buNone/>
            </a:pPr>
            <a:r>
              <a:rPr lang="en-US" sz="1250" dirty="0">
                <a:solidFill>
                  <a:srgbClr val="EAF6FF"/>
                </a:solidFill>
                <a:latin typeface="Calibri" pitchFamily="34" charset="0"/>
                <a:ea typeface="Calibri" pitchFamily="34" charset="-122"/>
                <a:cs typeface="Calibri" pitchFamily="34" charset="-120"/>
              </a:rPr>
              <a:t>Every analysis shows what it ran on and what it excluded - e.g. "22 of 60 heats." No silent survivorship.</a:t>
            </a:r>
            <a:endParaRPr lang="en-US" sz="1250" dirty="0"/>
          </a:p>
        </p:txBody>
      </p:sp>
      <p:sp>
        <p:nvSpPr>
          <p:cNvPr id="25" name="Shape 23"/>
          <p:cNvSpPr/>
          <p:nvPr/>
        </p:nvSpPr>
        <p:spPr>
          <a:xfrm>
            <a:off x="6172200" y="4617720"/>
            <a:ext cx="5440680" cy="1417320"/>
          </a:xfrm>
          <a:prstGeom prst="roundRect">
            <a:avLst>
              <a:gd name="adj" fmla="val 5161"/>
            </a:avLst>
          </a:prstGeom>
          <a:solidFill>
            <a:srgbClr val="102A43"/>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26" name="Text 24"/>
          <p:cNvSpPr/>
          <p:nvPr/>
        </p:nvSpPr>
        <p:spPr>
          <a:xfrm>
            <a:off x="6446520" y="4754880"/>
            <a:ext cx="4937760" cy="365760"/>
          </a:xfrm>
          <a:prstGeom prst="rect">
            <a:avLst/>
          </a:prstGeom>
          <a:noFill/>
          <a:ln/>
        </p:spPr>
        <p:txBody>
          <a:bodyPr wrap="square" lIns="0" tIns="0" rIns="0" bIns="0" rtlCol="0" anchor="ctr"/>
          <a:lstStyle/>
          <a:p>
            <a:pPr indent="0" marL="0">
              <a:buNone/>
            </a:pPr>
            <a:r>
              <a:rPr lang="en-US" sz="1500" b="1" dirty="0">
                <a:solidFill>
                  <a:srgbClr val="2CE6A2"/>
                </a:solidFill>
                <a:latin typeface="Cambria" pitchFamily="34" charset="0"/>
                <a:ea typeface="Cambria" pitchFamily="34" charset="-122"/>
                <a:cs typeface="Cambria" pitchFamily="34" charset="-120"/>
              </a:rPr>
              <a:t>Blended provenance</a:t>
            </a:r>
            <a:endParaRPr lang="en-US" sz="1500" dirty="0"/>
          </a:p>
        </p:txBody>
      </p:sp>
      <p:sp>
        <p:nvSpPr>
          <p:cNvPr id="27" name="Text 25"/>
          <p:cNvSpPr/>
          <p:nvPr/>
        </p:nvSpPr>
        <p:spPr>
          <a:xfrm>
            <a:off x="6446520" y="5138928"/>
            <a:ext cx="4983480" cy="822960"/>
          </a:xfrm>
          <a:prstGeom prst="rect">
            <a:avLst/>
          </a:prstGeom>
          <a:noFill/>
          <a:ln/>
        </p:spPr>
        <p:txBody>
          <a:bodyPr wrap="square" lIns="0" tIns="0" rIns="0" bIns="0" rtlCol="0" anchor="ctr"/>
          <a:lstStyle/>
          <a:p>
            <a:pPr indent="0" marL="0">
              <a:buNone/>
            </a:pPr>
            <a:r>
              <a:rPr lang="en-US" sz="1250" dirty="0">
                <a:solidFill>
                  <a:srgbClr val="EAF6FF"/>
                </a:solidFill>
                <a:latin typeface="Calibri" pitchFamily="34" charset="0"/>
                <a:ea typeface="Calibri" pitchFamily="34" charset="-122"/>
                <a:cs typeface="Calibri" pitchFamily="34" charset="-120"/>
              </a:rPr>
              <a:t>A casting-transition coil is reported as weighted shared attribution between two heats - never one fabricated origin.</a:t>
            </a:r>
            <a:endParaRPr lang="en-US" sz="1250" dirty="0"/>
          </a:p>
        </p:txBody>
      </p:sp>
      <p:sp>
        <p:nvSpPr>
          <p:cNvPr id="28" name="Text 26"/>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29" name="Text 27"/>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30" name="Text 28"/>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TRUST BY DESIGN</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Honesty is the feature, not the disclaimer.</a:t>
            </a:r>
            <a:endParaRPr lang="en-US" sz="3000" dirty="0"/>
          </a:p>
        </p:txBody>
      </p:sp>
      <p:sp>
        <p:nvSpPr>
          <p:cNvPr id="4" name="Shape 2"/>
          <p:cNvSpPr/>
          <p:nvPr/>
        </p:nvSpPr>
        <p:spPr>
          <a:xfrm>
            <a:off x="548640" y="1874520"/>
            <a:ext cx="11064240" cy="950976"/>
          </a:xfrm>
          <a:prstGeom prst="roundRect">
            <a:avLst>
              <a:gd name="adj" fmla="val 7692"/>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68680" y="2121408"/>
            <a:ext cx="457200" cy="457200"/>
          </a:xfrm>
          <a:prstGeom prst="ellipse">
            <a:avLst/>
          </a:prstGeom>
          <a:solidFill>
            <a:srgbClr val="102A43"/>
          </a:solidFill>
          <a:ln w="15875">
            <a:solidFill>
              <a:srgbClr val="2CE6A2"/>
            </a:solidFill>
            <a:prstDash val="solid"/>
          </a:ln>
        </p:spPr>
      </p:sp>
      <p:sp>
        <p:nvSpPr>
          <p:cNvPr id="6" name="Shape 4"/>
          <p:cNvSpPr/>
          <p:nvPr/>
        </p:nvSpPr>
        <p:spPr>
          <a:xfrm>
            <a:off x="1024128" y="2276856"/>
            <a:ext cx="146304" cy="146304"/>
          </a:xfrm>
          <a:prstGeom prst="ellipse">
            <a:avLst/>
          </a:prstGeom>
          <a:solidFill>
            <a:srgbClr val="2CE6A2"/>
          </a:solidFill>
          <a:ln/>
        </p:spPr>
      </p:sp>
      <p:sp>
        <p:nvSpPr>
          <p:cNvPr id="7" name="Text 5"/>
          <p:cNvSpPr/>
          <p:nvPr/>
        </p:nvSpPr>
        <p:spPr>
          <a:xfrm>
            <a:off x="1554480" y="2002536"/>
            <a:ext cx="4023360" cy="694944"/>
          </a:xfrm>
          <a:prstGeom prst="rect">
            <a:avLst/>
          </a:prstGeom>
          <a:noFill/>
          <a:ln/>
        </p:spPr>
        <p:txBody>
          <a:bodyPr wrap="square" lIns="0" tIns="0" rIns="0" bIns="0" rtlCol="0" anchor="ctr"/>
          <a:lstStyle/>
          <a:p>
            <a:pPr indent="0" marL="0">
              <a:buNone/>
            </a:pPr>
            <a:r>
              <a:rPr lang="en-US" sz="1600" b="1" dirty="0">
                <a:solidFill>
                  <a:srgbClr val="EAF6FF"/>
                </a:solidFill>
                <a:latin typeface="Cambria" pitchFamily="34" charset="0"/>
                <a:ea typeface="Cambria" pitchFamily="34" charset="-122"/>
                <a:cs typeface="Cambria" pitchFamily="34" charset="-120"/>
              </a:rPr>
              <a:t>Correlation, not causation</a:t>
            </a:r>
            <a:endParaRPr lang="en-US" sz="1600" dirty="0"/>
          </a:p>
        </p:txBody>
      </p:sp>
      <p:sp>
        <p:nvSpPr>
          <p:cNvPr id="8" name="Text 6"/>
          <p:cNvSpPr/>
          <p:nvPr/>
        </p:nvSpPr>
        <p:spPr>
          <a:xfrm>
            <a:off x="5669280" y="1984248"/>
            <a:ext cx="5760720" cy="749808"/>
          </a:xfrm>
          <a:prstGeom prst="rect">
            <a:avLst/>
          </a:prstGeom>
          <a:noFill/>
          <a:ln/>
        </p:spPr>
        <p:txBody>
          <a:bodyPr wrap="square" lIns="0" tIns="0" rIns="0" bIns="0" rtlCol="0" anchor="ctr"/>
          <a:lstStyle/>
          <a:p>
            <a:pPr indent="0" marL="0">
              <a:buNone/>
            </a:pPr>
            <a:r>
              <a:rPr lang="en-US" sz="1250" dirty="0">
                <a:solidFill>
                  <a:srgbClr val="8EA7C1"/>
                </a:solidFill>
                <a:latin typeface="Calibri" pitchFamily="34" charset="0"/>
                <a:ea typeface="Calibri" pitchFamily="34" charset="-122"/>
                <a:cs typeface="Calibri" pitchFamily="34" charset="-120"/>
              </a:rPr>
              <a:t>Findings are framed as suspected contributors and statistical patterns - never a guaranteed root cause.</a:t>
            </a:r>
            <a:endParaRPr lang="en-US" sz="1250" dirty="0"/>
          </a:p>
        </p:txBody>
      </p:sp>
      <p:sp>
        <p:nvSpPr>
          <p:cNvPr id="9" name="Shape 7"/>
          <p:cNvSpPr/>
          <p:nvPr/>
        </p:nvSpPr>
        <p:spPr>
          <a:xfrm>
            <a:off x="548640" y="2935224"/>
            <a:ext cx="11064240" cy="950976"/>
          </a:xfrm>
          <a:prstGeom prst="roundRect">
            <a:avLst>
              <a:gd name="adj" fmla="val 7692"/>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0" name="Shape 8"/>
          <p:cNvSpPr/>
          <p:nvPr/>
        </p:nvSpPr>
        <p:spPr>
          <a:xfrm>
            <a:off x="868680" y="3182112"/>
            <a:ext cx="457200" cy="457200"/>
          </a:xfrm>
          <a:prstGeom prst="ellipse">
            <a:avLst/>
          </a:prstGeom>
          <a:solidFill>
            <a:srgbClr val="102A43"/>
          </a:solidFill>
          <a:ln w="15875">
            <a:solidFill>
              <a:srgbClr val="2CE6A2"/>
            </a:solidFill>
            <a:prstDash val="solid"/>
          </a:ln>
        </p:spPr>
      </p:sp>
      <p:sp>
        <p:nvSpPr>
          <p:cNvPr id="11" name="Shape 9"/>
          <p:cNvSpPr/>
          <p:nvPr/>
        </p:nvSpPr>
        <p:spPr>
          <a:xfrm>
            <a:off x="1024128" y="3337560"/>
            <a:ext cx="146304" cy="146304"/>
          </a:xfrm>
          <a:prstGeom prst="ellipse">
            <a:avLst/>
          </a:prstGeom>
          <a:solidFill>
            <a:srgbClr val="2CE6A2"/>
          </a:solidFill>
          <a:ln/>
        </p:spPr>
      </p:sp>
      <p:sp>
        <p:nvSpPr>
          <p:cNvPr id="12" name="Text 10"/>
          <p:cNvSpPr/>
          <p:nvPr/>
        </p:nvSpPr>
        <p:spPr>
          <a:xfrm>
            <a:off x="1554480" y="3063240"/>
            <a:ext cx="4023360" cy="694944"/>
          </a:xfrm>
          <a:prstGeom prst="rect">
            <a:avLst/>
          </a:prstGeom>
          <a:noFill/>
          <a:ln/>
        </p:spPr>
        <p:txBody>
          <a:bodyPr wrap="square" lIns="0" tIns="0" rIns="0" bIns="0" rtlCol="0" anchor="ctr"/>
          <a:lstStyle/>
          <a:p>
            <a:pPr indent="0" marL="0">
              <a:buNone/>
            </a:pPr>
            <a:r>
              <a:rPr lang="en-US" sz="1600" b="1" dirty="0">
                <a:solidFill>
                  <a:srgbClr val="EAF6FF"/>
                </a:solidFill>
                <a:latin typeface="Cambria" pitchFamily="34" charset="0"/>
                <a:ea typeface="Cambria" pitchFamily="34" charset="-122"/>
                <a:cs typeface="Cambria" pitchFamily="34" charset="-120"/>
              </a:rPr>
              <a:t>Method always shown</a:t>
            </a:r>
            <a:endParaRPr lang="en-US" sz="1600" dirty="0"/>
          </a:p>
        </p:txBody>
      </p:sp>
      <p:sp>
        <p:nvSpPr>
          <p:cNvPr id="13" name="Text 11"/>
          <p:cNvSpPr/>
          <p:nvPr/>
        </p:nvSpPr>
        <p:spPr>
          <a:xfrm>
            <a:off x="5669280" y="3044952"/>
            <a:ext cx="5760720" cy="749808"/>
          </a:xfrm>
          <a:prstGeom prst="rect">
            <a:avLst/>
          </a:prstGeom>
          <a:noFill/>
          <a:ln/>
        </p:spPr>
        <p:txBody>
          <a:bodyPr wrap="square" lIns="0" tIns="0" rIns="0" bIns="0" rtlCol="0" anchor="ctr"/>
          <a:lstStyle/>
          <a:p>
            <a:pPr indent="0" marL="0">
              <a:buNone/>
            </a:pPr>
            <a:r>
              <a:rPr lang="en-US" sz="1250" dirty="0">
                <a:solidFill>
                  <a:srgbClr val="8EA7C1"/>
                </a:solidFill>
                <a:latin typeface="Calibri" pitchFamily="34" charset="0"/>
                <a:ea typeface="Calibri" pitchFamily="34" charset="-122"/>
                <a:cs typeface="Calibri" pitchFamily="34" charset="-120"/>
              </a:rPr>
              <a:t>Rank correlation, mutual information, regularized regression, multicollinearity checks and bootstrap stability - under false-discovery-rate control and stratified by confounders.</a:t>
            </a:r>
            <a:endParaRPr lang="en-US" sz="1250" dirty="0"/>
          </a:p>
        </p:txBody>
      </p:sp>
      <p:sp>
        <p:nvSpPr>
          <p:cNvPr id="14" name="Shape 12"/>
          <p:cNvSpPr/>
          <p:nvPr/>
        </p:nvSpPr>
        <p:spPr>
          <a:xfrm>
            <a:off x="548640" y="3995928"/>
            <a:ext cx="11064240" cy="950976"/>
          </a:xfrm>
          <a:prstGeom prst="roundRect">
            <a:avLst>
              <a:gd name="adj" fmla="val 7692"/>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5" name="Shape 13"/>
          <p:cNvSpPr/>
          <p:nvPr/>
        </p:nvSpPr>
        <p:spPr>
          <a:xfrm>
            <a:off x="868680" y="4242816"/>
            <a:ext cx="457200" cy="457200"/>
          </a:xfrm>
          <a:prstGeom prst="ellipse">
            <a:avLst/>
          </a:prstGeom>
          <a:solidFill>
            <a:srgbClr val="102A43"/>
          </a:solidFill>
          <a:ln w="15875">
            <a:solidFill>
              <a:srgbClr val="2CE6A2"/>
            </a:solidFill>
            <a:prstDash val="solid"/>
          </a:ln>
        </p:spPr>
      </p:sp>
      <p:sp>
        <p:nvSpPr>
          <p:cNvPr id="16" name="Shape 14"/>
          <p:cNvSpPr/>
          <p:nvPr/>
        </p:nvSpPr>
        <p:spPr>
          <a:xfrm>
            <a:off x="1024128" y="4398264"/>
            <a:ext cx="146304" cy="146304"/>
          </a:xfrm>
          <a:prstGeom prst="ellipse">
            <a:avLst/>
          </a:prstGeom>
          <a:solidFill>
            <a:srgbClr val="2CE6A2"/>
          </a:solidFill>
          <a:ln/>
        </p:spPr>
      </p:sp>
      <p:sp>
        <p:nvSpPr>
          <p:cNvPr id="17" name="Text 15"/>
          <p:cNvSpPr/>
          <p:nvPr/>
        </p:nvSpPr>
        <p:spPr>
          <a:xfrm>
            <a:off x="1554480" y="4123944"/>
            <a:ext cx="4023360" cy="694944"/>
          </a:xfrm>
          <a:prstGeom prst="rect">
            <a:avLst/>
          </a:prstGeom>
          <a:noFill/>
          <a:ln/>
        </p:spPr>
        <p:txBody>
          <a:bodyPr wrap="square" lIns="0" tIns="0" rIns="0" bIns="0" rtlCol="0" anchor="ctr"/>
          <a:lstStyle/>
          <a:p>
            <a:pPr indent="0" marL="0">
              <a:buNone/>
            </a:pPr>
            <a:r>
              <a:rPr lang="en-US" sz="1600" b="1" dirty="0">
                <a:solidFill>
                  <a:srgbClr val="EAF6FF"/>
                </a:solidFill>
                <a:latin typeface="Cambria" pitchFamily="34" charset="0"/>
                <a:ea typeface="Cambria" pitchFamily="34" charset="-122"/>
                <a:cs typeface="Cambria" pitchFamily="34" charset="-120"/>
              </a:rPr>
              <a:t>Readiness, not fabrication</a:t>
            </a:r>
            <a:endParaRPr lang="en-US" sz="1600" dirty="0"/>
          </a:p>
        </p:txBody>
      </p:sp>
      <p:sp>
        <p:nvSpPr>
          <p:cNvPr id="18" name="Text 16"/>
          <p:cNvSpPr/>
          <p:nvPr/>
        </p:nvSpPr>
        <p:spPr>
          <a:xfrm>
            <a:off x="5669280" y="4105656"/>
            <a:ext cx="5760720" cy="749808"/>
          </a:xfrm>
          <a:prstGeom prst="rect">
            <a:avLst/>
          </a:prstGeom>
          <a:noFill/>
          <a:ln/>
        </p:spPr>
        <p:txBody>
          <a:bodyPr wrap="square" lIns="0" tIns="0" rIns="0" bIns="0" rtlCol="0" anchor="ctr"/>
          <a:lstStyle/>
          <a:p>
            <a:pPr indent="0" marL="0">
              <a:buNone/>
            </a:pPr>
            <a:r>
              <a:rPr lang="en-US" sz="1250" dirty="0">
                <a:solidFill>
                  <a:srgbClr val="8EA7C1"/>
                </a:solidFill>
                <a:latin typeface="Calibri" pitchFamily="34" charset="0"/>
                <a:ea typeface="Calibri" pitchFamily="34" charset="-122"/>
                <a:cs typeface="Calibri" pitchFamily="34" charset="-120"/>
              </a:rPr>
              <a:t>When data is insufficient, the product shows an honest countdown - not an invented answer.</a:t>
            </a:r>
            <a:endParaRPr lang="en-US" sz="1250" dirty="0"/>
          </a:p>
        </p:txBody>
      </p:sp>
      <p:sp>
        <p:nvSpPr>
          <p:cNvPr id="19" name="Shape 17"/>
          <p:cNvSpPr/>
          <p:nvPr/>
        </p:nvSpPr>
        <p:spPr>
          <a:xfrm>
            <a:off x="548640" y="5056632"/>
            <a:ext cx="11064240" cy="950976"/>
          </a:xfrm>
          <a:prstGeom prst="roundRect">
            <a:avLst>
              <a:gd name="adj" fmla="val 7692"/>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20" name="Shape 18"/>
          <p:cNvSpPr/>
          <p:nvPr/>
        </p:nvSpPr>
        <p:spPr>
          <a:xfrm>
            <a:off x="868680" y="5303520"/>
            <a:ext cx="457200" cy="457200"/>
          </a:xfrm>
          <a:prstGeom prst="ellipse">
            <a:avLst/>
          </a:prstGeom>
          <a:solidFill>
            <a:srgbClr val="102A43"/>
          </a:solidFill>
          <a:ln w="15875">
            <a:solidFill>
              <a:srgbClr val="2CE6A2"/>
            </a:solidFill>
            <a:prstDash val="solid"/>
          </a:ln>
        </p:spPr>
      </p:sp>
      <p:sp>
        <p:nvSpPr>
          <p:cNvPr id="21" name="Shape 19"/>
          <p:cNvSpPr/>
          <p:nvPr/>
        </p:nvSpPr>
        <p:spPr>
          <a:xfrm>
            <a:off x="1024128" y="5458968"/>
            <a:ext cx="146304" cy="146304"/>
          </a:xfrm>
          <a:prstGeom prst="ellipse">
            <a:avLst/>
          </a:prstGeom>
          <a:solidFill>
            <a:srgbClr val="2CE6A2"/>
          </a:solidFill>
          <a:ln/>
        </p:spPr>
      </p:sp>
      <p:sp>
        <p:nvSpPr>
          <p:cNvPr id="22" name="Text 20"/>
          <p:cNvSpPr/>
          <p:nvPr/>
        </p:nvSpPr>
        <p:spPr>
          <a:xfrm>
            <a:off x="1554480" y="5184648"/>
            <a:ext cx="4023360" cy="694944"/>
          </a:xfrm>
          <a:prstGeom prst="rect">
            <a:avLst/>
          </a:prstGeom>
          <a:noFill/>
          <a:ln/>
        </p:spPr>
        <p:txBody>
          <a:bodyPr wrap="square" lIns="0" tIns="0" rIns="0" bIns="0" rtlCol="0" anchor="ctr"/>
          <a:lstStyle/>
          <a:p>
            <a:pPr indent="0" marL="0">
              <a:buNone/>
            </a:pPr>
            <a:r>
              <a:rPr lang="en-US" sz="1600" b="1" dirty="0">
                <a:solidFill>
                  <a:srgbClr val="EAF6FF"/>
                </a:solidFill>
                <a:latin typeface="Cambria" pitchFamily="34" charset="0"/>
                <a:ea typeface="Cambria" pitchFamily="34" charset="-122"/>
                <a:cs typeface="Cambria" pitchFamily="34" charset="-120"/>
              </a:rPr>
              <a:t>Grounded assistance</a:t>
            </a:r>
            <a:endParaRPr lang="en-US" sz="1600" dirty="0"/>
          </a:p>
        </p:txBody>
      </p:sp>
      <p:sp>
        <p:nvSpPr>
          <p:cNvPr id="23" name="Text 21"/>
          <p:cNvSpPr/>
          <p:nvPr/>
        </p:nvSpPr>
        <p:spPr>
          <a:xfrm>
            <a:off x="5669280" y="5166360"/>
            <a:ext cx="5760720" cy="749808"/>
          </a:xfrm>
          <a:prstGeom prst="rect">
            <a:avLst/>
          </a:prstGeom>
          <a:noFill/>
          <a:ln/>
        </p:spPr>
        <p:txBody>
          <a:bodyPr wrap="square" lIns="0" tIns="0" rIns="0" bIns="0" rtlCol="0" anchor="ctr"/>
          <a:lstStyle/>
          <a:p>
            <a:pPr indent="0" marL="0">
              <a:buNone/>
            </a:pPr>
            <a:r>
              <a:rPr lang="en-US" sz="1250" dirty="0">
                <a:solidFill>
                  <a:srgbClr val="8EA7C1"/>
                </a:solidFill>
                <a:latin typeface="Calibri" pitchFamily="34" charset="0"/>
                <a:ea typeface="Calibri" pitchFamily="34" charset="-122"/>
                <a:cs typeface="Calibri" pitchFamily="34" charset="-120"/>
              </a:rPr>
              <a:t>The assistant explains findings with citations and cannot present a number that isn't grounded in resolvable evidence.</a:t>
            </a:r>
            <a:endParaRPr lang="en-US" sz="1250" dirty="0"/>
          </a:p>
        </p:txBody>
      </p:sp>
      <p:sp>
        <p:nvSpPr>
          <p:cNvPr id="24" name="Text 22"/>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25" name="Text 23"/>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26" name="Text 24"/>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SECURITY &amp; OT POSTURE</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Built so your DBA and automation team can say yes.</a:t>
            </a:r>
            <a:endParaRPr lang="en-US" sz="3000" dirty="0"/>
          </a:p>
        </p:txBody>
      </p:sp>
      <p:sp>
        <p:nvSpPr>
          <p:cNvPr id="4" name="Shape 2"/>
          <p:cNvSpPr/>
          <p:nvPr/>
        </p:nvSpPr>
        <p:spPr>
          <a:xfrm>
            <a:off x="548640" y="1874520"/>
            <a:ext cx="544068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822960" y="2020824"/>
            <a:ext cx="4937760" cy="365760"/>
          </a:xfrm>
          <a:prstGeom prst="rect">
            <a:avLst/>
          </a:prstGeom>
          <a:noFill/>
          <a:ln/>
        </p:spPr>
        <p:txBody>
          <a:bodyPr wrap="square" lIns="0" tIns="0" rIns="0" bIns="0" rtlCol="0" anchor="ctr"/>
          <a:lstStyle/>
          <a:p>
            <a:pPr indent="0" marL="0">
              <a:buNone/>
            </a:pPr>
            <a:r>
              <a:rPr lang="en-US" sz="1500" b="1" dirty="0">
                <a:solidFill>
                  <a:srgbClr val="00D4FF"/>
                </a:solidFill>
                <a:latin typeface="Cambria" pitchFamily="34" charset="0"/>
                <a:ea typeface="Cambria" pitchFamily="34" charset="-122"/>
                <a:cs typeface="Cambria" pitchFamily="34" charset="-120"/>
              </a:rPr>
              <a:t>Read-only is absolute</a:t>
            </a:r>
            <a:endParaRPr lang="en-US" sz="1500" dirty="0"/>
          </a:p>
        </p:txBody>
      </p:sp>
      <p:sp>
        <p:nvSpPr>
          <p:cNvPr id="6" name="Text 4"/>
          <p:cNvSpPr/>
          <p:nvPr/>
        </p:nvSpPr>
        <p:spPr>
          <a:xfrm>
            <a:off x="822960" y="2404872"/>
            <a:ext cx="4983480" cy="685800"/>
          </a:xfrm>
          <a:prstGeom prst="rect">
            <a:avLst/>
          </a:prstGeom>
          <a:noFill/>
          <a:ln/>
        </p:spPr>
        <p:txBody>
          <a:bodyPr wrap="square" lIns="0" tIns="0" rIns="0" bIns="0" rtlCol="0" anchor="ctr"/>
          <a:lstStyle/>
          <a:p>
            <a:pPr indent="0" marL="0">
              <a:buNone/>
            </a:pPr>
            <a:r>
              <a:rPr lang="en-US" sz="1200" dirty="0">
                <a:solidFill>
                  <a:srgbClr val="8EA7C1"/>
                </a:solidFill>
                <a:latin typeface="Calibri" pitchFamily="34" charset="0"/>
                <a:ea typeface="Calibri" pitchFamily="34" charset="-122"/>
                <a:cs typeface="Calibri" pitchFamily="34" charset="-120"/>
              </a:rPr>
              <a:t>No write, setpoint, command, or DDL to any source or control system - ever.</a:t>
            </a:r>
            <a:endParaRPr lang="en-US" sz="1200" dirty="0"/>
          </a:p>
        </p:txBody>
      </p:sp>
      <p:sp>
        <p:nvSpPr>
          <p:cNvPr id="7" name="Shape 5"/>
          <p:cNvSpPr/>
          <p:nvPr/>
        </p:nvSpPr>
        <p:spPr>
          <a:xfrm>
            <a:off x="6172200" y="1874520"/>
            <a:ext cx="544068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8" name="Text 6"/>
          <p:cNvSpPr/>
          <p:nvPr/>
        </p:nvSpPr>
        <p:spPr>
          <a:xfrm>
            <a:off x="6446520" y="2020824"/>
            <a:ext cx="4937760" cy="365760"/>
          </a:xfrm>
          <a:prstGeom prst="rect">
            <a:avLst/>
          </a:prstGeom>
          <a:noFill/>
          <a:ln/>
        </p:spPr>
        <p:txBody>
          <a:bodyPr wrap="square" lIns="0" tIns="0" rIns="0" bIns="0" rtlCol="0" anchor="ctr"/>
          <a:lstStyle/>
          <a:p>
            <a:pPr indent="0" marL="0">
              <a:buNone/>
            </a:pPr>
            <a:r>
              <a:rPr lang="en-US" sz="1500" b="1" dirty="0">
                <a:solidFill>
                  <a:srgbClr val="00D4FF"/>
                </a:solidFill>
                <a:latin typeface="Cambria" pitchFamily="34" charset="0"/>
                <a:ea typeface="Cambria" pitchFamily="34" charset="-122"/>
                <a:cs typeface="Cambria" pitchFamily="34" charset="-120"/>
              </a:rPr>
              <a:t>OT-safe acquisition</a:t>
            </a:r>
            <a:endParaRPr lang="en-US" sz="1500" dirty="0"/>
          </a:p>
        </p:txBody>
      </p:sp>
      <p:sp>
        <p:nvSpPr>
          <p:cNvPr id="9" name="Text 7"/>
          <p:cNvSpPr/>
          <p:nvPr/>
        </p:nvSpPr>
        <p:spPr>
          <a:xfrm>
            <a:off x="6446520" y="2404872"/>
            <a:ext cx="4983480" cy="685800"/>
          </a:xfrm>
          <a:prstGeom prst="rect">
            <a:avLst/>
          </a:prstGeom>
          <a:noFill/>
          <a:ln/>
        </p:spPr>
        <p:txBody>
          <a:bodyPr wrap="square" lIns="0" tIns="0" rIns="0" bIns="0" rtlCol="0" anchor="ctr"/>
          <a:lstStyle/>
          <a:p>
            <a:pPr indent="0" marL="0">
              <a:buNone/>
            </a:pPr>
            <a:r>
              <a:rPr lang="en-US" sz="1200" dirty="0">
                <a:solidFill>
                  <a:srgbClr val="8EA7C1"/>
                </a:solidFill>
                <a:latin typeface="Calibri" pitchFamily="34" charset="0"/>
                <a:ea typeface="Calibri" pitchFamily="34" charset="-122"/>
                <a:cs typeface="Calibri" pitchFamily="34" charset="-120"/>
              </a:rPr>
              <a:t>A customer-controlled edge collector pushes one-way; the core never connects into OT. Data-diode option.</a:t>
            </a:r>
            <a:endParaRPr lang="en-US" sz="1200" dirty="0"/>
          </a:p>
        </p:txBody>
      </p:sp>
      <p:sp>
        <p:nvSpPr>
          <p:cNvPr id="10" name="Shape 8"/>
          <p:cNvSpPr/>
          <p:nvPr/>
        </p:nvSpPr>
        <p:spPr>
          <a:xfrm>
            <a:off x="548640" y="3337560"/>
            <a:ext cx="544068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1" name="Text 9"/>
          <p:cNvSpPr/>
          <p:nvPr/>
        </p:nvSpPr>
        <p:spPr>
          <a:xfrm>
            <a:off x="822960" y="3483864"/>
            <a:ext cx="4937760" cy="365760"/>
          </a:xfrm>
          <a:prstGeom prst="rect">
            <a:avLst/>
          </a:prstGeom>
          <a:noFill/>
          <a:ln/>
        </p:spPr>
        <p:txBody>
          <a:bodyPr wrap="square" lIns="0" tIns="0" rIns="0" bIns="0" rtlCol="0" anchor="ctr"/>
          <a:lstStyle/>
          <a:p>
            <a:pPr indent="0" marL="0">
              <a:buNone/>
            </a:pPr>
            <a:r>
              <a:rPr lang="en-US" sz="1500" b="1" dirty="0">
                <a:solidFill>
                  <a:srgbClr val="00D4FF"/>
                </a:solidFill>
                <a:latin typeface="Cambria" pitchFamily="34" charset="0"/>
                <a:ea typeface="Cambria" pitchFamily="34" charset="-122"/>
                <a:cs typeface="Cambria" pitchFamily="34" charset="-120"/>
              </a:rPr>
              <a:t>Identity hardened</a:t>
            </a:r>
            <a:endParaRPr lang="en-US" sz="1500" dirty="0"/>
          </a:p>
        </p:txBody>
      </p:sp>
      <p:sp>
        <p:nvSpPr>
          <p:cNvPr id="12" name="Text 10"/>
          <p:cNvSpPr/>
          <p:nvPr/>
        </p:nvSpPr>
        <p:spPr>
          <a:xfrm>
            <a:off x="822960" y="3867912"/>
            <a:ext cx="4983480" cy="685800"/>
          </a:xfrm>
          <a:prstGeom prst="rect">
            <a:avLst/>
          </a:prstGeom>
          <a:noFill/>
          <a:ln/>
        </p:spPr>
        <p:txBody>
          <a:bodyPr wrap="square" lIns="0" tIns="0" rIns="0" bIns="0" rtlCol="0" anchor="ctr"/>
          <a:lstStyle/>
          <a:p>
            <a:pPr indent="0" marL="0">
              <a:buNone/>
            </a:pPr>
            <a:r>
              <a:rPr lang="en-US" sz="1200" dirty="0">
                <a:solidFill>
                  <a:srgbClr val="8EA7C1"/>
                </a:solidFill>
                <a:latin typeface="Calibri" pitchFamily="34" charset="0"/>
                <a:ea typeface="Calibri" pitchFamily="34" charset="-122"/>
                <a:cs typeface="Calibri" pitchFamily="34" charset="-120"/>
              </a:rPr>
              <a:t>Token in memory + HttpOnly cookie - never localStorage. MFA enforceable for admins.</a:t>
            </a:r>
            <a:endParaRPr lang="en-US" sz="1200" dirty="0"/>
          </a:p>
        </p:txBody>
      </p:sp>
      <p:sp>
        <p:nvSpPr>
          <p:cNvPr id="13" name="Shape 11"/>
          <p:cNvSpPr/>
          <p:nvPr/>
        </p:nvSpPr>
        <p:spPr>
          <a:xfrm>
            <a:off x="6172200" y="3337560"/>
            <a:ext cx="544068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4" name="Text 12"/>
          <p:cNvSpPr/>
          <p:nvPr/>
        </p:nvSpPr>
        <p:spPr>
          <a:xfrm>
            <a:off x="6446520" y="3483864"/>
            <a:ext cx="4937760" cy="365760"/>
          </a:xfrm>
          <a:prstGeom prst="rect">
            <a:avLst/>
          </a:prstGeom>
          <a:noFill/>
          <a:ln/>
        </p:spPr>
        <p:txBody>
          <a:bodyPr wrap="square" lIns="0" tIns="0" rIns="0" bIns="0" rtlCol="0" anchor="ctr"/>
          <a:lstStyle/>
          <a:p>
            <a:pPr indent="0" marL="0">
              <a:buNone/>
            </a:pPr>
            <a:r>
              <a:rPr lang="en-US" sz="1500" b="1" dirty="0">
                <a:solidFill>
                  <a:srgbClr val="00D4FF"/>
                </a:solidFill>
                <a:latin typeface="Cambria" pitchFamily="34" charset="0"/>
                <a:ea typeface="Cambria" pitchFamily="34" charset="-122"/>
                <a:cs typeface="Cambria" pitchFamily="34" charset="-120"/>
              </a:rPr>
              <a:t>Secrets &amp; encryption</a:t>
            </a:r>
            <a:endParaRPr lang="en-US" sz="1500" dirty="0"/>
          </a:p>
        </p:txBody>
      </p:sp>
      <p:sp>
        <p:nvSpPr>
          <p:cNvPr id="15" name="Text 13"/>
          <p:cNvSpPr/>
          <p:nvPr/>
        </p:nvSpPr>
        <p:spPr>
          <a:xfrm>
            <a:off x="6446520" y="3867912"/>
            <a:ext cx="4983480" cy="685800"/>
          </a:xfrm>
          <a:prstGeom prst="rect">
            <a:avLst/>
          </a:prstGeom>
          <a:noFill/>
          <a:ln/>
        </p:spPr>
        <p:txBody>
          <a:bodyPr wrap="square" lIns="0" tIns="0" rIns="0" bIns="0" rtlCol="0" anchor="ctr"/>
          <a:lstStyle/>
          <a:p>
            <a:pPr indent="0" marL="0">
              <a:buNone/>
            </a:pPr>
            <a:r>
              <a:rPr lang="en-US" sz="1200" dirty="0">
                <a:solidFill>
                  <a:srgbClr val="8EA7C1"/>
                </a:solidFill>
                <a:latin typeface="Calibri" pitchFamily="34" charset="0"/>
                <a:ea typeface="Calibri" pitchFamily="34" charset="-122"/>
                <a:cs typeface="Calibri" pitchFamily="34" charset="-120"/>
              </a:rPr>
              <a:t>Credentials in an encrypted vault, masked on read-back; secrets encrypted at rest; per-environment signed keys.</a:t>
            </a:r>
            <a:endParaRPr lang="en-US" sz="1200" dirty="0"/>
          </a:p>
        </p:txBody>
      </p:sp>
      <p:sp>
        <p:nvSpPr>
          <p:cNvPr id="16" name="Shape 14"/>
          <p:cNvSpPr/>
          <p:nvPr/>
        </p:nvSpPr>
        <p:spPr>
          <a:xfrm>
            <a:off x="548640" y="4800600"/>
            <a:ext cx="544068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7" name="Text 15"/>
          <p:cNvSpPr/>
          <p:nvPr/>
        </p:nvSpPr>
        <p:spPr>
          <a:xfrm>
            <a:off x="822960" y="4946904"/>
            <a:ext cx="4937760" cy="365760"/>
          </a:xfrm>
          <a:prstGeom prst="rect">
            <a:avLst/>
          </a:prstGeom>
          <a:noFill/>
          <a:ln/>
        </p:spPr>
        <p:txBody>
          <a:bodyPr wrap="square" lIns="0" tIns="0" rIns="0" bIns="0" rtlCol="0" anchor="ctr"/>
          <a:lstStyle/>
          <a:p>
            <a:pPr indent="0" marL="0">
              <a:buNone/>
            </a:pPr>
            <a:r>
              <a:rPr lang="en-US" sz="1500" b="1" dirty="0">
                <a:solidFill>
                  <a:srgbClr val="00D4FF"/>
                </a:solidFill>
                <a:latin typeface="Cambria" pitchFamily="34" charset="0"/>
                <a:ea typeface="Cambria" pitchFamily="34" charset="-122"/>
                <a:cs typeface="Cambria" pitchFamily="34" charset="-120"/>
              </a:rPr>
              <a:t>Tenant isolation</a:t>
            </a:r>
            <a:endParaRPr lang="en-US" sz="1500" dirty="0"/>
          </a:p>
        </p:txBody>
      </p:sp>
      <p:sp>
        <p:nvSpPr>
          <p:cNvPr id="18" name="Text 16"/>
          <p:cNvSpPr/>
          <p:nvPr/>
        </p:nvSpPr>
        <p:spPr>
          <a:xfrm>
            <a:off x="822960" y="5330952"/>
            <a:ext cx="4983480" cy="685800"/>
          </a:xfrm>
          <a:prstGeom prst="rect">
            <a:avLst/>
          </a:prstGeom>
          <a:noFill/>
          <a:ln/>
        </p:spPr>
        <p:txBody>
          <a:bodyPr wrap="square" lIns="0" tIns="0" rIns="0" bIns="0" rtlCol="0" anchor="ctr"/>
          <a:lstStyle/>
          <a:p>
            <a:pPr indent="0" marL="0">
              <a:buNone/>
            </a:pPr>
            <a:r>
              <a:rPr lang="en-US" sz="1200" dirty="0">
                <a:solidFill>
                  <a:srgbClr val="8EA7C1"/>
                </a:solidFill>
                <a:latin typeface="Calibri" pitchFamily="34" charset="0"/>
                <a:ea typeface="Calibri" pitchFamily="34" charset="-122"/>
                <a:cs typeface="Calibri" pitchFamily="34" charset="-120"/>
              </a:rPr>
              <a:t>Identifier + row-level security, or physical isolation. Cross-tenant requests return empty or forbidden.</a:t>
            </a:r>
            <a:endParaRPr lang="en-US" sz="1200" dirty="0"/>
          </a:p>
        </p:txBody>
      </p:sp>
      <p:sp>
        <p:nvSpPr>
          <p:cNvPr id="19" name="Shape 17"/>
          <p:cNvSpPr/>
          <p:nvPr/>
        </p:nvSpPr>
        <p:spPr>
          <a:xfrm>
            <a:off x="6172200" y="4800600"/>
            <a:ext cx="5440680" cy="1280160"/>
          </a:xfrm>
          <a:prstGeom prst="roundRect">
            <a:avLst>
              <a:gd name="adj" fmla="val 571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20" name="Text 18"/>
          <p:cNvSpPr/>
          <p:nvPr/>
        </p:nvSpPr>
        <p:spPr>
          <a:xfrm>
            <a:off x="6446520" y="4946904"/>
            <a:ext cx="4937760" cy="365760"/>
          </a:xfrm>
          <a:prstGeom prst="rect">
            <a:avLst/>
          </a:prstGeom>
          <a:noFill/>
          <a:ln/>
        </p:spPr>
        <p:txBody>
          <a:bodyPr wrap="square" lIns="0" tIns="0" rIns="0" bIns="0" rtlCol="0" anchor="ctr"/>
          <a:lstStyle/>
          <a:p>
            <a:pPr indent="0" marL="0">
              <a:buNone/>
            </a:pPr>
            <a:r>
              <a:rPr lang="en-US" sz="1500" b="1" dirty="0">
                <a:solidFill>
                  <a:srgbClr val="00D4FF"/>
                </a:solidFill>
                <a:latin typeface="Cambria" pitchFamily="34" charset="0"/>
                <a:ea typeface="Cambria" pitchFamily="34" charset="-122"/>
                <a:cs typeface="Cambria" pitchFamily="34" charset="-120"/>
              </a:rPr>
              <a:t>Audit &amp; hardening</a:t>
            </a:r>
            <a:endParaRPr lang="en-US" sz="1500" dirty="0"/>
          </a:p>
        </p:txBody>
      </p:sp>
      <p:sp>
        <p:nvSpPr>
          <p:cNvPr id="21" name="Text 19"/>
          <p:cNvSpPr/>
          <p:nvPr/>
        </p:nvSpPr>
        <p:spPr>
          <a:xfrm>
            <a:off x="6446520" y="5330952"/>
            <a:ext cx="4983480" cy="685800"/>
          </a:xfrm>
          <a:prstGeom prst="rect">
            <a:avLst/>
          </a:prstGeom>
          <a:noFill/>
          <a:ln/>
        </p:spPr>
        <p:txBody>
          <a:bodyPr wrap="square" lIns="0" tIns="0" rIns="0" bIns="0" rtlCol="0" anchor="ctr"/>
          <a:lstStyle/>
          <a:p>
            <a:pPr indent="0" marL="0">
              <a:buNone/>
            </a:pPr>
            <a:r>
              <a:rPr lang="en-US" sz="1200" dirty="0">
                <a:solidFill>
                  <a:srgbClr val="8EA7C1"/>
                </a:solidFill>
                <a:latin typeface="Calibri" pitchFamily="34" charset="0"/>
                <a:ea typeface="Calibri" pitchFamily="34" charset="-122"/>
                <a:cs typeface="Calibri" pitchFamily="34" charset="-120"/>
              </a:rPr>
              <a:t>Append-only audit log; database bound to loopback; no dev endpoints in production.</a:t>
            </a:r>
            <a:endParaRPr lang="en-US" sz="1200" dirty="0"/>
          </a:p>
        </p:txBody>
      </p:sp>
      <p:sp>
        <p:nvSpPr>
          <p:cNvPr id="22" name="Text 20"/>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23" name="Text 21"/>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24" name="Text 22"/>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WHY IT'S DIFFERENT</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Not another BI dashboard.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468880"/>
                <a:gridCol w="4297680"/>
                <a:gridCol w="4297680"/>
              </a:tblGrid>
              <a:tr h="457200">
                <a:tc>
                  <a:txBody>
                    <a:bodyPr/>
                    <a:lstStyle/>
                    <a:p>
                      <a:pPr algn="l" indent="0" marL="0">
                        <a:buNone/>
                      </a:pP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ctr" indent="0" marL="0">
                        <a:buNone/>
                      </a:pPr>
                      <a:r>
                        <a:rPr lang="en-US" sz="1400" b="1" dirty="0">
                          <a:solidFill>
                            <a:srgbClr val="8EA7C1"/>
                          </a:solidFill>
                          <a:latin typeface="Cambria" pitchFamily="34" charset="0"/>
                          <a:ea typeface="Cambria" pitchFamily="34" charset="-122"/>
                          <a:cs typeface="Cambria" pitchFamily="34" charset="-120"/>
                        </a:rPr>
                        <a:t>A BI / reporting tool</a:t>
                      </a:r>
                      <a:endParaRPr lang="en-US" sz="1400" dirty="0">
                        <a:latin typeface="Cambria" charset="0"/>
                        <a:ea typeface="Cambria" charset="0"/>
                        <a:cs typeface="Cambria"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102A43"/>
                    </a:solidFill>
                  </a:tcPr>
                </a:tc>
                <a:tc>
                  <a:txBody>
                    <a:bodyPr/>
                    <a:lstStyle/>
                    <a:p>
                      <a:pPr algn="ctr" indent="0" marL="0">
                        <a:buNone/>
                      </a:pPr>
                      <a:r>
                        <a:rPr lang="en-US" sz="1400" b="1" dirty="0">
                          <a:solidFill>
                            <a:srgbClr val="00D4FF"/>
                          </a:solidFill>
                          <a:latin typeface="Cambria" pitchFamily="34" charset="0"/>
                          <a:ea typeface="Cambria" pitchFamily="34" charset="-122"/>
                          <a:cs typeface="Cambria" pitchFamily="34" charset="-120"/>
                        </a:rPr>
                        <a:t>PlantProcess IQ</a:t>
                      </a:r>
                      <a:endParaRPr lang="en-US" sz="1400" dirty="0">
                        <a:latin typeface="Cambria" charset="0"/>
                        <a:ea typeface="Cambria" charset="0"/>
                        <a:cs typeface="Cambria"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102A43"/>
                    </a:solidFill>
                  </a:tcPr>
                </a:tc>
              </a:tr>
              <a:tr h="566928">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Data preparation</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You prepare and join the data first</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Builds the genealogy from your keys</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r>
              <a:tr h="566928">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Genealogy</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Both-direction thread across all sources</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r>
              <a:tr h="566928">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Defect drivers</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You build the analysis</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Honest correlation jobs, FDR-controlled</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r>
              <a:tr h="566928">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You compute it</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Bounded euro range with an abstain path</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r>
              <a:tr h="566928">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Posture</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Generic charts</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c>
                  <a:txBody>
                    <a:bodyPr/>
                    <a:lstStyle/>
                    <a:p>
                      <a:pPr algn="l" indent="0" marL="0">
                        <a:buNone/>
                      </a:pPr>
                      <a:r>
                        <a:rPr lang="en-US" sz="1250" dirty="0">
                          <a:solidFill>
                            <a:srgbClr val="EAF6FF"/>
                          </a:solidFill>
                          <a:latin typeface="Calibri" pitchFamily="34" charset="0"/>
                          <a:ea typeface="Calibri" pitchFamily="34" charset="-122"/>
                          <a:cs typeface="Calibri" pitchFamily="34" charset="-120"/>
                        </a:rPr>
                        <a:t>Read-only, evidence-grade, suspected-contributor</a:t>
                      </a:r>
                      <a:endParaRPr lang="en-US" sz="1250" dirty="0">
                        <a:latin typeface="Calibri" charset="0"/>
                        <a:ea typeface="Calibri" charset="0"/>
                        <a:cs typeface="Calibri" charset="0"/>
                      </a:endParaRPr>
                    </a:p>
                  </a:txBody>
                  <a:tcPr marL="101600" marR="101600" marT="38100" marB="38100" anchor="ctr">
                    <a:lnL w="9525" cap="flat" cmpd="sng" algn="ctr">
                      <a:solidFill>
                        <a:srgbClr val="1C3047"/>
                      </a:solidFill>
                      <a:prstDash val="solid"/>
                      <a:round/>
                      <a:headEnd type="none" w="med" len="med"/>
                      <a:tailEnd type="none" w="med" len="med"/>
                    </a:lnL>
                    <a:lnR w="9525" cap="flat" cmpd="sng" algn="ctr">
                      <a:solidFill>
                        <a:srgbClr val="1C3047"/>
                      </a:solidFill>
                      <a:prstDash val="solid"/>
                      <a:round/>
                      <a:headEnd type="none" w="med" len="med"/>
                      <a:tailEnd type="none" w="med" len="med"/>
                    </a:lnR>
                    <a:lnT w="9525" cap="flat" cmpd="sng" algn="ctr">
                      <a:solidFill>
                        <a:srgbClr val="1C3047"/>
                      </a:solidFill>
                      <a:prstDash val="solid"/>
                      <a:round/>
                      <a:headEnd type="none" w="med" len="med"/>
                      <a:tailEnd type="none" w="med" len="med"/>
                    </a:lnT>
                    <a:lnB w="9525" cap="flat" cmpd="sng" algn="ctr">
                      <a:solidFill>
                        <a:srgbClr val="1C3047"/>
                      </a:solidFill>
                      <a:prstDash val="solid"/>
                      <a:round/>
                      <a:headEnd type="none" w="med" len="med"/>
                      <a:tailEnd type="none" w="med" len="med"/>
                    </a:lnB>
                    <a:solidFill>
                      <a:srgbClr val="0B1730"/>
                    </a:solidFill>
                  </a:tcPr>
                </a:tc>
              </a:tr>
            </a:tbl>
          </a:graphicData>
        </a:graphic>
      </p:graphicFrame>
      <p:sp>
        <p:nvSpPr>
          <p:cNvPr id="5" name="Text 2"/>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6" name="Text 3"/>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7" name="Text 4"/>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EDITIONS</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Pay for the depth you use.</a:t>
            </a:r>
            <a:endParaRPr lang="en-US" sz="3000" dirty="0"/>
          </a:p>
        </p:txBody>
      </p:sp>
      <p:sp>
        <p:nvSpPr>
          <p:cNvPr id="4" name="Shape 2"/>
          <p:cNvSpPr/>
          <p:nvPr/>
        </p:nvSpPr>
        <p:spPr>
          <a:xfrm>
            <a:off x="548640" y="1920240"/>
            <a:ext cx="2715768" cy="3383280"/>
          </a:xfrm>
          <a:prstGeom prst="roundRect">
            <a:avLst>
              <a:gd name="adj" fmla="val 269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41248" y="2212848"/>
            <a:ext cx="310896" cy="310896"/>
          </a:xfrm>
          <a:prstGeom prst="ellipse">
            <a:avLst/>
          </a:prstGeom>
          <a:solidFill>
            <a:srgbClr val="8EA7C1"/>
          </a:solidFill>
          <a:ln/>
        </p:spPr>
      </p:sp>
      <p:sp>
        <p:nvSpPr>
          <p:cNvPr id="6" name="Text 4"/>
          <p:cNvSpPr/>
          <p:nvPr/>
        </p:nvSpPr>
        <p:spPr>
          <a:xfrm>
            <a:off x="1261872" y="2194560"/>
            <a:ext cx="1892808" cy="457200"/>
          </a:xfrm>
          <a:prstGeom prst="rect">
            <a:avLst/>
          </a:prstGeom>
          <a:noFill/>
          <a:ln/>
        </p:spPr>
        <p:txBody>
          <a:bodyPr wrap="square" lIns="0" tIns="0" rIns="0" bIns="0" rtlCol="0" anchor="ctr"/>
          <a:lstStyle/>
          <a:p>
            <a:pPr indent="0" marL="0">
              <a:buNone/>
            </a:pPr>
            <a:r>
              <a:rPr lang="en-US" sz="2000" b="1" dirty="0">
                <a:solidFill>
                  <a:srgbClr val="EAF6FF"/>
                </a:solidFill>
                <a:latin typeface="Cambria" pitchFamily="34" charset="0"/>
                <a:ea typeface="Cambria" pitchFamily="34" charset="-122"/>
                <a:cs typeface="Cambria" pitchFamily="34" charset="-120"/>
              </a:rPr>
              <a:t>Light</a:t>
            </a:r>
            <a:endParaRPr lang="en-US" sz="2000" dirty="0"/>
          </a:p>
        </p:txBody>
      </p:sp>
      <p:sp>
        <p:nvSpPr>
          <p:cNvPr id="7" name="Text 5"/>
          <p:cNvSpPr/>
          <p:nvPr/>
        </p:nvSpPr>
        <p:spPr>
          <a:xfrm>
            <a:off x="841248" y="2743200"/>
            <a:ext cx="2167128" cy="640080"/>
          </a:xfrm>
          <a:prstGeom prst="rect">
            <a:avLst/>
          </a:prstGeom>
          <a:noFill/>
          <a:ln/>
        </p:spPr>
        <p:txBody>
          <a:bodyPr wrap="square" lIns="0" tIns="0" rIns="0" bIns="0" rtlCol="0" anchor="ctr"/>
          <a:lstStyle/>
          <a:p>
            <a:pPr indent="0" marL="0">
              <a:buNone/>
            </a:pPr>
            <a:r>
              <a:rPr lang="en-US" sz="1250" i="1" dirty="0">
                <a:solidFill>
                  <a:srgbClr val="8EA7C1"/>
                </a:solidFill>
                <a:latin typeface="Calibri" pitchFamily="34" charset="0"/>
                <a:ea typeface="Calibri" pitchFamily="34" charset="-122"/>
                <a:cs typeface="Calibri" pitchFamily="34" charset="-120"/>
              </a:rPr>
              <a:t>First connected plant, core investigation</a:t>
            </a:r>
            <a:endParaRPr lang="en-US" sz="1250" dirty="0"/>
          </a:p>
        </p:txBody>
      </p:sp>
      <p:sp>
        <p:nvSpPr>
          <p:cNvPr id="8" name="Text 6"/>
          <p:cNvSpPr/>
          <p:nvPr/>
        </p:nvSpPr>
        <p:spPr>
          <a:xfrm>
            <a:off x="841248" y="3429000"/>
            <a:ext cx="2185416" cy="1737360"/>
          </a:xfrm>
          <a:prstGeom prst="rect">
            <a:avLst/>
          </a:prstGeom>
          <a:noFill/>
          <a:ln/>
        </p:spPr>
        <p:txBody>
          <a:bodyPr wrap="square" lIns="0" tIns="0" rIns="0" bIns="0" rtlCol="0" anchor="ctr"/>
          <a:lstStyle/>
          <a:p>
            <a:pPr indent="0" marL="0">
              <a:lnSpc>
                <a:spcPct val="115000"/>
              </a:lnSpc>
              <a:buNone/>
            </a:pPr>
            <a:r>
              <a:rPr lang="en-US" sz="1200" dirty="0">
                <a:solidFill>
                  <a:srgbClr val="8EA7C1"/>
                </a:solidFill>
                <a:latin typeface="Calibri" pitchFamily="34" charset="0"/>
                <a:ea typeface="Calibri" pitchFamily="34" charset="-122"/>
                <a:cs typeface="Calibri" pitchFamily="34" charset="-120"/>
              </a:rPr>
              <a:t>Integration, staging, mapping &amp; genealogy, dashboards, on-demand correlation</a:t>
            </a:r>
            <a:endParaRPr lang="en-US" sz="1200" dirty="0"/>
          </a:p>
        </p:txBody>
      </p:sp>
      <p:sp>
        <p:nvSpPr>
          <p:cNvPr id="9" name="Shape 7"/>
          <p:cNvSpPr/>
          <p:nvPr/>
        </p:nvSpPr>
        <p:spPr>
          <a:xfrm>
            <a:off x="3355848" y="1920240"/>
            <a:ext cx="2715768" cy="3383280"/>
          </a:xfrm>
          <a:prstGeom prst="roundRect">
            <a:avLst>
              <a:gd name="adj" fmla="val 269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0" name="Shape 8"/>
          <p:cNvSpPr/>
          <p:nvPr/>
        </p:nvSpPr>
        <p:spPr>
          <a:xfrm>
            <a:off x="3648456" y="2212848"/>
            <a:ext cx="310896" cy="310896"/>
          </a:xfrm>
          <a:prstGeom prst="ellipse">
            <a:avLst/>
          </a:prstGeom>
          <a:solidFill>
            <a:srgbClr val="FFB020"/>
          </a:solidFill>
          <a:ln/>
        </p:spPr>
      </p:sp>
      <p:sp>
        <p:nvSpPr>
          <p:cNvPr id="11" name="Text 9"/>
          <p:cNvSpPr/>
          <p:nvPr/>
        </p:nvSpPr>
        <p:spPr>
          <a:xfrm>
            <a:off x="4069080" y="2194560"/>
            <a:ext cx="1892808" cy="457200"/>
          </a:xfrm>
          <a:prstGeom prst="rect">
            <a:avLst/>
          </a:prstGeom>
          <a:noFill/>
          <a:ln/>
        </p:spPr>
        <p:txBody>
          <a:bodyPr wrap="square" lIns="0" tIns="0" rIns="0" bIns="0" rtlCol="0" anchor="ctr"/>
          <a:lstStyle/>
          <a:p>
            <a:pPr indent="0" marL="0">
              <a:buNone/>
            </a:pPr>
            <a:r>
              <a:rPr lang="en-US" sz="2000" b="1" dirty="0">
                <a:solidFill>
                  <a:srgbClr val="EAF6FF"/>
                </a:solidFill>
                <a:latin typeface="Cambria" pitchFamily="34" charset="0"/>
                <a:ea typeface="Cambria" pitchFamily="34" charset="-122"/>
                <a:cs typeface="Cambria" pitchFamily="34" charset="-120"/>
              </a:rPr>
              <a:t>Pro</a:t>
            </a:r>
            <a:endParaRPr lang="en-US" sz="2000" dirty="0"/>
          </a:p>
        </p:txBody>
      </p:sp>
      <p:sp>
        <p:nvSpPr>
          <p:cNvPr id="12" name="Text 10"/>
          <p:cNvSpPr/>
          <p:nvPr/>
        </p:nvSpPr>
        <p:spPr>
          <a:xfrm>
            <a:off x="3648456" y="2743200"/>
            <a:ext cx="2167128" cy="640080"/>
          </a:xfrm>
          <a:prstGeom prst="rect">
            <a:avLst/>
          </a:prstGeom>
          <a:noFill/>
          <a:ln/>
        </p:spPr>
        <p:txBody>
          <a:bodyPr wrap="square" lIns="0" tIns="0" rIns="0" bIns="0" rtlCol="0" anchor="ctr"/>
          <a:lstStyle/>
          <a:p>
            <a:pPr indent="0" marL="0">
              <a:buNone/>
            </a:pPr>
            <a:r>
              <a:rPr lang="en-US" sz="1250" i="1" dirty="0">
                <a:solidFill>
                  <a:srgbClr val="FFB020"/>
                </a:solidFill>
                <a:latin typeface="Calibri" pitchFamily="34" charset="0"/>
                <a:ea typeface="Calibri" pitchFamily="34" charset="-122"/>
                <a:cs typeface="Calibri" pitchFamily="34" charset="-120"/>
              </a:rPr>
              <a:t>Daily operation</a:t>
            </a:r>
            <a:endParaRPr lang="en-US" sz="1250" dirty="0"/>
          </a:p>
        </p:txBody>
      </p:sp>
      <p:sp>
        <p:nvSpPr>
          <p:cNvPr id="13" name="Text 11"/>
          <p:cNvSpPr/>
          <p:nvPr/>
        </p:nvSpPr>
        <p:spPr>
          <a:xfrm>
            <a:off x="3648456" y="3429000"/>
            <a:ext cx="2185416" cy="1737360"/>
          </a:xfrm>
          <a:prstGeom prst="rect">
            <a:avLst/>
          </a:prstGeom>
          <a:noFill/>
          <a:ln/>
        </p:spPr>
        <p:txBody>
          <a:bodyPr wrap="square" lIns="0" tIns="0" rIns="0" bIns="0" rtlCol="0" anchor="ctr"/>
          <a:lstStyle/>
          <a:p>
            <a:pPr indent="0" marL="0">
              <a:lnSpc>
                <a:spcPct val="115000"/>
              </a:lnSpc>
              <a:buNone/>
            </a:pPr>
            <a:r>
              <a:rPr lang="en-US" sz="1200" dirty="0">
                <a:solidFill>
                  <a:srgbClr val="8EA7C1"/>
                </a:solidFill>
                <a:latin typeface="Calibri" pitchFamily="34" charset="0"/>
                <a:ea typeface="Calibri" pitchFamily="34" charset="-122"/>
                <a:cs typeface="Calibri" pitchFamily="34" charset="-120"/>
              </a:rPr>
              <a:t>+ scheduled learning jobs, value engine, widget customization, jobs monitor</a:t>
            </a:r>
            <a:endParaRPr lang="en-US" sz="1200" dirty="0"/>
          </a:p>
        </p:txBody>
      </p:sp>
      <p:sp>
        <p:nvSpPr>
          <p:cNvPr id="14" name="Shape 12"/>
          <p:cNvSpPr/>
          <p:nvPr/>
        </p:nvSpPr>
        <p:spPr>
          <a:xfrm>
            <a:off x="6163056" y="1920240"/>
            <a:ext cx="2715768" cy="3383280"/>
          </a:xfrm>
          <a:prstGeom prst="roundRect">
            <a:avLst>
              <a:gd name="adj" fmla="val 269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15" name="Shape 13"/>
          <p:cNvSpPr/>
          <p:nvPr/>
        </p:nvSpPr>
        <p:spPr>
          <a:xfrm>
            <a:off x="6455664" y="2212848"/>
            <a:ext cx="310896" cy="310896"/>
          </a:xfrm>
          <a:prstGeom prst="ellipse">
            <a:avLst/>
          </a:prstGeom>
          <a:solidFill>
            <a:srgbClr val="0A84FF"/>
          </a:solidFill>
          <a:ln/>
        </p:spPr>
      </p:sp>
      <p:sp>
        <p:nvSpPr>
          <p:cNvPr id="16" name="Text 14"/>
          <p:cNvSpPr/>
          <p:nvPr/>
        </p:nvSpPr>
        <p:spPr>
          <a:xfrm>
            <a:off x="6876288" y="2194560"/>
            <a:ext cx="1892808" cy="457200"/>
          </a:xfrm>
          <a:prstGeom prst="rect">
            <a:avLst/>
          </a:prstGeom>
          <a:noFill/>
          <a:ln/>
        </p:spPr>
        <p:txBody>
          <a:bodyPr wrap="square" lIns="0" tIns="0" rIns="0" bIns="0" rtlCol="0" anchor="ctr"/>
          <a:lstStyle/>
          <a:p>
            <a:pPr indent="0" marL="0">
              <a:buNone/>
            </a:pPr>
            <a:r>
              <a:rPr lang="en-US" sz="2000" b="1" dirty="0">
                <a:solidFill>
                  <a:srgbClr val="EAF6FF"/>
                </a:solidFill>
                <a:latin typeface="Cambria" pitchFamily="34" charset="0"/>
                <a:ea typeface="Cambria" pitchFamily="34" charset="-122"/>
                <a:cs typeface="Cambria" pitchFamily="34" charset="-120"/>
              </a:rPr>
              <a:t>ProPlus</a:t>
            </a:r>
            <a:endParaRPr lang="en-US" sz="2000" dirty="0"/>
          </a:p>
        </p:txBody>
      </p:sp>
      <p:sp>
        <p:nvSpPr>
          <p:cNvPr id="17" name="Text 15"/>
          <p:cNvSpPr/>
          <p:nvPr/>
        </p:nvSpPr>
        <p:spPr>
          <a:xfrm>
            <a:off x="6455664" y="2743200"/>
            <a:ext cx="2167128" cy="640080"/>
          </a:xfrm>
          <a:prstGeom prst="rect">
            <a:avLst/>
          </a:prstGeom>
          <a:noFill/>
          <a:ln/>
        </p:spPr>
        <p:txBody>
          <a:bodyPr wrap="square" lIns="0" tIns="0" rIns="0" bIns="0" rtlCol="0" anchor="ctr"/>
          <a:lstStyle/>
          <a:p>
            <a:pPr indent="0" marL="0">
              <a:buNone/>
            </a:pPr>
            <a:r>
              <a:rPr lang="en-US" sz="1250" i="1" dirty="0">
                <a:solidFill>
                  <a:srgbClr val="0A84FF"/>
                </a:solidFill>
                <a:latin typeface="Calibri" pitchFamily="34" charset="0"/>
                <a:ea typeface="Calibri" pitchFamily="34" charset="-122"/>
                <a:cs typeface="Calibri" pitchFamily="34" charset="-120"/>
              </a:rPr>
              <a:t>Advanced teams</a:t>
            </a:r>
            <a:endParaRPr lang="en-US" sz="1250" dirty="0"/>
          </a:p>
        </p:txBody>
      </p:sp>
      <p:sp>
        <p:nvSpPr>
          <p:cNvPr id="18" name="Text 16"/>
          <p:cNvSpPr/>
          <p:nvPr/>
        </p:nvSpPr>
        <p:spPr>
          <a:xfrm>
            <a:off x="6455664" y="3429000"/>
            <a:ext cx="2185416" cy="1737360"/>
          </a:xfrm>
          <a:prstGeom prst="rect">
            <a:avLst/>
          </a:prstGeom>
          <a:noFill/>
          <a:ln/>
        </p:spPr>
        <p:txBody>
          <a:bodyPr wrap="square" lIns="0" tIns="0" rIns="0" bIns="0" rtlCol="0" anchor="ctr"/>
          <a:lstStyle/>
          <a:p>
            <a:pPr indent="0" marL="0">
              <a:lnSpc>
                <a:spcPct val="115000"/>
              </a:lnSpc>
              <a:buNone/>
            </a:pPr>
            <a:r>
              <a:rPr lang="en-US" sz="1200" dirty="0">
                <a:solidFill>
                  <a:srgbClr val="8EA7C1"/>
                </a:solidFill>
                <a:latin typeface="Calibri" pitchFamily="34" charset="0"/>
                <a:ea typeface="Calibri" pitchFamily="34" charset="-122"/>
                <a:cs typeface="Calibri" pitchFamily="34" charset="-120"/>
              </a:rPr>
              <a:t>+ advanced authoring, expanded methods, extended role scoping</a:t>
            </a:r>
            <a:endParaRPr lang="en-US" sz="1200" dirty="0"/>
          </a:p>
        </p:txBody>
      </p:sp>
      <p:sp>
        <p:nvSpPr>
          <p:cNvPr id="19" name="Shape 17"/>
          <p:cNvSpPr/>
          <p:nvPr/>
        </p:nvSpPr>
        <p:spPr>
          <a:xfrm>
            <a:off x="8970264" y="1920240"/>
            <a:ext cx="2715768" cy="3383280"/>
          </a:xfrm>
          <a:prstGeom prst="roundRect">
            <a:avLst>
              <a:gd name="adj" fmla="val 2694"/>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20" name="Shape 18"/>
          <p:cNvSpPr/>
          <p:nvPr/>
        </p:nvSpPr>
        <p:spPr>
          <a:xfrm>
            <a:off x="9262872" y="2212848"/>
            <a:ext cx="310896" cy="310896"/>
          </a:xfrm>
          <a:prstGeom prst="ellipse">
            <a:avLst/>
          </a:prstGeom>
          <a:solidFill>
            <a:srgbClr val="2CE6A2"/>
          </a:solidFill>
          <a:ln/>
        </p:spPr>
      </p:sp>
      <p:sp>
        <p:nvSpPr>
          <p:cNvPr id="21" name="Text 19"/>
          <p:cNvSpPr/>
          <p:nvPr/>
        </p:nvSpPr>
        <p:spPr>
          <a:xfrm>
            <a:off x="9683496" y="2194560"/>
            <a:ext cx="1892808" cy="457200"/>
          </a:xfrm>
          <a:prstGeom prst="rect">
            <a:avLst/>
          </a:prstGeom>
          <a:noFill/>
          <a:ln/>
        </p:spPr>
        <p:txBody>
          <a:bodyPr wrap="square" lIns="0" tIns="0" rIns="0" bIns="0" rtlCol="0" anchor="ctr"/>
          <a:lstStyle/>
          <a:p>
            <a:pPr indent="0" marL="0">
              <a:buNone/>
            </a:pPr>
            <a:r>
              <a:rPr lang="en-US" sz="2000" b="1" dirty="0">
                <a:solidFill>
                  <a:srgbClr val="EAF6FF"/>
                </a:solidFill>
                <a:latin typeface="Cambria" pitchFamily="34" charset="0"/>
                <a:ea typeface="Cambria" pitchFamily="34" charset="-122"/>
                <a:cs typeface="Cambria" pitchFamily="34" charset="-120"/>
              </a:rPr>
              <a:t>Enterprise</a:t>
            </a:r>
            <a:endParaRPr lang="en-US" sz="2000" dirty="0"/>
          </a:p>
        </p:txBody>
      </p:sp>
      <p:sp>
        <p:nvSpPr>
          <p:cNvPr id="22" name="Text 20"/>
          <p:cNvSpPr/>
          <p:nvPr/>
        </p:nvSpPr>
        <p:spPr>
          <a:xfrm>
            <a:off x="9262872" y="2743200"/>
            <a:ext cx="2167128" cy="640080"/>
          </a:xfrm>
          <a:prstGeom prst="rect">
            <a:avLst/>
          </a:prstGeom>
          <a:noFill/>
          <a:ln/>
        </p:spPr>
        <p:txBody>
          <a:bodyPr wrap="square" lIns="0" tIns="0" rIns="0" bIns="0" rtlCol="0" anchor="ctr"/>
          <a:lstStyle/>
          <a:p>
            <a:pPr indent="0" marL="0">
              <a:buNone/>
            </a:pPr>
            <a:r>
              <a:rPr lang="en-US" sz="1250" i="1" dirty="0">
                <a:solidFill>
                  <a:srgbClr val="2CE6A2"/>
                </a:solidFill>
                <a:latin typeface="Calibri" pitchFamily="34" charset="0"/>
                <a:ea typeface="Calibri" pitchFamily="34" charset="-122"/>
                <a:cs typeface="Calibri" pitchFamily="34" charset="-120"/>
              </a:rPr>
              <a:t>Multi-plant / fleet</a:t>
            </a:r>
            <a:endParaRPr lang="en-US" sz="1250" dirty="0"/>
          </a:p>
        </p:txBody>
      </p:sp>
      <p:sp>
        <p:nvSpPr>
          <p:cNvPr id="23" name="Text 21"/>
          <p:cNvSpPr/>
          <p:nvPr/>
        </p:nvSpPr>
        <p:spPr>
          <a:xfrm>
            <a:off x="9262872" y="3429000"/>
            <a:ext cx="2185416" cy="1737360"/>
          </a:xfrm>
          <a:prstGeom prst="rect">
            <a:avLst/>
          </a:prstGeom>
          <a:noFill/>
          <a:ln/>
        </p:spPr>
        <p:txBody>
          <a:bodyPr wrap="square" lIns="0" tIns="0" rIns="0" bIns="0" rtlCol="0" anchor="ctr"/>
          <a:lstStyle/>
          <a:p>
            <a:pPr indent="0" marL="0">
              <a:lnSpc>
                <a:spcPct val="115000"/>
              </a:lnSpc>
              <a:buNone/>
            </a:pPr>
            <a:r>
              <a:rPr lang="en-US" sz="1200" dirty="0">
                <a:solidFill>
                  <a:srgbClr val="8EA7C1"/>
                </a:solidFill>
                <a:latin typeface="Calibri" pitchFamily="34" charset="0"/>
                <a:ea typeface="Calibri" pitchFamily="34" charset="-122"/>
                <a:cs typeface="Calibri" pitchFamily="34" charset="-120"/>
              </a:rPr>
              <a:t>+ fleet scope, dedicated / on-prem options, enterprise administration</a:t>
            </a:r>
            <a:endParaRPr lang="en-US" sz="1200" dirty="0"/>
          </a:p>
        </p:txBody>
      </p:sp>
      <p:sp>
        <p:nvSpPr>
          <p:cNvPr id="24" name="Text 22"/>
          <p:cNvSpPr/>
          <p:nvPr/>
        </p:nvSpPr>
        <p:spPr>
          <a:xfrm>
            <a:off x="548640" y="5486400"/>
            <a:ext cx="11064240" cy="548640"/>
          </a:xfrm>
          <a:prstGeom prst="rect">
            <a:avLst/>
          </a:prstGeom>
          <a:noFill/>
          <a:ln/>
        </p:spPr>
        <p:txBody>
          <a:bodyPr wrap="square" lIns="0" tIns="0" rIns="0" bIns="0" rtlCol="0" anchor="ctr"/>
          <a:lstStyle/>
          <a:p>
            <a:pPr algn="ctr" indent="0" marL="0">
              <a:buNone/>
            </a:pPr>
            <a:r>
              <a:rPr lang="en-US" sz="1250" i="1" dirty="0">
                <a:solidFill>
                  <a:srgbClr val="8EA7C1"/>
                </a:solidFill>
                <a:latin typeface="Calibri" pitchFamily="34" charset="0"/>
                <a:ea typeface="Calibri" pitchFamily="34" charset="-122"/>
                <a:cs typeface="Calibri" pitchFamily="34" charset="-120"/>
              </a:rPr>
              <a:t>Entitlements are resolved from a signed token by a single authority - the interface and the API agree, so a capability can't be reached by calling the API directly.</a:t>
            </a:r>
            <a:endParaRPr lang="en-US" sz="1250" dirty="0"/>
          </a:p>
        </p:txBody>
      </p:sp>
      <p:sp>
        <p:nvSpPr>
          <p:cNvPr id="25" name="Text 23"/>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26" name="Text 24"/>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27" name="Text 25"/>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THE PILOT</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Prove it on your data, at low risk.</a:t>
            </a:r>
            <a:endParaRPr lang="en-US" sz="3000" dirty="0"/>
          </a:p>
        </p:txBody>
      </p:sp>
      <p:sp>
        <p:nvSpPr>
          <p:cNvPr id="4" name="Shape 2"/>
          <p:cNvSpPr/>
          <p:nvPr/>
        </p:nvSpPr>
        <p:spPr>
          <a:xfrm>
            <a:off x="548640" y="1920240"/>
            <a:ext cx="5532120" cy="3931920"/>
          </a:xfrm>
          <a:prstGeom prst="roundRect">
            <a:avLst>
              <a:gd name="adj" fmla="val 1860"/>
            </a:avLst>
          </a:prstGeom>
          <a:solidFill>
            <a:srgbClr val="0B1730"/>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868680" y="2148840"/>
            <a:ext cx="4937760" cy="365760"/>
          </a:xfrm>
          <a:prstGeom prst="rect">
            <a:avLst/>
          </a:prstGeom>
          <a:noFill/>
          <a:ln/>
        </p:spPr>
        <p:txBody>
          <a:bodyPr wrap="square" lIns="0" tIns="0" rIns="0" bIns="0" rtlCol="0" anchor="ctr"/>
          <a:lstStyle/>
          <a:p>
            <a:pPr indent="0" marL="0">
              <a:buNone/>
            </a:pPr>
            <a:r>
              <a:rPr lang="en-US" sz="1800" b="1" dirty="0">
                <a:solidFill>
                  <a:srgbClr val="00D4FF"/>
                </a:solidFill>
                <a:latin typeface="Cambria" pitchFamily="34" charset="0"/>
                <a:ea typeface="Cambria" pitchFamily="34" charset="-122"/>
                <a:cs typeface="Cambria" pitchFamily="34" charset="-120"/>
              </a:rPr>
              <a:t>What the pilot delivers</a:t>
            </a:r>
            <a:endParaRPr lang="en-US" sz="1800" dirty="0"/>
          </a:p>
        </p:txBody>
      </p:sp>
      <p:sp>
        <p:nvSpPr>
          <p:cNvPr id="6" name="Text 4"/>
          <p:cNvSpPr/>
          <p:nvPr/>
        </p:nvSpPr>
        <p:spPr>
          <a:xfrm>
            <a:off x="868680" y="2651760"/>
            <a:ext cx="4937760" cy="29260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EAF6FF"/>
                </a:solidFill>
                <a:latin typeface="Calibri" pitchFamily="34" charset="0"/>
                <a:ea typeface="Calibri" pitchFamily="34" charset="-122"/>
                <a:cs typeface="Calibri" pitchFamily="34" charset="-120"/>
              </a:rPr>
              <a:t>Your sources mapped into one canonical genealogy, on your keys</a:t>
            </a:r>
            <a:endParaRPr lang="en-US" sz="1350" dirty="0"/>
          </a:p>
          <a:p>
            <a:pPr marL="342900" indent="-342900">
              <a:spcAft>
                <a:spcPts val="800"/>
              </a:spcAft>
              <a:buSzPct val="100000"/>
              <a:buChar char="•"/>
            </a:pPr>
            <a:r>
              <a:rPr lang="en-US" sz="1350" dirty="0">
                <a:solidFill>
                  <a:srgbClr val="EAF6FF"/>
                </a:solidFill>
                <a:latin typeface="Calibri" pitchFamily="34" charset="0"/>
                <a:ea typeface="Calibri" pitchFamily="34" charset="-122"/>
                <a:cs typeface="Calibri" pitchFamily="34" charset="-120"/>
              </a:rPr>
              <a:t>A working investigation of your target quality question</a:t>
            </a:r>
            <a:endParaRPr lang="en-US" sz="1350" dirty="0"/>
          </a:p>
          <a:p>
            <a:pPr marL="342900" indent="-342900">
              <a:spcAft>
                <a:spcPts val="800"/>
              </a:spcAft>
              <a:buSzPct val="100000"/>
              <a:buChar char="•"/>
            </a:pPr>
            <a:r>
              <a:rPr lang="en-US" sz="1350" dirty="0">
                <a:solidFill>
                  <a:srgbClr val="EAF6FF"/>
                </a:solidFill>
                <a:latin typeface="Calibri" pitchFamily="34" charset="0"/>
                <a:ea typeface="Calibri" pitchFamily="34" charset="-122"/>
                <a:cs typeface="Calibri" pitchFamily="34" charset="-120"/>
              </a:rPr>
              <a:t>Each finding showing its population, method and exclusions</a:t>
            </a:r>
            <a:endParaRPr lang="en-US" sz="1350" dirty="0"/>
          </a:p>
          <a:p>
            <a:pPr marL="342900" indent="-342900">
              <a:spcAft>
                <a:spcPts val="800"/>
              </a:spcAft>
              <a:buSzPct val="100000"/>
              <a:buChar char="•"/>
            </a:pPr>
            <a:r>
              <a:rPr lang="en-US" sz="1350" dirty="0">
                <a:solidFill>
                  <a:srgbClr val="EAF6FF"/>
                </a:solidFill>
                <a:latin typeface="Calibri" pitchFamily="34" charset="0"/>
                <a:ea typeface="Calibri" pitchFamily="34" charset="-122"/>
                <a:cs typeface="Calibri" pitchFamily="34" charset="-120"/>
              </a:rPr>
              <a:t>Dashboards and KPIs for the chosen area</a:t>
            </a:r>
            <a:endParaRPr lang="en-US" sz="1350" dirty="0"/>
          </a:p>
          <a:p>
            <a:pPr marL="342900" indent="-342900">
              <a:spcAft>
                <a:spcPts val="800"/>
              </a:spcAft>
              <a:buSzPct val="100000"/>
              <a:buChar char="•"/>
            </a:pPr>
            <a:r>
              <a:rPr lang="en-US" sz="1350" dirty="0">
                <a:solidFill>
                  <a:srgbClr val="EAF6FF"/>
                </a:solidFill>
                <a:latin typeface="Calibri" pitchFamily="34" charset="0"/>
                <a:ea typeface="Calibri" pitchFamily="34" charset="-122"/>
                <a:cs typeface="Calibri" pitchFamily="34" charset="-120"/>
              </a:rPr>
              <a:t>A bounded value estimate, every input drillable to source</a:t>
            </a:r>
            <a:endParaRPr lang="en-US" sz="1350" dirty="0"/>
          </a:p>
        </p:txBody>
      </p:sp>
      <p:sp>
        <p:nvSpPr>
          <p:cNvPr id="7" name="Shape 5"/>
          <p:cNvSpPr/>
          <p:nvPr/>
        </p:nvSpPr>
        <p:spPr>
          <a:xfrm>
            <a:off x="6263640" y="1920240"/>
            <a:ext cx="5349240" cy="3931920"/>
          </a:xfrm>
          <a:prstGeom prst="roundRect">
            <a:avLst>
              <a:gd name="adj" fmla="val 1860"/>
            </a:avLst>
          </a:prstGeom>
          <a:solidFill>
            <a:srgbClr val="102A43"/>
          </a:solidFill>
          <a:ln w="12700">
            <a:solidFill>
              <a:srgbClr val="1C3047"/>
            </a:solidFill>
            <a:prstDash val="solid"/>
          </a:ln>
          <a:effectLst>
            <a:outerShdw sx="100000" sy="100000" kx="0" ky="0" algn="bl" rotWithShape="0" blurRad="114300" dist="38100" dir="5400000">
              <a:srgbClr val="000000">
                <a:alpha val="35000"/>
              </a:srgbClr>
            </a:outerShdw>
          </a:effectLst>
        </p:spPr>
      </p:sp>
      <p:sp>
        <p:nvSpPr>
          <p:cNvPr id="8" name="Text 6"/>
          <p:cNvSpPr/>
          <p:nvPr/>
        </p:nvSpPr>
        <p:spPr>
          <a:xfrm>
            <a:off x="6583680" y="2148840"/>
            <a:ext cx="4663440" cy="365760"/>
          </a:xfrm>
          <a:prstGeom prst="rect">
            <a:avLst/>
          </a:prstGeom>
          <a:noFill/>
          <a:ln/>
        </p:spPr>
        <p:txBody>
          <a:bodyPr wrap="square" lIns="0" tIns="0" rIns="0" bIns="0" rtlCol="0" anchor="ctr"/>
          <a:lstStyle/>
          <a:p>
            <a:pPr indent="0" marL="0">
              <a:buNone/>
            </a:pPr>
            <a:r>
              <a:rPr lang="en-US" sz="1800" b="1" dirty="0">
                <a:solidFill>
                  <a:srgbClr val="00D4FF"/>
                </a:solidFill>
                <a:latin typeface="Cambria" pitchFamily="34" charset="0"/>
                <a:ea typeface="Cambria" pitchFamily="34" charset="-122"/>
                <a:cs typeface="Cambria" pitchFamily="34" charset="-120"/>
              </a:rPr>
              <a:t>Commercials</a:t>
            </a:r>
            <a:endParaRPr lang="en-US" sz="1800" dirty="0"/>
          </a:p>
        </p:txBody>
      </p:sp>
      <p:sp>
        <p:nvSpPr>
          <p:cNvPr id="9" name="Text 7"/>
          <p:cNvSpPr/>
          <p:nvPr/>
        </p:nvSpPr>
        <p:spPr>
          <a:xfrm>
            <a:off x="6583680" y="2697480"/>
            <a:ext cx="1737360" cy="457200"/>
          </a:xfrm>
          <a:prstGeom prst="rect">
            <a:avLst/>
          </a:prstGeom>
          <a:noFill/>
          <a:ln/>
        </p:spPr>
        <p:txBody>
          <a:bodyPr wrap="square" lIns="0" tIns="0" rIns="0" bIns="0" rtlCol="0" anchor="t"/>
          <a:lstStyle/>
          <a:p>
            <a:pPr indent="0" marL="0">
              <a:buNone/>
            </a:pPr>
            <a:r>
              <a:rPr lang="en-US" sz="1300" dirty="0">
                <a:solidFill>
                  <a:srgbClr val="8EA7C1"/>
                </a:solidFill>
                <a:latin typeface="Calibri" pitchFamily="34" charset="0"/>
                <a:ea typeface="Calibri" pitchFamily="34" charset="-122"/>
                <a:cs typeface="Calibri" pitchFamily="34" charset="-120"/>
              </a:rPr>
              <a:t>Duration</a:t>
            </a:r>
            <a:endParaRPr lang="en-US" sz="1300" dirty="0"/>
          </a:p>
        </p:txBody>
      </p:sp>
      <p:sp>
        <p:nvSpPr>
          <p:cNvPr id="10" name="Text 8"/>
          <p:cNvSpPr/>
          <p:nvPr/>
        </p:nvSpPr>
        <p:spPr>
          <a:xfrm>
            <a:off x="8366760" y="2697480"/>
            <a:ext cx="3108960" cy="502920"/>
          </a:xfrm>
          <a:prstGeom prst="rect">
            <a:avLst/>
          </a:prstGeom>
          <a:noFill/>
          <a:ln/>
        </p:spPr>
        <p:txBody>
          <a:bodyPr wrap="square" lIns="0" tIns="0" rIns="0" bIns="0" rtlCol="0" anchor="t"/>
          <a:lstStyle/>
          <a:p>
            <a:pPr indent="0" marL="0">
              <a:buNone/>
            </a:pPr>
            <a:r>
              <a:rPr lang="en-US" sz="1400" b="1" dirty="0">
                <a:solidFill>
                  <a:srgbClr val="EAF6FF"/>
                </a:solidFill>
                <a:latin typeface="Cambria" pitchFamily="34" charset="0"/>
                <a:ea typeface="Cambria" pitchFamily="34" charset="-122"/>
                <a:cs typeface="Cambria" pitchFamily="34" charset="-120"/>
              </a:rPr>
              <a:t>[[PILOT_DURATION]]</a:t>
            </a:r>
            <a:endParaRPr lang="en-US" sz="1400" dirty="0"/>
          </a:p>
        </p:txBody>
      </p:sp>
      <p:sp>
        <p:nvSpPr>
          <p:cNvPr id="11" name="Text 9"/>
          <p:cNvSpPr/>
          <p:nvPr/>
        </p:nvSpPr>
        <p:spPr>
          <a:xfrm>
            <a:off x="6583680" y="3319272"/>
            <a:ext cx="1737360" cy="457200"/>
          </a:xfrm>
          <a:prstGeom prst="rect">
            <a:avLst/>
          </a:prstGeom>
          <a:noFill/>
          <a:ln/>
        </p:spPr>
        <p:txBody>
          <a:bodyPr wrap="square" lIns="0" tIns="0" rIns="0" bIns="0" rtlCol="0" anchor="t"/>
          <a:lstStyle/>
          <a:p>
            <a:pPr indent="0" marL="0">
              <a:buNone/>
            </a:pPr>
            <a:r>
              <a:rPr lang="en-US" sz="1300" dirty="0">
                <a:solidFill>
                  <a:srgbClr val="8EA7C1"/>
                </a:solidFill>
                <a:latin typeface="Calibri" pitchFamily="34" charset="0"/>
                <a:ea typeface="Calibri" pitchFamily="34" charset="-122"/>
                <a:cs typeface="Calibri" pitchFamily="34" charset="-120"/>
              </a:rPr>
              <a:t>Pilot fee</a:t>
            </a:r>
            <a:endParaRPr lang="en-US" sz="1300" dirty="0"/>
          </a:p>
        </p:txBody>
      </p:sp>
      <p:sp>
        <p:nvSpPr>
          <p:cNvPr id="12" name="Text 10"/>
          <p:cNvSpPr/>
          <p:nvPr/>
        </p:nvSpPr>
        <p:spPr>
          <a:xfrm>
            <a:off x="8366760" y="3319272"/>
            <a:ext cx="3108960" cy="502920"/>
          </a:xfrm>
          <a:prstGeom prst="rect">
            <a:avLst/>
          </a:prstGeom>
          <a:noFill/>
          <a:ln/>
        </p:spPr>
        <p:txBody>
          <a:bodyPr wrap="square" lIns="0" tIns="0" rIns="0" bIns="0" rtlCol="0" anchor="t"/>
          <a:lstStyle/>
          <a:p>
            <a:pPr indent="0" marL="0">
              <a:buNone/>
            </a:pPr>
            <a:r>
              <a:rPr lang="en-US" sz="1400" b="1" dirty="0">
                <a:solidFill>
                  <a:srgbClr val="EAF6FF"/>
                </a:solidFill>
                <a:latin typeface="Cambria" pitchFamily="34" charset="0"/>
                <a:ea typeface="Cambria" pitchFamily="34" charset="-122"/>
                <a:cs typeface="Cambria" pitchFamily="34" charset="-120"/>
              </a:rPr>
              <a:t>[[PILOT_FEE]]</a:t>
            </a:r>
            <a:endParaRPr lang="en-US" sz="1400" dirty="0"/>
          </a:p>
        </p:txBody>
      </p:sp>
      <p:sp>
        <p:nvSpPr>
          <p:cNvPr id="13" name="Text 11"/>
          <p:cNvSpPr/>
          <p:nvPr/>
        </p:nvSpPr>
        <p:spPr>
          <a:xfrm>
            <a:off x="6583680" y="3941064"/>
            <a:ext cx="1737360" cy="457200"/>
          </a:xfrm>
          <a:prstGeom prst="rect">
            <a:avLst/>
          </a:prstGeom>
          <a:noFill/>
          <a:ln/>
        </p:spPr>
        <p:txBody>
          <a:bodyPr wrap="square" lIns="0" tIns="0" rIns="0" bIns="0" rtlCol="0" anchor="t"/>
          <a:lstStyle/>
          <a:p>
            <a:pPr indent="0" marL="0">
              <a:buNone/>
            </a:pPr>
            <a:r>
              <a:rPr lang="en-US" sz="1300" dirty="0">
                <a:solidFill>
                  <a:srgbClr val="8EA7C1"/>
                </a:solidFill>
                <a:latin typeface="Calibri" pitchFamily="34" charset="0"/>
                <a:ea typeface="Calibri" pitchFamily="34" charset="-122"/>
                <a:cs typeface="Calibri" pitchFamily="34" charset="-120"/>
              </a:rPr>
              <a:t>Deployment</a:t>
            </a:r>
            <a:endParaRPr lang="en-US" sz="1300" dirty="0"/>
          </a:p>
        </p:txBody>
      </p:sp>
      <p:sp>
        <p:nvSpPr>
          <p:cNvPr id="14" name="Text 12"/>
          <p:cNvSpPr/>
          <p:nvPr/>
        </p:nvSpPr>
        <p:spPr>
          <a:xfrm>
            <a:off x="8366760" y="3941064"/>
            <a:ext cx="3108960" cy="502920"/>
          </a:xfrm>
          <a:prstGeom prst="rect">
            <a:avLst/>
          </a:prstGeom>
          <a:noFill/>
          <a:ln/>
        </p:spPr>
        <p:txBody>
          <a:bodyPr wrap="square" lIns="0" tIns="0" rIns="0" bIns="0" rtlCol="0" anchor="t"/>
          <a:lstStyle/>
          <a:p>
            <a:pPr indent="0" marL="0">
              <a:buNone/>
            </a:pPr>
            <a:r>
              <a:rPr lang="en-US" sz="1400" b="1" dirty="0">
                <a:solidFill>
                  <a:srgbClr val="EAF6FF"/>
                </a:solidFill>
                <a:latin typeface="Cambria" pitchFamily="34" charset="0"/>
                <a:ea typeface="Cambria" pitchFamily="34" charset="-122"/>
                <a:cs typeface="Cambria" pitchFamily="34" charset="-120"/>
              </a:rPr>
              <a:t>[[DEPLOYMENT_MODEL]]</a:t>
            </a:r>
            <a:endParaRPr lang="en-US" sz="1400" dirty="0"/>
          </a:p>
        </p:txBody>
      </p:sp>
      <p:sp>
        <p:nvSpPr>
          <p:cNvPr id="15" name="Text 13"/>
          <p:cNvSpPr/>
          <p:nvPr/>
        </p:nvSpPr>
        <p:spPr>
          <a:xfrm>
            <a:off x="6583680" y="4562856"/>
            <a:ext cx="1737360" cy="457200"/>
          </a:xfrm>
          <a:prstGeom prst="rect">
            <a:avLst/>
          </a:prstGeom>
          <a:noFill/>
          <a:ln/>
        </p:spPr>
        <p:txBody>
          <a:bodyPr wrap="square" lIns="0" tIns="0" rIns="0" bIns="0" rtlCol="0" anchor="t"/>
          <a:lstStyle/>
          <a:p>
            <a:pPr indent="0" marL="0">
              <a:buNone/>
            </a:pPr>
            <a:r>
              <a:rPr lang="en-US" sz="1300" dirty="0">
                <a:solidFill>
                  <a:srgbClr val="8EA7C1"/>
                </a:solidFill>
                <a:latin typeface="Calibri" pitchFamily="34" charset="0"/>
                <a:ea typeface="Calibri" pitchFamily="34" charset="-122"/>
                <a:cs typeface="Calibri" pitchFamily="34" charset="-120"/>
              </a:rPr>
              <a:t>On success</a:t>
            </a:r>
            <a:endParaRPr lang="en-US" sz="1300" dirty="0"/>
          </a:p>
        </p:txBody>
      </p:sp>
      <p:sp>
        <p:nvSpPr>
          <p:cNvPr id="16" name="Text 14"/>
          <p:cNvSpPr/>
          <p:nvPr/>
        </p:nvSpPr>
        <p:spPr>
          <a:xfrm>
            <a:off x="8366760" y="4562856"/>
            <a:ext cx="3108960" cy="502920"/>
          </a:xfrm>
          <a:prstGeom prst="rect">
            <a:avLst/>
          </a:prstGeom>
          <a:noFill/>
          <a:ln/>
        </p:spPr>
        <p:txBody>
          <a:bodyPr wrap="square" lIns="0" tIns="0" rIns="0" bIns="0" rtlCol="0" anchor="t"/>
          <a:lstStyle/>
          <a:p>
            <a:pPr indent="0" marL="0">
              <a:buNone/>
            </a:pPr>
            <a:r>
              <a:rPr lang="en-US" sz="1400" b="1" dirty="0">
                <a:solidFill>
                  <a:srgbClr val="EAF6FF"/>
                </a:solidFill>
                <a:latin typeface="Cambria" pitchFamily="34" charset="0"/>
                <a:ea typeface="Cambria" pitchFamily="34" charset="-122"/>
                <a:cs typeface="Cambria" pitchFamily="34" charset="-120"/>
              </a:rPr>
              <a:t>Fee credited toward year-one subscription</a:t>
            </a:r>
            <a:endParaRPr lang="en-US" sz="1400" dirty="0"/>
          </a:p>
        </p:txBody>
      </p:sp>
      <p:sp>
        <p:nvSpPr>
          <p:cNvPr id="17" name="Text 15"/>
          <p:cNvSpPr/>
          <p:nvPr/>
        </p:nvSpPr>
        <p:spPr>
          <a:xfrm>
            <a:off x="6583680" y="5184648"/>
            <a:ext cx="1737360" cy="457200"/>
          </a:xfrm>
          <a:prstGeom prst="rect">
            <a:avLst/>
          </a:prstGeom>
          <a:noFill/>
          <a:ln/>
        </p:spPr>
        <p:txBody>
          <a:bodyPr wrap="square" lIns="0" tIns="0" rIns="0" bIns="0" rtlCol="0" anchor="t"/>
          <a:lstStyle/>
          <a:p>
            <a:pPr indent="0" marL="0">
              <a:buNone/>
            </a:pPr>
            <a:r>
              <a:rPr lang="en-US" sz="1300" dirty="0">
                <a:solidFill>
                  <a:srgbClr val="8EA7C1"/>
                </a:solidFill>
                <a:latin typeface="Calibri" pitchFamily="34" charset="0"/>
                <a:ea typeface="Calibri" pitchFamily="34" charset="-122"/>
                <a:cs typeface="Calibri" pitchFamily="34" charset="-120"/>
              </a:rPr>
              <a:t>Throughout</a:t>
            </a:r>
            <a:endParaRPr lang="en-US" sz="1300" dirty="0"/>
          </a:p>
        </p:txBody>
      </p:sp>
      <p:sp>
        <p:nvSpPr>
          <p:cNvPr id="18" name="Text 16"/>
          <p:cNvSpPr/>
          <p:nvPr/>
        </p:nvSpPr>
        <p:spPr>
          <a:xfrm>
            <a:off x="8366760" y="5184648"/>
            <a:ext cx="3108960" cy="502920"/>
          </a:xfrm>
          <a:prstGeom prst="rect">
            <a:avLst/>
          </a:prstGeom>
          <a:noFill/>
          <a:ln/>
        </p:spPr>
        <p:txBody>
          <a:bodyPr wrap="square" lIns="0" tIns="0" rIns="0" bIns="0" rtlCol="0" anchor="t"/>
          <a:lstStyle/>
          <a:p>
            <a:pPr indent="0" marL="0">
              <a:buNone/>
            </a:pPr>
            <a:r>
              <a:rPr lang="en-US" sz="1400" b="1" dirty="0">
                <a:solidFill>
                  <a:srgbClr val="EAF6FF"/>
                </a:solidFill>
                <a:latin typeface="Cambria" pitchFamily="34" charset="0"/>
                <a:ea typeface="Cambria" pitchFamily="34" charset="-122"/>
                <a:cs typeface="Cambria" pitchFamily="34" charset="-120"/>
              </a:rPr>
              <a:t>Read-only - cannot disturb production</a:t>
            </a:r>
            <a:endParaRPr lang="en-US" sz="1400" dirty="0"/>
          </a:p>
        </p:txBody>
      </p:sp>
      <p:sp>
        <p:nvSpPr>
          <p:cNvPr id="19" name="Text 17"/>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20" name="Text 18"/>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21" name="Text 19"/>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B18"/>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spc="300" kern="0" dirty="0">
                <a:solidFill>
                  <a:srgbClr val="00D4FF"/>
                </a:solidFill>
                <a:latin typeface="Calibri" pitchFamily="34" charset="0"/>
                <a:ea typeface="Calibri" pitchFamily="34" charset="-122"/>
                <a:cs typeface="Calibri" pitchFamily="34" charset="-120"/>
              </a:rPr>
              <a:t>WHO BUILDS IT</a:t>
            </a:r>
            <a:endParaRPr lang="en-US" sz="1200" dirty="0"/>
          </a:p>
        </p:txBody>
      </p:sp>
      <p:sp>
        <p:nvSpPr>
          <p:cNvPr id="3" name="Text 1"/>
          <p:cNvSpPr/>
          <p:nvPr/>
        </p:nvSpPr>
        <p:spPr>
          <a:xfrm>
            <a:off x="502920" y="749808"/>
            <a:ext cx="11064240" cy="822960"/>
          </a:xfrm>
          <a:prstGeom prst="rect">
            <a:avLst/>
          </a:prstGeom>
          <a:noFill/>
          <a:ln/>
        </p:spPr>
        <p:txBody>
          <a:bodyPr wrap="square" lIns="0" tIns="0" rIns="0" bIns="0" rtlCol="0" anchor="ctr"/>
          <a:lstStyle/>
          <a:p>
            <a:pPr indent="0" marL="0">
              <a:buNone/>
            </a:pPr>
            <a:r>
              <a:rPr lang="en-US" sz="3000" b="1" dirty="0">
                <a:solidFill>
                  <a:srgbClr val="EAF6FF"/>
                </a:solidFill>
                <a:latin typeface="Cambria" pitchFamily="34" charset="0"/>
                <a:ea typeface="Cambria" pitchFamily="34" charset="-122"/>
                <a:cs typeface="Cambria" pitchFamily="34" charset="-120"/>
              </a:rPr>
              <a:t>Built from the plant floor, not from the outside.</a:t>
            </a:r>
            <a:endParaRPr lang="en-US" sz="3000" dirty="0"/>
          </a:p>
        </p:txBody>
      </p:sp>
      <p:sp>
        <p:nvSpPr>
          <p:cNvPr id="4" name="Shape 2"/>
          <p:cNvSpPr/>
          <p:nvPr/>
        </p:nvSpPr>
        <p:spPr>
          <a:xfrm>
            <a:off x="10058400" y="3108960"/>
            <a:ext cx="-868680" cy="-477774"/>
          </a:xfrm>
          <a:prstGeom prst="line">
            <a:avLst/>
          </a:prstGeom>
          <a:noFill/>
          <a:ln w="12700">
            <a:solidFill>
              <a:srgbClr val="00D4FF">
                <a:alpha val="45000"/>
              </a:srgbClr>
            </a:solidFill>
            <a:prstDash val="solid"/>
          </a:ln>
        </p:spPr>
      </p:sp>
      <p:sp>
        <p:nvSpPr>
          <p:cNvPr id="5" name="Shape 3"/>
          <p:cNvSpPr/>
          <p:nvPr/>
        </p:nvSpPr>
        <p:spPr>
          <a:xfrm>
            <a:off x="10058400" y="3108960"/>
            <a:ext cx="868680" cy="-477774"/>
          </a:xfrm>
          <a:prstGeom prst="line">
            <a:avLst/>
          </a:prstGeom>
          <a:noFill/>
          <a:ln w="12700">
            <a:solidFill>
              <a:srgbClr val="00D4FF">
                <a:alpha val="45000"/>
              </a:srgbClr>
            </a:solidFill>
            <a:prstDash val="solid"/>
          </a:ln>
        </p:spPr>
      </p:sp>
      <p:sp>
        <p:nvSpPr>
          <p:cNvPr id="6" name="Shape 4"/>
          <p:cNvSpPr/>
          <p:nvPr/>
        </p:nvSpPr>
        <p:spPr>
          <a:xfrm>
            <a:off x="10058400" y="3108960"/>
            <a:ext cx="-868680" cy="477774"/>
          </a:xfrm>
          <a:prstGeom prst="line">
            <a:avLst/>
          </a:prstGeom>
          <a:noFill/>
          <a:ln w="12700">
            <a:solidFill>
              <a:srgbClr val="00D4FF">
                <a:alpha val="45000"/>
              </a:srgbClr>
            </a:solidFill>
            <a:prstDash val="solid"/>
          </a:ln>
        </p:spPr>
      </p:sp>
      <p:sp>
        <p:nvSpPr>
          <p:cNvPr id="7" name="Shape 5"/>
          <p:cNvSpPr/>
          <p:nvPr/>
        </p:nvSpPr>
        <p:spPr>
          <a:xfrm>
            <a:off x="10058400" y="3108960"/>
            <a:ext cx="868680" cy="477774"/>
          </a:xfrm>
          <a:prstGeom prst="line">
            <a:avLst/>
          </a:prstGeom>
          <a:noFill/>
          <a:ln w="12700">
            <a:solidFill>
              <a:srgbClr val="00D4FF">
                <a:alpha val="45000"/>
              </a:srgbClr>
            </a:solidFill>
            <a:prstDash val="solid"/>
          </a:ln>
        </p:spPr>
      </p:sp>
      <p:sp>
        <p:nvSpPr>
          <p:cNvPr id="8" name="Shape 6"/>
          <p:cNvSpPr/>
          <p:nvPr/>
        </p:nvSpPr>
        <p:spPr>
          <a:xfrm>
            <a:off x="10058400" y="3108960"/>
            <a:ext cx="0" cy="-912114"/>
          </a:xfrm>
          <a:prstGeom prst="line">
            <a:avLst/>
          </a:prstGeom>
          <a:noFill/>
          <a:ln w="12700">
            <a:solidFill>
              <a:srgbClr val="00D4FF">
                <a:alpha val="45000"/>
              </a:srgbClr>
            </a:solidFill>
            <a:prstDash val="solid"/>
          </a:ln>
        </p:spPr>
      </p:sp>
      <p:sp>
        <p:nvSpPr>
          <p:cNvPr id="9" name="Shape 7"/>
          <p:cNvSpPr/>
          <p:nvPr/>
        </p:nvSpPr>
        <p:spPr>
          <a:xfrm>
            <a:off x="9144000" y="2585466"/>
            <a:ext cx="91440" cy="91440"/>
          </a:xfrm>
          <a:prstGeom prst="ellipse">
            <a:avLst/>
          </a:prstGeom>
          <a:solidFill>
            <a:srgbClr val="0A84FF"/>
          </a:solidFill>
          <a:ln/>
        </p:spPr>
      </p:sp>
      <p:sp>
        <p:nvSpPr>
          <p:cNvPr id="10" name="Shape 8"/>
          <p:cNvSpPr/>
          <p:nvPr/>
        </p:nvSpPr>
        <p:spPr>
          <a:xfrm>
            <a:off x="10881360" y="2585466"/>
            <a:ext cx="91440" cy="91440"/>
          </a:xfrm>
          <a:prstGeom prst="ellipse">
            <a:avLst/>
          </a:prstGeom>
          <a:solidFill>
            <a:srgbClr val="0A84FF"/>
          </a:solidFill>
          <a:ln/>
        </p:spPr>
      </p:sp>
      <p:sp>
        <p:nvSpPr>
          <p:cNvPr id="11" name="Shape 9"/>
          <p:cNvSpPr/>
          <p:nvPr/>
        </p:nvSpPr>
        <p:spPr>
          <a:xfrm>
            <a:off x="9144000" y="3541014"/>
            <a:ext cx="91440" cy="91440"/>
          </a:xfrm>
          <a:prstGeom prst="ellipse">
            <a:avLst/>
          </a:prstGeom>
          <a:solidFill>
            <a:srgbClr val="0A84FF"/>
          </a:solidFill>
          <a:ln/>
        </p:spPr>
      </p:sp>
      <p:sp>
        <p:nvSpPr>
          <p:cNvPr id="12" name="Shape 10"/>
          <p:cNvSpPr/>
          <p:nvPr/>
        </p:nvSpPr>
        <p:spPr>
          <a:xfrm>
            <a:off x="10881360" y="3541014"/>
            <a:ext cx="91440" cy="91440"/>
          </a:xfrm>
          <a:prstGeom prst="ellipse">
            <a:avLst/>
          </a:prstGeom>
          <a:solidFill>
            <a:srgbClr val="0A84FF"/>
          </a:solidFill>
          <a:ln/>
        </p:spPr>
      </p:sp>
      <p:sp>
        <p:nvSpPr>
          <p:cNvPr id="13" name="Shape 11"/>
          <p:cNvSpPr/>
          <p:nvPr/>
        </p:nvSpPr>
        <p:spPr>
          <a:xfrm>
            <a:off x="10012680" y="2151126"/>
            <a:ext cx="91440" cy="91440"/>
          </a:xfrm>
          <a:prstGeom prst="ellipse">
            <a:avLst/>
          </a:prstGeom>
          <a:solidFill>
            <a:srgbClr val="0A84FF"/>
          </a:solidFill>
          <a:ln/>
        </p:spPr>
      </p:sp>
      <p:sp>
        <p:nvSpPr>
          <p:cNvPr id="14" name="Shape 12"/>
          <p:cNvSpPr/>
          <p:nvPr/>
        </p:nvSpPr>
        <p:spPr>
          <a:xfrm>
            <a:off x="9957816" y="3008376"/>
            <a:ext cx="201168" cy="201168"/>
          </a:xfrm>
          <a:prstGeom prst="ellipse">
            <a:avLst/>
          </a:prstGeom>
          <a:solidFill>
            <a:srgbClr val="00D4FF"/>
          </a:solidFill>
          <a:ln/>
        </p:spPr>
      </p:sp>
      <p:sp>
        <p:nvSpPr>
          <p:cNvPr id="15" name="Text 13"/>
          <p:cNvSpPr/>
          <p:nvPr/>
        </p:nvSpPr>
        <p:spPr>
          <a:xfrm>
            <a:off x="640080" y="2011680"/>
            <a:ext cx="8412480" cy="1280160"/>
          </a:xfrm>
          <a:prstGeom prst="rect">
            <a:avLst/>
          </a:prstGeom>
          <a:noFill/>
          <a:ln/>
        </p:spPr>
        <p:txBody>
          <a:bodyPr wrap="square" lIns="0" tIns="0" rIns="0" bIns="0" rtlCol="0" anchor="ctr"/>
          <a:lstStyle/>
          <a:p>
            <a:pPr indent="0" marL="0">
              <a:lnSpc>
                <a:spcPct val="130000"/>
              </a:lnSpc>
              <a:buNone/>
            </a:pPr>
            <a:r>
              <a:rPr lang="en-US" sz="1600" dirty="0">
                <a:solidFill>
                  <a:srgbClr val="EAF6FF"/>
                </a:solidFill>
                <a:latin typeface="Calibri" pitchFamily="34" charset="0"/>
                <a:ea typeface="Calibri" pitchFamily="34" charset="-122"/>
                <a:cs typeface="Calibri" pitchFamily="34" charset="-120"/>
              </a:rPr>
              <a:t>SOU Industrial Software builds PlantProcess IQ with deep, hands-on steel-plant experience - </a:t>
            </a:r>
            <a:pPr indent="0" marL="0">
              <a:lnSpc>
                <a:spcPct val="130000"/>
              </a:lnSpc>
              <a:buNone/>
            </a:pPr>
            <a:r>
              <a:rPr lang="en-US" sz="1600" b="1" dirty="0">
                <a:solidFill>
                  <a:srgbClr val="00D4FF"/>
                </a:solidFill>
                <a:latin typeface="Calibri" pitchFamily="34" charset="0"/>
                <a:ea typeface="Calibri" pitchFamily="34" charset="-122"/>
                <a:cs typeface="Calibri" pitchFamily="34" charset="-120"/>
              </a:rPr>
              <a:t>[[YEARS]] years</a:t>
            </a:r>
            <a:pPr indent="0" marL="0">
              <a:lnSpc>
                <a:spcPct val="130000"/>
              </a:lnSpc>
              <a:buNone/>
            </a:pPr>
            <a:r>
              <a:rPr lang="en-US" sz="1600" dirty="0">
                <a:solidFill>
                  <a:srgbClr val="EAF6FF"/>
                </a:solidFill>
                <a:latin typeface="Calibri" pitchFamily="34" charset="0"/>
                <a:ea typeface="Calibri" pitchFamily="34" charset="-122"/>
                <a:cs typeface="Calibri" pitchFamily="34" charset="-120"/>
              </a:rPr>
              <a:t> across Level 2 tracking and process systems, including time at </a:t>
            </a:r>
            <a:pPr indent="0" marL="0">
              <a:lnSpc>
                <a:spcPct val="130000"/>
              </a:lnSpc>
              <a:buNone/>
            </a:pPr>
            <a:r>
              <a:rPr lang="en-US" sz="1600" b="1" dirty="0">
                <a:solidFill>
                  <a:srgbClr val="EAF6FF"/>
                </a:solidFill>
                <a:latin typeface="Calibri" pitchFamily="34" charset="0"/>
                <a:ea typeface="Calibri" pitchFamily="34" charset="-122"/>
                <a:cs typeface="Calibri" pitchFamily="34" charset="-120"/>
              </a:rPr>
              <a:t>[[BACKGROUND_DETAIL]]</a:t>
            </a:r>
            <a:pPr indent="0" marL="0">
              <a:lnSpc>
                <a:spcPct val="130000"/>
              </a:lnSpc>
              <a:buNone/>
            </a:pPr>
            <a:r>
              <a:rPr lang="en-US" sz="1600" dirty="0">
                <a:solidFill>
                  <a:srgbClr val="EAF6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640080" y="3429000"/>
            <a:ext cx="8412480" cy="1828800"/>
          </a:xfrm>
          <a:prstGeom prst="rect">
            <a:avLst/>
          </a:prstGeom>
          <a:noFill/>
          <a:ln/>
        </p:spPr>
        <p:txBody>
          <a:bodyPr wrap="square" lIns="0" tIns="0" rIns="0" bIns="0" rtlCol="0" anchor="ctr"/>
          <a:lstStyle/>
          <a:p>
            <a:pPr indent="0" marL="0">
              <a:lnSpc>
                <a:spcPct val="130000"/>
              </a:lnSpc>
              <a:buNone/>
            </a:pPr>
            <a:r>
              <a:rPr lang="en-US" sz="1400" dirty="0">
                <a:solidFill>
                  <a:srgbClr val="8EA7C1"/>
                </a:solidFill>
                <a:latin typeface="Calibri" pitchFamily="34" charset="0"/>
                <a:ea typeface="Calibri" pitchFamily="34" charset="-122"/>
                <a:cs typeface="Calibri" pitchFamily="34" charset="-120"/>
              </a:rPr>
              <a:t>The product reflects problems lived on real plant floors - the mismatched keys between systems, the transition coils that draw from two heats, the inspection devices that each describe defects their own way, and the records that quietly go missing. Its honest framing of findings comes from understanding what plant-history analysis can and cannot prove.</a:t>
            </a:r>
            <a:endParaRPr lang="en-US" sz="1400" dirty="0"/>
          </a:p>
        </p:txBody>
      </p:sp>
      <p:sp>
        <p:nvSpPr>
          <p:cNvPr id="17" name="Text 15"/>
          <p:cNvSpPr/>
          <p:nvPr/>
        </p:nvSpPr>
        <p:spPr>
          <a:xfrm>
            <a:off x="502920" y="6400800"/>
            <a:ext cx="7315200" cy="274320"/>
          </a:xfrm>
          <a:prstGeom prst="rect">
            <a:avLst/>
          </a:prstGeom>
          <a:noFill/>
          <a:ln/>
        </p:spPr>
        <p:txBody>
          <a:bodyPr wrap="square" lIns="0" tIns="0" rIns="0" bIns="0" rtlCol="0" anchor="ctr"/>
          <a:lstStyle/>
          <a:p>
            <a:pPr algn="l" indent="0" marL="0">
              <a:buNone/>
            </a:pPr>
            <a:r>
              <a:rPr lang="en-US" sz="900" dirty="0">
                <a:solidFill>
                  <a:srgbClr val="8EA7C1"/>
                </a:solidFill>
                <a:latin typeface="Calibri" pitchFamily="34" charset="0"/>
                <a:ea typeface="Calibri" pitchFamily="34" charset="-122"/>
                <a:cs typeface="Calibri" pitchFamily="34" charset="-120"/>
              </a:rPr>
              <a:t>PlantProcess IQ  ·  SOU Industrial Software</a:t>
            </a:r>
            <a:endParaRPr lang="en-US" sz="900" dirty="0"/>
          </a:p>
        </p:txBody>
      </p:sp>
      <p:sp>
        <p:nvSpPr>
          <p:cNvPr id="18" name="Text 16"/>
          <p:cNvSpPr/>
          <p:nvPr/>
        </p:nvSpPr>
        <p:spPr>
          <a:xfrm>
            <a:off x="8869680" y="6400800"/>
            <a:ext cx="2194560" cy="274320"/>
          </a:xfrm>
          <a:prstGeom prst="rect">
            <a:avLst/>
          </a:prstGeom>
          <a:noFill/>
          <a:ln/>
        </p:spPr>
        <p:txBody>
          <a:bodyPr wrap="square" lIns="0" tIns="0" rIns="0" bIns="0" rtlCol="0" anchor="ctr"/>
          <a:lstStyle/>
          <a:p>
            <a:pPr algn="r" indent="0" marL="0">
              <a:buNone/>
            </a:pPr>
            <a:r>
              <a:rPr lang="en-US" sz="900" dirty="0">
                <a:solidFill>
                  <a:srgbClr val="8EA7C1"/>
                </a:solidFill>
                <a:latin typeface="Calibri" pitchFamily="34" charset="0"/>
                <a:ea typeface="Calibri" pitchFamily="34" charset="-122"/>
                <a:cs typeface="Calibri" pitchFamily="34" charset="-120"/>
              </a:rPr>
              <a:t>Confidential  ·  v1.0</a:t>
            </a:r>
            <a:endParaRPr lang="en-US" sz="900" dirty="0"/>
          </a:p>
        </p:txBody>
      </p:sp>
      <p:sp>
        <p:nvSpPr>
          <p:cNvPr id="19" name="Text 17"/>
          <p:cNvSpPr/>
          <p:nvPr/>
        </p:nvSpPr>
        <p:spPr>
          <a:xfrm>
            <a:off x="11247120" y="6400800"/>
            <a:ext cx="457200" cy="274320"/>
          </a:xfrm>
          <a:prstGeom prst="rect">
            <a:avLst/>
          </a:prstGeom>
          <a:noFill/>
          <a:ln/>
        </p:spPr>
        <p:txBody>
          <a:bodyPr wrap="square" lIns="0" tIns="0" rIns="0" bIns="0" rtlCol="0" anchor="ctr"/>
          <a:lstStyle/>
          <a:p>
            <a:pPr algn="r" indent="0" marL="0">
              <a:buNone/>
            </a:pPr>
            <a:r>
              <a:rPr lang="en-US" sz="900" dirty="0">
                <a:solidFill>
                  <a:srgbClr val="00D4F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B18"/>
        </a:solidFill>
      </p:bgPr>
    </p:bg>
    <p:spTree>
      <p:nvGrpSpPr>
        <p:cNvPr id="1" name=""/>
        <p:cNvGrpSpPr/>
        <p:nvPr/>
      </p:nvGrpSpPr>
      <p:grpSpPr>
        <a:xfrm>
          <a:off x="0" y="0"/>
          <a:ext cx="0" cy="0"/>
          <a:chOff x="0" y="0"/>
          <a:chExt cx="0" cy="0"/>
        </a:xfrm>
      </p:grpSpPr>
      <p:sp>
        <p:nvSpPr>
          <p:cNvPr id="2" name="Shape 0"/>
          <p:cNvSpPr/>
          <p:nvPr/>
        </p:nvSpPr>
        <p:spPr>
          <a:xfrm>
            <a:off x="6080760" y="1965960"/>
            <a:ext cx="-1051560" cy="-578358"/>
          </a:xfrm>
          <a:prstGeom prst="line">
            <a:avLst/>
          </a:prstGeom>
          <a:noFill/>
          <a:ln w="12700">
            <a:solidFill>
              <a:srgbClr val="00D4FF">
                <a:alpha val="45000"/>
              </a:srgbClr>
            </a:solidFill>
            <a:prstDash val="solid"/>
          </a:ln>
        </p:spPr>
      </p:sp>
      <p:sp>
        <p:nvSpPr>
          <p:cNvPr id="3" name="Shape 1"/>
          <p:cNvSpPr/>
          <p:nvPr/>
        </p:nvSpPr>
        <p:spPr>
          <a:xfrm>
            <a:off x="6080760" y="1965960"/>
            <a:ext cx="1051560" cy="-578358"/>
          </a:xfrm>
          <a:prstGeom prst="line">
            <a:avLst/>
          </a:prstGeom>
          <a:noFill/>
          <a:ln w="12700">
            <a:solidFill>
              <a:srgbClr val="00D4FF">
                <a:alpha val="45000"/>
              </a:srgbClr>
            </a:solidFill>
            <a:prstDash val="solid"/>
          </a:ln>
        </p:spPr>
      </p:sp>
      <p:sp>
        <p:nvSpPr>
          <p:cNvPr id="4" name="Shape 2"/>
          <p:cNvSpPr/>
          <p:nvPr/>
        </p:nvSpPr>
        <p:spPr>
          <a:xfrm>
            <a:off x="6080760" y="1965960"/>
            <a:ext cx="-1051560" cy="578358"/>
          </a:xfrm>
          <a:prstGeom prst="line">
            <a:avLst/>
          </a:prstGeom>
          <a:noFill/>
          <a:ln w="12700">
            <a:solidFill>
              <a:srgbClr val="00D4FF">
                <a:alpha val="45000"/>
              </a:srgbClr>
            </a:solidFill>
            <a:prstDash val="solid"/>
          </a:ln>
        </p:spPr>
      </p:sp>
      <p:sp>
        <p:nvSpPr>
          <p:cNvPr id="5" name="Shape 3"/>
          <p:cNvSpPr/>
          <p:nvPr/>
        </p:nvSpPr>
        <p:spPr>
          <a:xfrm>
            <a:off x="6080760" y="1965960"/>
            <a:ext cx="1051560" cy="578358"/>
          </a:xfrm>
          <a:prstGeom prst="line">
            <a:avLst/>
          </a:prstGeom>
          <a:noFill/>
          <a:ln w="12700">
            <a:solidFill>
              <a:srgbClr val="00D4FF">
                <a:alpha val="45000"/>
              </a:srgbClr>
            </a:solidFill>
            <a:prstDash val="solid"/>
          </a:ln>
        </p:spPr>
      </p:sp>
      <p:sp>
        <p:nvSpPr>
          <p:cNvPr id="6" name="Shape 4"/>
          <p:cNvSpPr/>
          <p:nvPr/>
        </p:nvSpPr>
        <p:spPr>
          <a:xfrm>
            <a:off x="6080760" y="1965960"/>
            <a:ext cx="0" cy="-1104138"/>
          </a:xfrm>
          <a:prstGeom prst="line">
            <a:avLst/>
          </a:prstGeom>
          <a:noFill/>
          <a:ln w="12700">
            <a:solidFill>
              <a:srgbClr val="00D4FF">
                <a:alpha val="45000"/>
              </a:srgbClr>
            </a:solidFill>
            <a:prstDash val="solid"/>
          </a:ln>
        </p:spPr>
      </p:sp>
      <p:sp>
        <p:nvSpPr>
          <p:cNvPr id="7" name="Shape 5"/>
          <p:cNvSpPr/>
          <p:nvPr/>
        </p:nvSpPr>
        <p:spPr>
          <a:xfrm>
            <a:off x="4983480" y="1341882"/>
            <a:ext cx="91440" cy="91440"/>
          </a:xfrm>
          <a:prstGeom prst="ellipse">
            <a:avLst/>
          </a:prstGeom>
          <a:solidFill>
            <a:srgbClr val="0A84FF"/>
          </a:solidFill>
          <a:ln/>
        </p:spPr>
      </p:sp>
      <p:sp>
        <p:nvSpPr>
          <p:cNvPr id="8" name="Shape 6"/>
          <p:cNvSpPr/>
          <p:nvPr/>
        </p:nvSpPr>
        <p:spPr>
          <a:xfrm>
            <a:off x="7086600" y="1341882"/>
            <a:ext cx="91440" cy="91440"/>
          </a:xfrm>
          <a:prstGeom prst="ellipse">
            <a:avLst/>
          </a:prstGeom>
          <a:solidFill>
            <a:srgbClr val="0A84FF"/>
          </a:solidFill>
          <a:ln/>
        </p:spPr>
      </p:sp>
      <p:sp>
        <p:nvSpPr>
          <p:cNvPr id="9" name="Shape 7"/>
          <p:cNvSpPr/>
          <p:nvPr/>
        </p:nvSpPr>
        <p:spPr>
          <a:xfrm>
            <a:off x="4983480" y="2498598"/>
            <a:ext cx="91440" cy="91440"/>
          </a:xfrm>
          <a:prstGeom prst="ellipse">
            <a:avLst/>
          </a:prstGeom>
          <a:solidFill>
            <a:srgbClr val="0A84FF"/>
          </a:solidFill>
          <a:ln/>
        </p:spPr>
      </p:sp>
      <p:sp>
        <p:nvSpPr>
          <p:cNvPr id="10" name="Shape 8"/>
          <p:cNvSpPr/>
          <p:nvPr/>
        </p:nvSpPr>
        <p:spPr>
          <a:xfrm>
            <a:off x="7086600" y="2498598"/>
            <a:ext cx="91440" cy="91440"/>
          </a:xfrm>
          <a:prstGeom prst="ellipse">
            <a:avLst/>
          </a:prstGeom>
          <a:solidFill>
            <a:srgbClr val="0A84FF"/>
          </a:solidFill>
          <a:ln/>
        </p:spPr>
      </p:sp>
      <p:sp>
        <p:nvSpPr>
          <p:cNvPr id="11" name="Shape 9"/>
          <p:cNvSpPr/>
          <p:nvPr/>
        </p:nvSpPr>
        <p:spPr>
          <a:xfrm>
            <a:off x="6035040" y="816102"/>
            <a:ext cx="91440" cy="91440"/>
          </a:xfrm>
          <a:prstGeom prst="ellipse">
            <a:avLst/>
          </a:prstGeom>
          <a:solidFill>
            <a:srgbClr val="0A84FF"/>
          </a:solidFill>
          <a:ln/>
        </p:spPr>
      </p:sp>
      <p:sp>
        <p:nvSpPr>
          <p:cNvPr id="12" name="Shape 10"/>
          <p:cNvSpPr/>
          <p:nvPr/>
        </p:nvSpPr>
        <p:spPr>
          <a:xfrm>
            <a:off x="5980176" y="1865376"/>
            <a:ext cx="201168" cy="201168"/>
          </a:xfrm>
          <a:prstGeom prst="ellipse">
            <a:avLst/>
          </a:prstGeom>
          <a:solidFill>
            <a:srgbClr val="00D4FF"/>
          </a:solidFill>
          <a:ln/>
        </p:spPr>
      </p:sp>
      <p:sp>
        <p:nvSpPr>
          <p:cNvPr id="13" name="Text 11"/>
          <p:cNvSpPr/>
          <p:nvPr/>
        </p:nvSpPr>
        <p:spPr>
          <a:xfrm>
            <a:off x="640080" y="3246120"/>
            <a:ext cx="10972800" cy="822960"/>
          </a:xfrm>
          <a:prstGeom prst="rect">
            <a:avLst/>
          </a:prstGeom>
          <a:noFill/>
          <a:ln/>
        </p:spPr>
        <p:txBody>
          <a:bodyPr wrap="square" lIns="0" tIns="0" rIns="0" bIns="0" rtlCol="0" anchor="ctr"/>
          <a:lstStyle/>
          <a:p>
            <a:pPr algn="ctr" indent="0" marL="0">
              <a:buNone/>
            </a:pPr>
            <a:r>
              <a:rPr lang="en-US" sz="4000" b="1" dirty="0">
                <a:solidFill>
                  <a:srgbClr val="EAF6FF"/>
                </a:solidFill>
                <a:latin typeface="Cambria" pitchFamily="34" charset="0"/>
                <a:ea typeface="Cambria" pitchFamily="34" charset="-122"/>
                <a:cs typeface="Cambria" pitchFamily="34" charset="-120"/>
              </a:rPr>
              <a:t>See it on your own data.</a:t>
            </a:r>
            <a:endParaRPr lang="en-US" sz="4000" dirty="0"/>
          </a:p>
        </p:txBody>
      </p:sp>
      <p:sp>
        <p:nvSpPr>
          <p:cNvPr id="14" name="Text 12"/>
          <p:cNvSpPr/>
          <p:nvPr/>
        </p:nvSpPr>
        <p:spPr>
          <a:xfrm>
            <a:off x="1280160" y="4206240"/>
            <a:ext cx="9601200" cy="731520"/>
          </a:xfrm>
          <a:prstGeom prst="rect">
            <a:avLst/>
          </a:prstGeom>
          <a:noFill/>
          <a:ln/>
        </p:spPr>
        <p:txBody>
          <a:bodyPr wrap="square" lIns="0" tIns="0" rIns="0" bIns="0" rtlCol="0" anchor="ctr"/>
          <a:lstStyle/>
          <a:p>
            <a:pPr algn="ctr" indent="0" marL="0">
              <a:lnSpc>
                <a:spcPct val="125000"/>
              </a:lnSpc>
              <a:buNone/>
            </a:pPr>
            <a:r>
              <a:rPr lang="en-US" sz="1700" dirty="0">
                <a:solidFill>
                  <a:srgbClr val="8EA7C1"/>
                </a:solidFill>
                <a:latin typeface="Calibri" pitchFamily="34" charset="0"/>
                <a:ea typeface="Calibri" pitchFamily="34" charset="-122"/>
                <a:cs typeface="Calibri" pitchFamily="34" charset="-120"/>
              </a:rPr>
              <a:t>A bounded, read-only pilot. Your sources, your question, your keys - with written success criteria agreed up front.</a:t>
            </a:r>
            <a:endParaRPr lang="en-US" sz="1700" dirty="0"/>
          </a:p>
        </p:txBody>
      </p:sp>
      <p:sp>
        <p:nvSpPr>
          <p:cNvPr id="15" name="Text 13"/>
          <p:cNvSpPr/>
          <p:nvPr/>
        </p:nvSpPr>
        <p:spPr>
          <a:xfrm>
            <a:off x="640080" y="5257800"/>
            <a:ext cx="10972800" cy="822960"/>
          </a:xfrm>
          <a:prstGeom prst="rect">
            <a:avLst/>
          </a:prstGeom>
          <a:noFill/>
          <a:ln/>
        </p:spPr>
        <p:txBody>
          <a:bodyPr wrap="square" lIns="0" tIns="0" rIns="0" bIns="0" rtlCol="0" anchor="ctr"/>
          <a:lstStyle/>
          <a:p>
            <a:pPr algn="ctr" indent="0" marL="0">
              <a:lnSpc>
                <a:spcPct val="130000"/>
              </a:lnSpc>
              <a:buNone/>
            </a:pPr>
            <a:r>
              <a:rPr lang="en-US" sz="1600" b="1" dirty="0">
                <a:solidFill>
                  <a:srgbClr val="00D4FF"/>
                </a:solidFill>
                <a:latin typeface="Calibri" pitchFamily="34" charset="0"/>
                <a:ea typeface="Calibri" pitchFamily="34" charset="-122"/>
                <a:cs typeface="Calibri" pitchFamily="34" charset="-120"/>
              </a:rPr>
              <a:t>PlantProcess IQ  ·  SOU Industrial Software</a:t>
            </a:r>
            <a:endParaRPr lang="en-US" sz="1600" dirty="0"/>
          </a:p>
          <a:p>
            <a:pPr algn="ctr" indent="0" marL="0">
              <a:lnSpc>
                <a:spcPct val="130000"/>
              </a:lnSpc>
              <a:buNone/>
            </a:pPr>
            <a:r>
              <a:rPr lang="en-US" sz="1400" dirty="0">
                <a:solidFill>
                  <a:srgbClr val="8EA7C1"/>
                </a:solidFill>
                <a:latin typeface="Calibri" pitchFamily="34" charset="0"/>
                <a:ea typeface="Calibri" pitchFamily="34" charset="-122"/>
                <a:cs typeface="Calibri" pitchFamily="34" charset="-120"/>
              </a:rPr>
              <a:t>[[CONTACT_NAME_AND_EMAIL]]   ·   [[WEBSITE_URL]]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PlantProcess IQ</dc:title>
  <dc:subject>PptxGenJS Presentation</dc:subject>
  <dc:creator>SOU Industrial Software</dc:creator>
  <cp:lastModifiedBy>SOU Industrial Software</cp:lastModifiedBy>
  <cp:revision>1</cp:revision>
  <dcterms:created xsi:type="dcterms:W3CDTF">2026-06-25T09:12:54Z</dcterms:created>
  <dcterms:modified xsi:type="dcterms:W3CDTF">2026-06-25T09:12:54Z</dcterms:modified>
</cp:coreProperties>
</file>